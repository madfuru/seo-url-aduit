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72" r:id="rId1"/>
    <p:sldMasterId id="2147483673" r:id="rId2"/>
  </p:sldMasterIdLst>
  <p:notesMasterIdLst>
    <p:notesMasterId r:id="rId43"/>
  </p:notes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313" r:id="rId18"/>
    <p:sldId id="271" r:id="rId19"/>
    <p:sldId id="312" r:id="rId20"/>
    <p:sldId id="272" r:id="rId21"/>
    <p:sldId id="273" r:id="rId22"/>
    <p:sldId id="274" r:id="rId23"/>
    <p:sldId id="276" r:id="rId24"/>
    <p:sldId id="277" r:id="rId25"/>
    <p:sldId id="278" r:id="rId26"/>
    <p:sldId id="279" r:id="rId27"/>
    <p:sldId id="311" r:id="rId28"/>
    <p:sldId id="280" r:id="rId29"/>
    <p:sldId id="281" r:id="rId30"/>
    <p:sldId id="282" r:id="rId31"/>
    <p:sldId id="300" r:id="rId32"/>
    <p:sldId id="301" r:id="rId33"/>
    <p:sldId id="302" r:id="rId34"/>
    <p:sldId id="303" r:id="rId35"/>
    <p:sldId id="304" r:id="rId36"/>
    <p:sldId id="305" r:id="rId37"/>
    <p:sldId id="306" r:id="rId38"/>
    <p:sldId id="307" r:id="rId39"/>
    <p:sldId id="308" r:id="rId40"/>
    <p:sldId id="309" r:id="rId41"/>
    <p:sldId id="310" r:id="rId42"/>
  </p:sldIdLst>
  <p:sldSz cx="9144000" cy="5143500" type="screen16x9"/>
  <p:notesSz cx="6858000" cy="9144000"/>
  <p:embeddedFontLst>
    <p:embeddedFont>
      <p:font typeface="Cambria" panose="02040503050406030204" pitchFamily="18" charset="0"/>
      <p:regular r:id="rId44"/>
      <p:bold r:id="rId45"/>
      <p:italic r:id="rId46"/>
      <p:boldItalic r:id="rId47"/>
    </p:embeddedFont>
    <p:embeddedFont>
      <p:font typeface="Quattrocento Sans" panose="020B0502050000020003" pitchFamily="34" charset="0"/>
      <p:regular r:id="rId48"/>
      <p:bold r:id="rId49"/>
      <p:italic r:id="rId50"/>
      <p:boldItalic r:id="rId51"/>
    </p:embeddedFont>
    <p:embeddedFont>
      <p:font typeface="Verdana" panose="020B0604030504040204" pitchFamily="34" charset="0"/>
      <p:regular r:id="rId52"/>
      <p:bold r:id="rId53"/>
      <p:italic r:id="rId54"/>
      <p:boldItalic r:id="rId55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404845F3-DE45-48F2-B2D5-C57CF05E9B26}">
  <a:tblStyle styleId="{404845F3-DE45-48F2-B2D5-C57CF05E9B26}" styleName="Table_0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FFFFFF">
              <a:alpha val="0"/>
            </a:srgbClr>
          </a:solidFill>
        </a:fill>
      </a:tcStyle>
    </a:wholeTbl>
    <a:band1H>
      <a:tcTxStyle/>
      <a:tcStyle>
        <a:tcBdr/>
        <a:fill>
          <a:solidFill>
            <a:schemeClr val="dk1">
              <a:alpha val="20000"/>
            </a:schemeClr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chemeClr val="dk1">
              <a:alpha val="20000"/>
            </a:schemeClr>
          </a:solidFill>
        </a:fill>
      </a:tcStyle>
    </a:band1V>
    <a:band2V>
      <a:tcTxStyle/>
      <a:tcStyle>
        <a:tcBdr/>
      </a:tcStyle>
    </a:band2V>
    <a:lastCol>
      <a:tcTxStyle b="on" i="off"/>
      <a:tcStyle>
        <a:tcBdr/>
      </a:tcStyle>
    </a:lastCol>
    <a:firstCol>
      <a:tcTxStyle b="on" i="off"/>
      <a:tcStyle>
        <a:tcBdr/>
      </a:tcStyle>
    </a:firstCol>
    <a:lastRow>
      <a:tcTxStyle b="on" i="off"/>
      <a:tcStyle>
        <a:tcBdr>
          <a:top>
            <a:ln w="127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a:top>
        </a:tcBdr>
        <a:fill>
          <a:solidFill>
            <a:srgbClr val="FFFFFF">
              <a:alpha val="0"/>
            </a:srgbClr>
          </a:solidFill>
        </a:fill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 b="on" i="off"/>
      <a:tcStyle>
        <a:tcBdr>
          <a:bottom>
            <a:ln w="127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a:bottom>
        </a:tcBdr>
        <a:fill>
          <a:solidFill>
            <a:srgbClr val="FFFFFF">
              <a:alpha val="0"/>
            </a:srgbClr>
          </a:solidFill>
        </a:fill>
      </a:tcStyle>
    </a:firstRow>
    <a:neCell>
      <a:tcTxStyle/>
      <a:tcStyle>
        <a:tcBdr/>
      </a:tcStyle>
    </a:neCell>
    <a:nwCell>
      <a:tcTxStyle/>
      <a:tcStyle>
        <a:tcBdr/>
      </a:tcStyle>
    </a:nwCell>
  </a:tblStyle>
  <a:tblStyle styleId="{3059031D-76C1-4A71-AF53-F72BF084CF57}" styleName="Table_1">
    <a:wholeTbl>
      <a:tcTxStyle>
        <a:font>
          <a:latin typeface="Arial"/>
          <a:ea typeface="Arial"/>
          <a:cs typeface="Arial"/>
        </a:font>
        <a:srgbClr val="000000"/>
      </a:tcTxStyle>
      <a:tcStyle>
        <a:tcBdr/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  <a:tblStyle styleId="{CBABAA9D-7224-4971-888C-E734F602A527}" styleName="Table_2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  <a:tblStyle styleId="{5740D1E5-6121-4D23-8E5B-27D4E239B455}" styleName="Table_3">
    <a:wholeTbl>
      <a:tcTxStyle b="off" i="off">
        <a:font>
          <a:latin typeface="Arial"/>
          <a:ea typeface="Arial"/>
          <a:cs typeface="Arial"/>
        </a:font>
        <a:schemeClr val="dk1"/>
      </a:tcTxStyle>
      <a:tcStyle>
        <a:tcBdr>
          <a:lef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E6E6E6"/>
          </a:solidFill>
        </a:fill>
      </a:tcStyle>
    </a:wholeTbl>
    <a:band1H>
      <a:tcTxStyle b="off" i="off"/>
      <a:tcStyle>
        <a:tcBdr/>
        <a:fill>
          <a:solidFill>
            <a:srgbClr val="CACACA"/>
          </a:solidFill>
        </a:fill>
      </a:tcStyle>
    </a:band1H>
    <a:band2H>
      <a:tcTxStyle b="off" i="off"/>
      <a:tcStyle>
        <a:tcBdr/>
      </a:tcStyle>
    </a:band2H>
    <a:band1V>
      <a:tcTxStyle b="off" i="off"/>
      <a:tcStyle>
        <a:tcBdr/>
        <a:fill>
          <a:solidFill>
            <a:srgbClr val="CACACA"/>
          </a:solidFill>
        </a:fill>
      </a:tcStyle>
    </a:band1V>
    <a:band2V>
      <a:tcTxStyle b="off" i="off"/>
      <a:tcStyle>
        <a:tcBdr/>
      </a:tcStyle>
    </a:band2V>
    <a:lastCol>
      <a:tcTxStyle b="on" i="off">
        <a:font>
          <a:latin typeface="Arial"/>
          <a:ea typeface="Arial"/>
          <a:cs typeface="Arial"/>
        </a:font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 i="off">
        <a:font>
          <a:latin typeface="Arial"/>
          <a:ea typeface="Arial"/>
          <a:cs typeface="Arial"/>
        </a:font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 i="off">
        <a:font>
          <a:latin typeface="Arial"/>
          <a:ea typeface="Arial"/>
          <a:cs typeface="Arial"/>
        </a:font>
        <a:schemeClr val="lt1"/>
      </a:tcTxStyle>
      <a:tcStyle>
        <a:tcBdr>
          <a:top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</a:tcBdr>
        <a:fill>
          <a:solidFill>
            <a:schemeClr val="dk1"/>
          </a:solidFill>
        </a:fill>
      </a:tcStyle>
    </a:lastRow>
    <a:seCell>
      <a:tcTxStyle b="off" i="off"/>
      <a:tcStyle>
        <a:tcBdr/>
      </a:tcStyle>
    </a:seCell>
    <a:swCell>
      <a:tcTxStyle b="off" i="off"/>
      <a:tcStyle>
        <a:tcBdr/>
      </a:tcStyle>
    </a:swCell>
    <a:firstRow>
      <a:tcTxStyle b="on" i="off">
        <a:font>
          <a:latin typeface="Arial"/>
          <a:ea typeface="Arial"/>
          <a:cs typeface="Arial"/>
        </a:font>
        <a:schemeClr val="lt1"/>
      </a:tcTxStyle>
      <a:tcStyle>
        <a:tcBdr>
          <a:bottom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</a:tcBdr>
        <a:fill>
          <a:solidFill>
            <a:schemeClr val="dk1"/>
          </a:solidFill>
        </a:fill>
      </a:tcStyle>
    </a:firstRow>
    <a:neCell>
      <a:tcTxStyle b="off" i="off"/>
      <a:tcStyle>
        <a:tcBdr/>
      </a:tcStyle>
    </a:neCell>
    <a:nwCell>
      <a:tcTxStyle b="off" i="off"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352"/>
    <p:restoredTop sz="94676"/>
  </p:normalViewPr>
  <p:slideViewPr>
    <p:cSldViewPr snapToGrid="0">
      <p:cViewPr varScale="1">
        <p:scale>
          <a:sx n="78" d="100"/>
          <a:sy n="78" d="100"/>
        </p:scale>
        <p:origin x="872" y="52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slide" Target="slides/slide24.xml"/><Relationship Id="rId39" Type="http://schemas.openxmlformats.org/officeDocument/2006/relationships/slide" Target="slides/slide37.xml"/><Relationship Id="rId21" Type="http://schemas.openxmlformats.org/officeDocument/2006/relationships/slide" Target="slides/slide19.xml"/><Relationship Id="rId34" Type="http://schemas.openxmlformats.org/officeDocument/2006/relationships/slide" Target="slides/slide32.xml"/><Relationship Id="rId42" Type="http://schemas.openxmlformats.org/officeDocument/2006/relationships/slide" Target="slides/slide40.xml"/><Relationship Id="rId47" Type="http://schemas.openxmlformats.org/officeDocument/2006/relationships/font" Target="fonts/font4.fntdata"/><Relationship Id="rId50" Type="http://schemas.openxmlformats.org/officeDocument/2006/relationships/font" Target="fonts/font7.fntdata"/><Relationship Id="rId55" Type="http://schemas.openxmlformats.org/officeDocument/2006/relationships/font" Target="fonts/font12.fntdata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slide" Target="slides/slide31.xml"/><Relationship Id="rId38" Type="http://schemas.openxmlformats.org/officeDocument/2006/relationships/slide" Target="slides/slide36.xml"/><Relationship Id="rId46" Type="http://schemas.openxmlformats.org/officeDocument/2006/relationships/font" Target="fonts/font3.fntdata"/><Relationship Id="rId59" Type="http://schemas.openxmlformats.org/officeDocument/2006/relationships/tableStyles" Target="tableStyles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29" Type="http://schemas.openxmlformats.org/officeDocument/2006/relationships/slide" Target="slides/slide27.xml"/><Relationship Id="rId41" Type="http://schemas.openxmlformats.org/officeDocument/2006/relationships/slide" Target="slides/slide39.xml"/><Relationship Id="rId54" Type="http://schemas.openxmlformats.org/officeDocument/2006/relationships/font" Target="fonts/font11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slide" Target="slides/slide30.xml"/><Relationship Id="rId37" Type="http://schemas.openxmlformats.org/officeDocument/2006/relationships/slide" Target="slides/slide35.xml"/><Relationship Id="rId40" Type="http://schemas.openxmlformats.org/officeDocument/2006/relationships/slide" Target="slides/slide38.xml"/><Relationship Id="rId45" Type="http://schemas.openxmlformats.org/officeDocument/2006/relationships/font" Target="fonts/font2.fntdata"/><Relationship Id="rId53" Type="http://schemas.openxmlformats.org/officeDocument/2006/relationships/font" Target="fonts/font10.fntdata"/><Relationship Id="rId58" Type="http://schemas.openxmlformats.org/officeDocument/2006/relationships/theme" Target="theme/theme1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36" Type="http://schemas.openxmlformats.org/officeDocument/2006/relationships/slide" Target="slides/slide34.xml"/><Relationship Id="rId49" Type="http://schemas.openxmlformats.org/officeDocument/2006/relationships/font" Target="fonts/font6.fntdata"/><Relationship Id="rId57" Type="http://schemas.openxmlformats.org/officeDocument/2006/relationships/viewProps" Target="viewProps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31" Type="http://schemas.openxmlformats.org/officeDocument/2006/relationships/slide" Target="slides/slide29.xml"/><Relationship Id="rId44" Type="http://schemas.openxmlformats.org/officeDocument/2006/relationships/font" Target="fonts/font1.fntdata"/><Relationship Id="rId52" Type="http://schemas.openxmlformats.org/officeDocument/2006/relationships/font" Target="fonts/font9.fntdata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slide" Target="slides/slide28.xml"/><Relationship Id="rId35" Type="http://schemas.openxmlformats.org/officeDocument/2006/relationships/slide" Target="slides/slide33.xml"/><Relationship Id="rId43" Type="http://schemas.openxmlformats.org/officeDocument/2006/relationships/notesMaster" Target="notesMasters/notesMaster1.xml"/><Relationship Id="rId48" Type="http://schemas.openxmlformats.org/officeDocument/2006/relationships/font" Target="fonts/font5.fntdata"/><Relationship Id="rId56" Type="http://schemas.openxmlformats.org/officeDocument/2006/relationships/presProps" Target="presProps.xml"/><Relationship Id="rId8" Type="http://schemas.openxmlformats.org/officeDocument/2006/relationships/slide" Target="slides/slide6.xml"/><Relationship Id="rId51" Type="http://schemas.openxmlformats.org/officeDocument/2006/relationships/font" Target="fonts/font8.fntdata"/><Relationship Id="rId3" Type="http://schemas.openxmlformats.org/officeDocument/2006/relationships/slide" Target="slides/slid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g2e3c863a665_2_6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6" name="Google Shape;126;g2e3c863a665_2_6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g2e3c863a665_2_7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4" name="Google Shape;134;g2e3c863a665_2_7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g2e3c863a665_2_7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1" name="Google Shape;141;g2e3c863a665_2_7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g2e3c863a665_2_8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6" name="Google Shape;146;g2e3c863a665_2_8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g2e3c863a665_2_8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53" name="Google Shape;153;g2e3c863a665_2_8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4" name="Google Shape;154;g2e3c863a665_2_86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5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g2e3c863a665_2_13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00" name="Google Shape;200;g2e3c863a665_2_13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1" name="Google Shape;201;g2e3c863a665_2_132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6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2" name="Google Shape;262;g2e3c863a665_2_19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3" name="Google Shape;263;g2e3c863a665_2_19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" name="Google Shape;286;g2e3c863a665_2_21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87" name="Google Shape;287;g2e3c863a665_2_2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1" name="Google Shape;301;g2e3c863a665_2_23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2" name="Google Shape;302;g2e3c863a665_2_23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8" name="Google Shape;318;g2e3c863a665_2_24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19" name="Google Shape;319;g2e3c863a665_2_24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3" name="Google Shape;323;g2e3c863a665_2_25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24" name="Google Shape;324;g2e3c863a665_2_25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9" name="Google Shape;329;g2e3c863a665_2_25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30" name="Google Shape;330;g2e3c863a665_2_25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5" name="Google Shape;335;g2e3c863a665_2_26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36" name="Google Shape;336;g2e3c863a665_2_26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2" name="Google Shape;342;g2e3c863a665_2_26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43" name="Google Shape;343;g2e3c863a665_2_26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7" name="Google Shape;347;g2e3c863a665_2_27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48" name="Google Shape;348;g2e3c863a665_2_27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4" name="Google Shape;354;g2e3c863a665_2_27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55" name="Google Shape;355;g2e3c863a665_2_27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0" name="Google Shape;360;g2e3c863a665_2_28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61" name="Google Shape;361;g2e3c863a665_2_28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6" name="Google Shape;366;g2e3c863a665_2_28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67" name="Google Shape;367;g2e3c863a665_2_28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1" name="Google Shape;371;g2e3c863a665_2_29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2" name="Google Shape;372;g2e3c863a665_2_29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8" name="Google Shape;388;g2e3c863a665_2_30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89" name="Google Shape;389;g2e3c863a665_2_30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3" name="Google Shape;393;g2e3c863a665_2_3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94" name="Google Shape;394;g2e3c863a665_2_3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8" name="Google Shape;398;g2e3c863a665_2_31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99" name="Google Shape;399;g2e3c863a665_2_3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4" name="Google Shape;404;g2e3c863a665_2_31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05" name="Google Shape;405;g2e3c863a665_2_31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03">
          <a:extLst>
            <a:ext uri="{FF2B5EF4-FFF2-40B4-BE49-F238E27FC236}">
              <a16:creationId xmlns:a16="http://schemas.microsoft.com/office/drawing/2014/main" id="{479D3133-7519-957F-9EA7-5302701980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4" name="Google Shape;404;g2e3c863a665_2_319:notes">
            <a:extLst>
              <a:ext uri="{FF2B5EF4-FFF2-40B4-BE49-F238E27FC236}">
                <a16:creationId xmlns:a16="http://schemas.microsoft.com/office/drawing/2014/main" id="{508A1DAF-63D9-43C5-CFCF-2BD122819D2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05" name="Google Shape;405;g2e3c863a665_2_319:notes">
            <a:extLst>
              <a:ext uri="{FF2B5EF4-FFF2-40B4-BE49-F238E27FC236}">
                <a16:creationId xmlns:a16="http://schemas.microsoft.com/office/drawing/2014/main" id="{05DEDD04-94EF-8860-034C-EAC2DC40E9B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942263170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0" name="Google Shape;410;g2e3c863a665_2_32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11" name="Google Shape;411;g2e3c863a665_2_32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7" name="Google Shape;417;g2e3c863a665_2_33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18" name="Google Shape;418;g2e3c863a665_2_33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3" name="Google Shape;423;g2e3c863a665_2_33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24" name="Google Shape;424;g2e3c863a665_2_33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9" name="Google Shape;609;g2e3c863a665_2_37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10" name="Google Shape;610;g2e3c863a665_2_37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" name="Google Shape;614;g2e3c863a665_2_37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15" name="Google Shape;615;g2e3c863a665_2_37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0" name="Google Shape;620;g2e3c863a665_2_38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21" name="Google Shape;621;g2e3c863a665_2_38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5" name="Google Shape;625;g2e3c863a665_2_38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26" name="Google Shape;626;g2e3c863a665_2_38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1" name="Google Shape;631;g2e3c863a665_2_38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32" name="Google Shape;632;g2e3c863a665_2_38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7" name="Google Shape;637;g2e3c863a665_2_39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38" name="Google Shape;638;g2e3c863a665_2_39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3" name="Google Shape;643;g2e3c863a665_2_39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44" name="Google Shape;644;g2e3c863a665_2_39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9" name="Google Shape;649;g2e3c863a665_2_40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50" name="Google Shape;650;g2e3c863a665_2_40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" name="Google Shape;655;g2e3c863a665_2_40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56" name="Google Shape;656;g2e3c863a665_2_40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1" name="Google Shape;661;g2e3c863a665_2_414:notes"/>
          <p:cNvSpPr txBox="1">
            <a:spLocks noGrp="1"/>
          </p:cNvSpPr>
          <p:nvPr>
            <p:ph type="body" idx="1"/>
          </p:nvPr>
        </p:nvSpPr>
        <p:spPr>
          <a:xfrm>
            <a:off x="385763" y="5791200"/>
            <a:ext cx="3086100" cy="548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endParaRPr/>
          </a:p>
        </p:txBody>
      </p:sp>
      <p:sp>
        <p:nvSpPr>
          <p:cNvPr id="662" name="Google Shape;662;g2e3c863a665_2_4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-2135188" y="914400"/>
            <a:ext cx="8128001" cy="4572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6" name="Google Shape;666;g2e3c863a665_2_41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67" name="Google Shape;667;g2e3c863a665_2_4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4.png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0" name="Google Shape;30;p7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1" name="Google Shape;31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4" name="Google Shape;34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" name="Google Shape;37;p9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8" name="Google Shape;38;p9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3" name="Google Shape;43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obj">
  <p:cSld name="OBJECT"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4"/>
          <p:cNvSpPr txBox="1">
            <a:spLocks noGrp="1"/>
          </p:cNvSpPr>
          <p:nvPr>
            <p:ph type="title"/>
          </p:nvPr>
        </p:nvSpPr>
        <p:spPr>
          <a:xfrm>
            <a:off x="144094" y="50577"/>
            <a:ext cx="8554612" cy="10120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3000" b="1" i="0" u="sng">
                <a:solidFill>
                  <a:srgbClr val="FDC305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14"/>
          <p:cNvSpPr txBox="1">
            <a:spLocks noGrp="1"/>
          </p:cNvSpPr>
          <p:nvPr>
            <p:ph type="ftr" idx="11"/>
          </p:nvPr>
        </p:nvSpPr>
        <p:spPr>
          <a:xfrm>
            <a:off x="3108960" y="4783455"/>
            <a:ext cx="2926080" cy="257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61" name="Google Shape;61;p14"/>
          <p:cNvSpPr txBox="1">
            <a:spLocks noGrp="1"/>
          </p:cNvSpPr>
          <p:nvPr>
            <p:ph type="dt" idx="10"/>
          </p:nvPr>
        </p:nvSpPr>
        <p:spPr>
          <a:xfrm>
            <a:off x="457200" y="4783455"/>
            <a:ext cx="2103120" cy="257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62" name="Google Shape;62;p14"/>
          <p:cNvSpPr txBox="1">
            <a:spLocks noGrp="1"/>
          </p:cNvSpPr>
          <p:nvPr>
            <p:ph type="sldNum" idx="12"/>
          </p:nvPr>
        </p:nvSpPr>
        <p:spPr>
          <a:xfrm>
            <a:off x="8872157" y="4812767"/>
            <a:ext cx="203834" cy="1638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25400" lvl="0" indent="0">
              <a:lnSpc>
                <a:spcPct val="100000"/>
              </a:lnSpc>
              <a:spcBef>
                <a:spcPts val="0"/>
              </a:spcBef>
              <a:buNone/>
              <a:defRPr sz="1000" b="0" i="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defRPr>
            </a:lvl1pPr>
            <a:lvl2pPr marL="25400" lvl="1" indent="0">
              <a:lnSpc>
                <a:spcPct val="100000"/>
              </a:lnSpc>
              <a:spcBef>
                <a:spcPts val="0"/>
              </a:spcBef>
              <a:buNone/>
              <a:defRPr sz="1000" b="0" i="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defRPr>
            </a:lvl2pPr>
            <a:lvl3pPr marL="25400" lvl="2" indent="0">
              <a:lnSpc>
                <a:spcPct val="100000"/>
              </a:lnSpc>
              <a:spcBef>
                <a:spcPts val="0"/>
              </a:spcBef>
              <a:buNone/>
              <a:defRPr sz="1000" b="0" i="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defRPr>
            </a:lvl3pPr>
            <a:lvl4pPr marL="25400" lvl="3" indent="0">
              <a:lnSpc>
                <a:spcPct val="100000"/>
              </a:lnSpc>
              <a:spcBef>
                <a:spcPts val="0"/>
              </a:spcBef>
              <a:buNone/>
              <a:defRPr sz="1000" b="0" i="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defRPr>
            </a:lvl4pPr>
            <a:lvl5pPr marL="25400" lvl="4" indent="0">
              <a:lnSpc>
                <a:spcPct val="100000"/>
              </a:lnSpc>
              <a:spcBef>
                <a:spcPts val="0"/>
              </a:spcBef>
              <a:buNone/>
              <a:defRPr sz="1000" b="0" i="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defRPr>
            </a:lvl5pPr>
            <a:lvl6pPr marL="25400" lvl="5" indent="0">
              <a:lnSpc>
                <a:spcPct val="100000"/>
              </a:lnSpc>
              <a:spcBef>
                <a:spcPts val="0"/>
              </a:spcBef>
              <a:buNone/>
              <a:defRPr sz="1000" b="0" i="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defRPr>
            </a:lvl6pPr>
            <a:lvl7pPr marL="25400" lvl="6" indent="0">
              <a:lnSpc>
                <a:spcPct val="100000"/>
              </a:lnSpc>
              <a:spcBef>
                <a:spcPts val="0"/>
              </a:spcBef>
              <a:buNone/>
              <a:defRPr sz="1000" b="0" i="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defRPr>
            </a:lvl7pPr>
            <a:lvl8pPr marL="25400" lvl="7" indent="0">
              <a:lnSpc>
                <a:spcPct val="100000"/>
              </a:lnSpc>
              <a:spcBef>
                <a:spcPts val="0"/>
              </a:spcBef>
              <a:buNone/>
              <a:defRPr sz="1000" b="0" i="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defRPr>
            </a:lvl8pPr>
            <a:lvl9pPr marL="25400" lvl="8" indent="0">
              <a:lnSpc>
                <a:spcPct val="100000"/>
              </a:lnSpc>
              <a:spcBef>
                <a:spcPts val="0"/>
              </a:spcBef>
              <a:buNone/>
              <a:defRPr sz="1000" b="0" i="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defRPr>
            </a:lvl9pPr>
          </a:lstStyle>
          <a:p>
            <a:pPr marL="2540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>
  <p:cSld name="Title and Content">
    <p:spTree>
      <p:nvGrpSpPr>
        <p:cNvPr id="1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15"/>
          <p:cNvSpPr txBox="1">
            <a:spLocks noGrp="1"/>
          </p:cNvSpPr>
          <p:nvPr>
            <p:ph type="title"/>
          </p:nvPr>
        </p:nvSpPr>
        <p:spPr>
          <a:xfrm>
            <a:off x="144094" y="50577"/>
            <a:ext cx="8554612" cy="10120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3000" b="1" i="0" u="sng">
                <a:solidFill>
                  <a:srgbClr val="FDC305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65" name="Google Shape;65;p15"/>
          <p:cNvSpPr txBox="1">
            <a:spLocks noGrp="1"/>
          </p:cNvSpPr>
          <p:nvPr>
            <p:ph type="body" idx="1"/>
          </p:nvPr>
        </p:nvSpPr>
        <p:spPr>
          <a:xfrm>
            <a:off x="1230821" y="1788242"/>
            <a:ext cx="5193982" cy="11706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lvl="0" indent="-228600" algn="l">
              <a:spcBef>
                <a:spcPts val="0"/>
              </a:spcBef>
              <a:spcAft>
                <a:spcPts val="0"/>
              </a:spcAft>
              <a:buSzPts val="1100"/>
              <a:buNone/>
              <a:defRPr sz="2100" b="0" i="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defRPr>
            </a:lvl1pPr>
            <a:lvl2pPr marL="914400" lvl="1" indent="-2286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marL="1371600" lvl="2" indent="-2286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marL="1828800" lvl="3" indent="-2286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marL="2286000" lvl="4" indent="-2286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marL="2743200" lvl="5" indent="-2286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marL="3200400" lvl="6" indent="-2286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marL="3657600" lvl="7" indent="-2286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marL="4114800" lvl="8" indent="-2286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15"/>
          <p:cNvSpPr txBox="1">
            <a:spLocks noGrp="1"/>
          </p:cNvSpPr>
          <p:nvPr>
            <p:ph type="ftr" idx="11"/>
          </p:nvPr>
        </p:nvSpPr>
        <p:spPr>
          <a:xfrm>
            <a:off x="3108960" y="4783455"/>
            <a:ext cx="2926080" cy="257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5"/>
          <p:cNvSpPr txBox="1">
            <a:spLocks noGrp="1"/>
          </p:cNvSpPr>
          <p:nvPr>
            <p:ph type="dt" idx="10"/>
          </p:nvPr>
        </p:nvSpPr>
        <p:spPr>
          <a:xfrm>
            <a:off x="457200" y="4783455"/>
            <a:ext cx="2103120" cy="257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68" name="Google Shape;68;p15"/>
          <p:cNvSpPr txBox="1">
            <a:spLocks noGrp="1"/>
          </p:cNvSpPr>
          <p:nvPr>
            <p:ph type="sldNum" idx="12"/>
          </p:nvPr>
        </p:nvSpPr>
        <p:spPr>
          <a:xfrm>
            <a:off x="8872157" y="4812767"/>
            <a:ext cx="203834" cy="1638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25400" lvl="0" indent="0">
              <a:lnSpc>
                <a:spcPct val="100000"/>
              </a:lnSpc>
              <a:spcBef>
                <a:spcPts val="0"/>
              </a:spcBef>
              <a:buNone/>
              <a:defRPr sz="1000" b="0" i="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defRPr>
            </a:lvl1pPr>
            <a:lvl2pPr marL="25400" lvl="1" indent="0">
              <a:lnSpc>
                <a:spcPct val="100000"/>
              </a:lnSpc>
              <a:spcBef>
                <a:spcPts val="0"/>
              </a:spcBef>
              <a:buNone/>
              <a:defRPr sz="1000" b="0" i="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defRPr>
            </a:lvl2pPr>
            <a:lvl3pPr marL="25400" lvl="2" indent="0">
              <a:lnSpc>
                <a:spcPct val="100000"/>
              </a:lnSpc>
              <a:spcBef>
                <a:spcPts val="0"/>
              </a:spcBef>
              <a:buNone/>
              <a:defRPr sz="1000" b="0" i="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defRPr>
            </a:lvl3pPr>
            <a:lvl4pPr marL="25400" lvl="3" indent="0">
              <a:lnSpc>
                <a:spcPct val="100000"/>
              </a:lnSpc>
              <a:spcBef>
                <a:spcPts val="0"/>
              </a:spcBef>
              <a:buNone/>
              <a:defRPr sz="1000" b="0" i="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defRPr>
            </a:lvl4pPr>
            <a:lvl5pPr marL="25400" lvl="4" indent="0">
              <a:lnSpc>
                <a:spcPct val="100000"/>
              </a:lnSpc>
              <a:spcBef>
                <a:spcPts val="0"/>
              </a:spcBef>
              <a:buNone/>
              <a:defRPr sz="1000" b="0" i="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defRPr>
            </a:lvl5pPr>
            <a:lvl6pPr marL="25400" lvl="5" indent="0">
              <a:lnSpc>
                <a:spcPct val="100000"/>
              </a:lnSpc>
              <a:spcBef>
                <a:spcPts val="0"/>
              </a:spcBef>
              <a:buNone/>
              <a:defRPr sz="1000" b="0" i="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defRPr>
            </a:lvl6pPr>
            <a:lvl7pPr marL="25400" lvl="6" indent="0">
              <a:lnSpc>
                <a:spcPct val="100000"/>
              </a:lnSpc>
              <a:spcBef>
                <a:spcPts val="0"/>
              </a:spcBef>
              <a:buNone/>
              <a:defRPr sz="1000" b="0" i="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defRPr>
            </a:lvl7pPr>
            <a:lvl8pPr marL="25400" lvl="7" indent="0">
              <a:lnSpc>
                <a:spcPct val="100000"/>
              </a:lnSpc>
              <a:spcBef>
                <a:spcPts val="0"/>
              </a:spcBef>
              <a:buNone/>
              <a:defRPr sz="1000" b="0" i="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defRPr>
            </a:lvl8pPr>
            <a:lvl9pPr marL="25400" lvl="8" indent="0">
              <a:lnSpc>
                <a:spcPct val="100000"/>
              </a:lnSpc>
              <a:spcBef>
                <a:spcPts val="0"/>
              </a:spcBef>
              <a:buNone/>
              <a:defRPr sz="1000" b="0" i="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defRPr>
            </a:lvl9pPr>
          </a:lstStyle>
          <a:p>
            <a:pPr marL="2540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>
  <p:cSld name="Blank">
    <p:spTree>
      <p:nvGrpSpPr>
        <p:cNvPr id="1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16"/>
          <p:cNvSpPr txBox="1">
            <a:spLocks noGrp="1"/>
          </p:cNvSpPr>
          <p:nvPr>
            <p:ph type="ftr" idx="11"/>
          </p:nvPr>
        </p:nvSpPr>
        <p:spPr>
          <a:xfrm>
            <a:off x="3108960" y="4783455"/>
            <a:ext cx="2926080" cy="257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1" name="Google Shape;71;p16"/>
          <p:cNvSpPr txBox="1">
            <a:spLocks noGrp="1"/>
          </p:cNvSpPr>
          <p:nvPr>
            <p:ph type="dt" idx="10"/>
          </p:nvPr>
        </p:nvSpPr>
        <p:spPr>
          <a:xfrm>
            <a:off x="457200" y="4783455"/>
            <a:ext cx="2103120" cy="257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16"/>
          <p:cNvSpPr txBox="1">
            <a:spLocks noGrp="1"/>
          </p:cNvSpPr>
          <p:nvPr>
            <p:ph type="sldNum" idx="12"/>
          </p:nvPr>
        </p:nvSpPr>
        <p:spPr>
          <a:xfrm>
            <a:off x="8872157" y="4812767"/>
            <a:ext cx="203834" cy="1638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25400" lvl="0" indent="0">
              <a:lnSpc>
                <a:spcPct val="100000"/>
              </a:lnSpc>
              <a:spcBef>
                <a:spcPts val="0"/>
              </a:spcBef>
              <a:buNone/>
              <a:defRPr sz="1000" b="0" i="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defRPr>
            </a:lvl1pPr>
            <a:lvl2pPr marL="25400" lvl="1" indent="0">
              <a:lnSpc>
                <a:spcPct val="100000"/>
              </a:lnSpc>
              <a:spcBef>
                <a:spcPts val="0"/>
              </a:spcBef>
              <a:buNone/>
              <a:defRPr sz="1000" b="0" i="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defRPr>
            </a:lvl2pPr>
            <a:lvl3pPr marL="25400" lvl="2" indent="0">
              <a:lnSpc>
                <a:spcPct val="100000"/>
              </a:lnSpc>
              <a:spcBef>
                <a:spcPts val="0"/>
              </a:spcBef>
              <a:buNone/>
              <a:defRPr sz="1000" b="0" i="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defRPr>
            </a:lvl3pPr>
            <a:lvl4pPr marL="25400" lvl="3" indent="0">
              <a:lnSpc>
                <a:spcPct val="100000"/>
              </a:lnSpc>
              <a:spcBef>
                <a:spcPts val="0"/>
              </a:spcBef>
              <a:buNone/>
              <a:defRPr sz="1000" b="0" i="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defRPr>
            </a:lvl4pPr>
            <a:lvl5pPr marL="25400" lvl="4" indent="0">
              <a:lnSpc>
                <a:spcPct val="100000"/>
              </a:lnSpc>
              <a:spcBef>
                <a:spcPts val="0"/>
              </a:spcBef>
              <a:buNone/>
              <a:defRPr sz="1000" b="0" i="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defRPr>
            </a:lvl5pPr>
            <a:lvl6pPr marL="25400" lvl="5" indent="0">
              <a:lnSpc>
                <a:spcPct val="100000"/>
              </a:lnSpc>
              <a:spcBef>
                <a:spcPts val="0"/>
              </a:spcBef>
              <a:buNone/>
              <a:defRPr sz="1000" b="0" i="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defRPr>
            </a:lvl6pPr>
            <a:lvl7pPr marL="25400" lvl="6" indent="0">
              <a:lnSpc>
                <a:spcPct val="100000"/>
              </a:lnSpc>
              <a:spcBef>
                <a:spcPts val="0"/>
              </a:spcBef>
              <a:buNone/>
              <a:defRPr sz="1000" b="0" i="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defRPr>
            </a:lvl7pPr>
            <a:lvl8pPr marL="25400" lvl="7" indent="0">
              <a:lnSpc>
                <a:spcPct val="100000"/>
              </a:lnSpc>
              <a:spcBef>
                <a:spcPts val="0"/>
              </a:spcBef>
              <a:buNone/>
              <a:defRPr sz="1000" b="0" i="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defRPr>
            </a:lvl8pPr>
            <a:lvl9pPr marL="25400" lvl="8" indent="0">
              <a:lnSpc>
                <a:spcPct val="100000"/>
              </a:lnSpc>
              <a:spcBef>
                <a:spcPts val="0"/>
              </a:spcBef>
              <a:buNone/>
              <a:defRPr sz="1000" b="0" i="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defRPr>
            </a:lvl9pPr>
          </a:lstStyle>
          <a:p>
            <a:pPr marL="2540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17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75" cy="393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68575" rIns="68575" bIns="68575" anchor="t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3_Title and Content">
  <p:cSld name="3_Title and Content">
    <p:spTree>
      <p:nvGrpSpPr>
        <p:cNvPr id="1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18"/>
          <p:cNvSpPr txBox="1">
            <a:spLocks noGrp="1"/>
          </p:cNvSpPr>
          <p:nvPr>
            <p:ph type="body" idx="1"/>
          </p:nvPr>
        </p:nvSpPr>
        <p:spPr>
          <a:xfrm>
            <a:off x="1230821" y="1788242"/>
            <a:ext cx="5193982" cy="11706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lvl="0" indent="-2286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marL="914400" lvl="1" indent="-2286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marL="1371600" lvl="2" indent="-2286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marL="1828800" lvl="3" indent="-2286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marL="2286000" lvl="4" indent="-2286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marL="2743200" lvl="5" indent="-2286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marL="3200400" lvl="6" indent="-2286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marL="3657600" lvl="7" indent="-2286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marL="4114800" lvl="8" indent="-2286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7" name="Google Shape;77;p18"/>
          <p:cNvSpPr txBox="1">
            <a:spLocks noGrp="1"/>
          </p:cNvSpPr>
          <p:nvPr>
            <p:ph type="title"/>
          </p:nvPr>
        </p:nvSpPr>
        <p:spPr>
          <a:xfrm>
            <a:off x="628650" y="235744"/>
            <a:ext cx="7886700" cy="8539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3_Title Slide">
  <p:cSld name="3_Title Slide">
    <p:spTree>
      <p:nvGrpSpPr>
        <p:cNvPr id="1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9"/>
          <p:cNvSpPr txBox="1">
            <a:spLocks noGrp="1"/>
          </p:cNvSpPr>
          <p:nvPr>
            <p:ph type="subTitle" idx="1"/>
          </p:nvPr>
        </p:nvSpPr>
        <p:spPr>
          <a:xfrm>
            <a:off x="1143000" y="2701528"/>
            <a:ext cx="6858000" cy="12418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mbria"/>
              <a:buNone/>
              <a:defRPr sz="1800"/>
            </a:lvl1pPr>
            <a:lvl2pPr lvl="1" algn="ctr">
              <a:spcBef>
                <a:spcPts val="0"/>
              </a:spcBef>
              <a:spcAft>
                <a:spcPts val="0"/>
              </a:spcAft>
              <a:buSzPts val="1500"/>
              <a:buFont typeface="Calibri"/>
              <a:buNone/>
              <a:defRPr sz="1500"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Font typeface="Calibri"/>
              <a:buNone/>
              <a:defRPr sz="14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"/>
              <a:buFont typeface="Calibri"/>
              <a:buNone/>
              <a:defRPr sz="12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"/>
              <a:buFont typeface="Calibri"/>
              <a:buNone/>
              <a:defRPr sz="12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"/>
              <a:buFont typeface="Calibri"/>
              <a:buNone/>
              <a:defRPr sz="12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"/>
              <a:buFont typeface="Calibri"/>
              <a:buNone/>
              <a:defRPr sz="12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"/>
              <a:buFont typeface="Calibri"/>
              <a:buNone/>
              <a:defRPr sz="12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"/>
              <a:buFont typeface="Calibri"/>
              <a:buNone/>
              <a:defRPr sz="1200"/>
            </a:lvl9pPr>
          </a:lstStyle>
          <a:p>
            <a:endParaRPr/>
          </a:p>
        </p:txBody>
      </p:sp>
      <p:sp>
        <p:nvSpPr>
          <p:cNvPr id="80" name="Google Shape;80;p19"/>
          <p:cNvSpPr txBox="1">
            <a:spLocks noGrp="1"/>
          </p:cNvSpPr>
          <p:nvPr>
            <p:ph type="title"/>
          </p:nvPr>
        </p:nvSpPr>
        <p:spPr>
          <a:xfrm>
            <a:off x="144094" y="50577"/>
            <a:ext cx="8554612" cy="10120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20"/>
          <p:cNvSpPr txBox="1">
            <a:spLocks noGrp="1"/>
          </p:cNvSpPr>
          <p:nvPr>
            <p:ph type="title"/>
          </p:nvPr>
        </p:nvSpPr>
        <p:spPr>
          <a:xfrm>
            <a:off x="623888" y="1282304"/>
            <a:ext cx="7886700" cy="21395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Cambria"/>
              <a:buNone/>
              <a:defRPr sz="45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83" name="Google Shape;83;p20"/>
          <p:cNvSpPr txBox="1">
            <a:spLocks noGrp="1"/>
          </p:cNvSpPr>
          <p:nvPr>
            <p:ph type="body" idx="1"/>
          </p:nvPr>
        </p:nvSpPr>
        <p:spPr>
          <a:xfrm>
            <a:off x="623888" y="3442097"/>
            <a:ext cx="7886700" cy="11251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888888"/>
              </a:buClr>
              <a:buSzPts val="1800"/>
              <a:buFont typeface="Cambria"/>
              <a:buNone/>
              <a:defRPr sz="18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500"/>
              <a:buFont typeface="Calibri"/>
              <a:buNone/>
              <a:defRPr sz="15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400"/>
              <a:buFont typeface="Calibri"/>
              <a:buNone/>
              <a:defRPr sz="14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84" name="Google Shape;84;p20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R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defRPr>
            </a:lvl1pPr>
            <a:lvl2pPr marR="0"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defRPr>
            </a:lvl2pPr>
            <a:lvl3pPr marR="0"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defRPr>
            </a:lvl3pPr>
            <a:lvl4pPr marR="0"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defRPr>
            </a:lvl4pPr>
            <a:lvl5pPr marR="0"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defRPr>
            </a:lvl5pPr>
            <a:lvl6pPr marR="0"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defRPr>
            </a:lvl6pPr>
            <a:lvl7pPr marR="0"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defRPr>
            </a:lvl7pPr>
            <a:lvl8pPr marR="0"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defRPr>
            </a:lvl8pPr>
            <a:lvl9pPr marR="0"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defRPr>
            </a:lvl9pPr>
          </a:lstStyle>
          <a:p>
            <a:endParaRPr/>
          </a:p>
        </p:txBody>
      </p:sp>
      <p:sp>
        <p:nvSpPr>
          <p:cNvPr id="85" name="Google Shape;85;p20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R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defRPr>
            </a:lvl1pPr>
            <a:lvl2pPr marR="0"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defRPr>
            </a:lvl2pPr>
            <a:lvl3pPr marR="0"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defRPr>
            </a:lvl3pPr>
            <a:lvl4pPr marR="0"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defRPr>
            </a:lvl4pPr>
            <a:lvl5pPr marR="0"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defRPr>
            </a:lvl5pPr>
            <a:lvl6pPr marR="0"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defRPr>
            </a:lvl6pPr>
            <a:lvl7pPr marR="0"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defRPr>
            </a:lvl7pPr>
            <a:lvl8pPr marR="0"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defRPr>
            </a:lvl8pPr>
            <a:lvl9pPr marR="0"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defRPr>
            </a:lvl9pPr>
          </a:lstStyle>
          <a:p>
            <a:endParaRPr/>
          </a:p>
        </p:txBody>
      </p:sp>
      <p:sp>
        <p:nvSpPr>
          <p:cNvPr id="86" name="Google Shape;86;p20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defRPr>
            </a:lvl1pPr>
            <a:lvl2pPr marL="0" marR="0" lvl="1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defRPr>
            </a:lvl2pPr>
            <a:lvl3pPr marL="0" marR="0" lvl="2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defRPr>
            </a:lvl3pPr>
            <a:lvl4pPr marL="0" marR="0" lvl="3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defRPr>
            </a:lvl4pPr>
            <a:lvl5pPr marL="0" marR="0" lvl="4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defRPr>
            </a:lvl5pPr>
            <a:lvl6pPr marL="0" marR="0" lvl="5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defRPr>
            </a:lvl6pPr>
            <a:lvl7pPr marL="0" marR="0" lvl="6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defRPr>
            </a:lvl7pPr>
            <a:lvl8pPr marL="0" marR="0" lvl="7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defRPr>
            </a:lvl8pPr>
            <a:lvl9pPr marL="0" marR="0" lvl="8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87" name="Google Shape;87;p20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1255"/>
            <a:ext cx="9144000" cy="5140990"/>
          </a:xfrm>
          <a:prstGeom prst="rect">
            <a:avLst/>
          </a:prstGeom>
          <a:noFill/>
          <a:ln>
            <a:noFill/>
          </a:ln>
        </p:spPr>
      </p:pic>
      <p:pic>
        <p:nvPicPr>
          <p:cNvPr id="88" name="Google Shape;88;p20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1255"/>
            <a:ext cx="9144000" cy="514099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Title Slide">
  <p:cSld name="Title Slide">
    <p:bg>
      <p:bgPr>
        <a:solidFill>
          <a:schemeClr val="lt1"/>
        </a:solidFill>
        <a:effectLst/>
      </p:bgPr>
    </p:bg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0" name="Google Shape;90;p21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58226"/>
            <a:ext cx="9144000" cy="113795"/>
          </a:xfrm>
          <a:prstGeom prst="rect">
            <a:avLst/>
          </a:prstGeom>
          <a:noFill/>
          <a:ln>
            <a:noFill/>
          </a:ln>
        </p:spPr>
      </p:pic>
      <p:pic>
        <p:nvPicPr>
          <p:cNvPr id="91" name="Google Shape;91;p2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4748555"/>
            <a:ext cx="9144000" cy="394942"/>
          </a:xfrm>
          <a:prstGeom prst="rect">
            <a:avLst/>
          </a:prstGeom>
          <a:noFill/>
          <a:ln>
            <a:noFill/>
          </a:ln>
        </p:spPr>
      </p:pic>
      <p:pic>
        <p:nvPicPr>
          <p:cNvPr id="92" name="Google Shape;92;p21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0" y="1219"/>
            <a:ext cx="9144000" cy="5141024"/>
          </a:xfrm>
          <a:prstGeom prst="rect">
            <a:avLst/>
          </a:prstGeom>
          <a:noFill/>
          <a:ln>
            <a:noFill/>
          </a:ln>
        </p:spPr>
      </p:pic>
      <p:sp>
        <p:nvSpPr>
          <p:cNvPr id="93" name="Google Shape;93;p21"/>
          <p:cNvSpPr txBox="1">
            <a:spLocks noGrp="1"/>
          </p:cNvSpPr>
          <p:nvPr>
            <p:ph type="ctrTitle"/>
          </p:nvPr>
        </p:nvSpPr>
        <p:spPr>
          <a:xfrm>
            <a:off x="1069943" y="1310163"/>
            <a:ext cx="7004113" cy="80152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3000" b="1" i="0" u="sng">
                <a:solidFill>
                  <a:srgbClr val="FDC305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94" name="Google Shape;94;p21"/>
          <p:cNvSpPr txBox="1">
            <a:spLocks noGrp="1"/>
          </p:cNvSpPr>
          <p:nvPr>
            <p:ph type="subTitle" idx="1"/>
          </p:nvPr>
        </p:nvSpPr>
        <p:spPr>
          <a:xfrm>
            <a:off x="1371600" y="2880360"/>
            <a:ext cx="6400800" cy="1285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2100" b="0" i="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95" name="Google Shape;95;p21"/>
          <p:cNvSpPr txBox="1">
            <a:spLocks noGrp="1"/>
          </p:cNvSpPr>
          <p:nvPr>
            <p:ph type="ftr" idx="11"/>
          </p:nvPr>
        </p:nvSpPr>
        <p:spPr>
          <a:xfrm>
            <a:off x="3108960" y="4783455"/>
            <a:ext cx="2926080" cy="257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96" name="Google Shape;96;p21"/>
          <p:cNvSpPr txBox="1">
            <a:spLocks noGrp="1"/>
          </p:cNvSpPr>
          <p:nvPr>
            <p:ph type="dt" idx="10"/>
          </p:nvPr>
        </p:nvSpPr>
        <p:spPr>
          <a:xfrm>
            <a:off x="457200" y="4783455"/>
            <a:ext cx="2103120" cy="257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97" name="Google Shape;97;p21"/>
          <p:cNvSpPr txBox="1">
            <a:spLocks noGrp="1"/>
          </p:cNvSpPr>
          <p:nvPr>
            <p:ph type="sldNum" idx="12"/>
          </p:nvPr>
        </p:nvSpPr>
        <p:spPr>
          <a:xfrm>
            <a:off x="8872157" y="4812767"/>
            <a:ext cx="203834" cy="1638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25400" lvl="0" indent="0">
              <a:lnSpc>
                <a:spcPct val="100000"/>
              </a:lnSpc>
              <a:spcBef>
                <a:spcPts val="0"/>
              </a:spcBef>
              <a:buNone/>
              <a:defRPr sz="1000" b="0" i="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defRPr>
            </a:lvl1pPr>
            <a:lvl2pPr marL="25400" lvl="1" indent="0">
              <a:lnSpc>
                <a:spcPct val="100000"/>
              </a:lnSpc>
              <a:spcBef>
                <a:spcPts val="0"/>
              </a:spcBef>
              <a:buNone/>
              <a:defRPr sz="1000" b="0" i="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defRPr>
            </a:lvl2pPr>
            <a:lvl3pPr marL="25400" lvl="2" indent="0">
              <a:lnSpc>
                <a:spcPct val="100000"/>
              </a:lnSpc>
              <a:spcBef>
                <a:spcPts val="0"/>
              </a:spcBef>
              <a:buNone/>
              <a:defRPr sz="1000" b="0" i="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defRPr>
            </a:lvl3pPr>
            <a:lvl4pPr marL="25400" lvl="3" indent="0">
              <a:lnSpc>
                <a:spcPct val="100000"/>
              </a:lnSpc>
              <a:spcBef>
                <a:spcPts val="0"/>
              </a:spcBef>
              <a:buNone/>
              <a:defRPr sz="1000" b="0" i="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defRPr>
            </a:lvl4pPr>
            <a:lvl5pPr marL="25400" lvl="4" indent="0">
              <a:lnSpc>
                <a:spcPct val="100000"/>
              </a:lnSpc>
              <a:spcBef>
                <a:spcPts val="0"/>
              </a:spcBef>
              <a:buNone/>
              <a:defRPr sz="1000" b="0" i="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defRPr>
            </a:lvl5pPr>
            <a:lvl6pPr marL="25400" lvl="5" indent="0">
              <a:lnSpc>
                <a:spcPct val="100000"/>
              </a:lnSpc>
              <a:spcBef>
                <a:spcPts val="0"/>
              </a:spcBef>
              <a:buNone/>
              <a:defRPr sz="1000" b="0" i="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defRPr>
            </a:lvl6pPr>
            <a:lvl7pPr marL="25400" lvl="6" indent="0">
              <a:lnSpc>
                <a:spcPct val="100000"/>
              </a:lnSpc>
              <a:spcBef>
                <a:spcPts val="0"/>
              </a:spcBef>
              <a:buNone/>
              <a:defRPr sz="1000" b="0" i="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defRPr>
            </a:lvl7pPr>
            <a:lvl8pPr marL="25400" lvl="7" indent="0">
              <a:lnSpc>
                <a:spcPct val="100000"/>
              </a:lnSpc>
              <a:spcBef>
                <a:spcPts val="0"/>
              </a:spcBef>
              <a:buNone/>
              <a:defRPr sz="1000" b="0" i="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defRPr>
            </a:lvl8pPr>
            <a:lvl9pPr marL="25400" lvl="8" indent="0">
              <a:lnSpc>
                <a:spcPct val="100000"/>
              </a:lnSpc>
              <a:spcBef>
                <a:spcPts val="0"/>
              </a:spcBef>
              <a:buNone/>
              <a:defRPr sz="1000" b="0" i="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defRPr>
            </a:lvl9pPr>
          </a:lstStyle>
          <a:p>
            <a:pPr marL="2540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>
  <p:cSld name="Two Content">
    <p:spTree>
      <p:nvGrpSpPr>
        <p:cNvPr id="1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24"/>
          <p:cNvSpPr txBox="1">
            <a:spLocks noGrp="1"/>
          </p:cNvSpPr>
          <p:nvPr>
            <p:ph type="title"/>
          </p:nvPr>
        </p:nvSpPr>
        <p:spPr>
          <a:xfrm>
            <a:off x="144094" y="50577"/>
            <a:ext cx="8554612" cy="10120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3000" b="1" i="0" u="sng">
                <a:solidFill>
                  <a:srgbClr val="FDC305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07" name="Google Shape;107;p24"/>
          <p:cNvSpPr txBox="1">
            <a:spLocks noGrp="1"/>
          </p:cNvSpPr>
          <p:nvPr>
            <p:ph type="body" idx="1"/>
          </p:nvPr>
        </p:nvSpPr>
        <p:spPr>
          <a:xfrm>
            <a:off x="162610" y="1187195"/>
            <a:ext cx="2697003" cy="287940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lvl="0" indent="-22860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 b="1" i="0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1pPr>
            <a:lvl2pPr marL="914400" lvl="1" indent="-2286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marL="1371600" lvl="2" indent="-2286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marL="1828800" lvl="3" indent="-2286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marL="2286000" lvl="4" indent="-2286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marL="2743200" lvl="5" indent="-2286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marL="3200400" lvl="6" indent="-2286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marL="3657600" lvl="7" indent="-2286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marL="4114800" lvl="8" indent="-2286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08" name="Google Shape;108;p24"/>
          <p:cNvSpPr txBox="1">
            <a:spLocks noGrp="1"/>
          </p:cNvSpPr>
          <p:nvPr>
            <p:ph type="body" idx="2"/>
          </p:nvPr>
        </p:nvSpPr>
        <p:spPr>
          <a:xfrm>
            <a:off x="4709160" y="1183005"/>
            <a:ext cx="3977640" cy="33947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lvl="0" indent="-2286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marL="914400" lvl="1" indent="-2286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marL="1371600" lvl="2" indent="-2286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marL="1828800" lvl="3" indent="-2286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marL="2286000" lvl="4" indent="-2286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marL="2743200" lvl="5" indent="-2286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marL="3200400" lvl="6" indent="-2286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marL="3657600" lvl="7" indent="-2286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marL="4114800" lvl="8" indent="-2286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09" name="Google Shape;109;p24"/>
          <p:cNvSpPr txBox="1">
            <a:spLocks noGrp="1"/>
          </p:cNvSpPr>
          <p:nvPr>
            <p:ph type="ftr" idx="11"/>
          </p:nvPr>
        </p:nvSpPr>
        <p:spPr>
          <a:xfrm>
            <a:off x="3108960" y="4783455"/>
            <a:ext cx="2926080" cy="257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10" name="Google Shape;110;p24"/>
          <p:cNvSpPr txBox="1">
            <a:spLocks noGrp="1"/>
          </p:cNvSpPr>
          <p:nvPr>
            <p:ph type="dt" idx="10"/>
          </p:nvPr>
        </p:nvSpPr>
        <p:spPr>
          <a:xfrm>
            <a:off x="457200" y="4783455"/>
            <a:ext cx="2103120" cy="257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11" name="Google Shape;111;p24"/>
          <p:cNvSpPr txBox="1">
            <a:spLocks noGrp="1"/>
          </p:cNvSpPr>
          <p:nvPr>
            <p:ph type="sldNum" idx="12"/>
          </p:nvPr>
        </p:nvSpPr>
        <p:spPr>
          <a:xfrm>
            <a:off x="8872157" y="4812767"/>
            <a:ext cx="203834" cy="1638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25400" lvl="0" indent="0">
              <a:lnSpc>
                <a:spcPct val="100000"/>
              </a:lnSpc>
              <a:spcBef>
                <a:spcPts val="0"/>
              </a:spcBef>
              <a:buNone/>
              <a:defRPr sz="1000" b="0" i="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defRPr>
            </a:lvl1pPr>
            <a:lvl2pPr marL="25400" lvl="1" indent="0">
              <a:lnSpc>
                <a:spcPct val="100000"/>
              </a:lnSpc>
              <a:spcBef>
                <a:spcPts val="0"/>
              </a:spcBef>
              <a:buNone/>
              <a:defRPr sz="1000" b="0" i="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defRPr>
            </a:lvl2pPr>
            <a:lvl3pPr marL="25400" lvl="2" indent="0">
              <a:lnSpc>
                <a:spcPct val="100000"/>
              </a:lnSpc>
              <a:spcBef>
                <a:spcPts val="0"/>
              </a:spcBef>
              <a:buNone/>
              <a:defRPr sz="1000" b="0" i="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defRPr>
            </a:lvl3pPr>
            <a:lvl4pPr marL="25400" lvl="3" indent="0">
              <a:lnSpc>
                <a:spcPct val="100000"/>
              </a:lnSpc>
              <a:spcBef>
                <a:spcPts val="0"/>
              </a:spcBef>
              <a:buNone/>
              <a:defRPr sz="1000" b="0" i="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defRPr>
            </a:lvl4pPr>
            <a:lvl5pPr marL="25400" lvl="4" indent="0">
              <a:lnSpc>
                <a:spcPct val="100000"/>
              </a:lnSpc>
              <a:spcBef>
                <a:spcPts val="0"/>
              </a:spcBef>
              <a:buNone/>
              <a:defRPr sz="1000" b="0" i="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defRPr>
            </a:lvl5pPr>
            <a:lvl6pPr marL="25400" lvl="5" indent="0">
              <a:lnSpc>
                <a:spcPct val="100000"/>
              </a:lnSpc>
              <a:spcBef>
                <a:spcPts val="0"/>
              </a:spcBef>
              <a:buNone/>
              <a:defRPr sz="1000" b="0" i="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defRPr>
            </a:lvl6pPr>
            <a:lvl7pPr marL="25400" lvl="6" indent="0">
              <a:lnSpc>
                <a:spcPct val="100000"/>
              </a:lnSpc>
              <a:spcBef>
                <a:spcPts val="0"/>
              </a:spcBef>
              <a:buNone/>
              <a:defRPr sz="1000" b="0" i="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defRPr>
            </a:lvl7pPr>
            <a:lvl8pPr marL="25400" lvl="7" indent="0">
              <a:lnSpc>
                <a:spcPct val="100000"/>
              </a:lnSpc>
              <a:spcBef>
                <a:spcPts val="0"/>
              </a:spcBef>
              <a:buNone/>
              <a:defRPr sz="1000" b="0" i="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defRPr>
            </a:lvl8pPr>
            <a:lvl9pPr marL="25400" lvl="8" indent="0">
              <a:lnSpc>
                <a:spcPct val="100000"/>
              </a:lnSpc>
              <a:spcBef>
                <a:spcPts val="0"/>
              </a:spcBef>
              <a:buNone/>
              <a:defRPr sz="1000" b="0" i="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defRPr>
            </a:lvl9pPr>
          </a:lstStyle>
          <a:p>
            <a:pPr marL="2540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image" Target="../media/image2.png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image" Target="../media/image1.png"/><Relationship Id="rId5" Type="http://schemas.openxmlformats.org/officeDocument/2006/relationships/slideLayout" Target="../slideLayouts/slideLayout16.xml"/><Relationship Id="rId10" Type="http://schemas.openxmlformats.org/officeDocument/2006/relationships/theme" Target="../theme/theme2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" name="Google Shape;51;p13"/>
          <p:cNvPicPr preferRelativeResize="0"/>
          <p:nvPr/>
        </p:nvPicPr>
        <p:blipFill rotWithShape="1">
          <a:blip r:embed="rId11">
            <a:alphaModFix/>
          </a:blip>
          <a:srcRect/>
          <a:stretch/>
        </p:blipFill>
        <p:spPr>
          <a:xfrm>
            <a:off x="0" y="58226"/>
            <a:ext cx="9144000" cy="113795"/>
          </a:xfrm>
          <a:prstGeom prst="rect">
            <a:avLst/>
          </a:prstGeom>
          <a:noFill/>
          <a:ln>
            <a:noFill/>
          </a:ln>
        </p:spPr>
      </p:pic>
      <p:pic>
        <p:nvPicPr>
          <p:cNvPr id="52" name="Google Shape;52;p13"/>
          <p:cNvPicPr preferRelativeResize="0"/>
          <p:nvPr/>
        </p:nvPicPr>
        <p:blipFill rotWithShape="1">
          <a:blip r:embed="rId12">
            <a:alphaModFix/>
          </a:blip>
          <a:srcRect/>
          <a:stretch/>
        </p:blipFill>
        <p:spPr>
          <a:xfrm>
            <a:off x="0" y="4748555"/>
            <a:ext cx="9144000" cy="394942"/>
          </a:xfrm>
          <a:prstGeom prst="rect">
            <a:avLst/>
          </a:prstGeom>
          <a:noFill/>
          <a:ln>
            <a:noFill/>
          </a:ln>
        </p:spPr>
      </p:pic>
      <p:sp>
        <p:nvSpPr>
          <p:cNvPr id="53" name="Google Shape;53;p13"/>
          <p:cNvSpPr txBox="1">
            <a:spLocks noGrp="1"/>
          </p:cNvSpPr>
          <p:nvPr>
            <p:ph type="title"/>
          </p:nvPr>
        </p:nvSpPr>
        <p:spPr>
          <a:xfrm>
            <a:off x="144094" y="50577"/>
            <a:ext cx="8554612" cy="10120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3000" b="1" i="0" u="sng" strike="noStrike" cap="none">
                <a:solidFill>
                  <a:srgbClr val="FDC305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9pPr>
          </a:lstStyle>
          <a:p>
            <a:endParaRPr/>
          </a:p>
        </p:txBody>
      </p:sp>
      <p:sp>
        <p:nvSpPr>
          <p:cNvPr id="54" name="Google Shape;54;p13"/>
          <p:cNvSpPr txBox="1">
            <a:spLocks noGrp="1"/>
          </p:cNvSpPr>
          <p:nvPr>
            <p:ph type="body" idx="1"/>
          </p:nvPr>
        </p:nvSpPr>
        <p:spPr>
          <a:xfrm>
            <a:off x="1230821" y="1788242"/>
            <a:ext cx="5193982" cy="11706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2100" b="0" i="0" u="none" strike="noStrike" cap="none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5" name="Google Shape;55;p13"/>
          <p:cNvSpPr txBox="1">
            <a:spLocks noGrp="1"/>
          </p:cNvSpPr>
          <p:nvPr>
            <p:ph type="ftr" idx="11"/>
          </p:nvPr>
        </p:nvSpPr>
        <p:spPr>
          <a:xfrm>
            <a:off x="3108960" y="4783455"/>
            <a:ext cx="2926080" cy="257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 sz="1400"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9pPr>
          </a:lstStyle>
          <a:p>
            <a:endParaRPr/>
          </a:p>
        </p:txBody>
      </p:sp>
      <p:sp>
        <p:nvSpPr>
          <p:cNvPr id="56" name="Google Shape;56;p13"/>
          <p:cNvSpPr txBox="1">
            <a:spLocks noGrp="1"/>
          </p:cNvSpPr>
          <p:nvPr>
            <p:ph type="dt" idx="10"/>
          </p:nvPr>
        </p:nvSpPr>
        <p:spPr>
          <a:xfrm>
            <a:off x="457200" y="4783455"/>
            <a:ext cx="2103120" cy="257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400"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9pPr>
          </a:lstStyle>
          <a:p>
            <a:endParaRPr/>
          </a:p>
        </p:txBody>
      </p:sp>
      <p:sp>
        <p:nvSpPr>
          <p:cNvPr id="57" name="Google Shape;57;p13"/>
          <p:cNvSpPr txBox="1">
            <a:spLocks noGrp="1"/>
          </p:cNvSpPr>
          <p:nvPr>
            <p:ph type="sldNum" idx="12"/>
          </p:nvPr>
        </p:nvSpPr>
        <p:spPr>
          <a:xfrm>
            <a:off x="8872157" y="4812767"/>
            <a:ext cx="203834" cy="1638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25400" lvl="0" indent="0">
              <a:lnSpc>
                <a:spcPct val="100000"/>
              </a:lnSpc>
              <a:spcBef>
                <a:spcPts val="0"/>
              </a:spcBef>
              <a:buNone/>
              <a:defRPr sz="1000" b="0" i="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defRPr>
            </a:lvl1pPr>
            <a:lvl2pPr marL="25400" lvl="1" indent="0">
              <a:lnSpc>
                <a:spcPct val="100000"/>
              </a:lnSpc>
              <a:spcBef>
                <a:spcPts val="0"/>
              </a:spcBef>
              <a:buNone/>
              <a:defRPr sz="1000" b="0" i="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defRPr>
            </a:lvl2pPr>
            <a:lvl3pPr marL="25400" lvl="2" indent="0">
              <a:lnSpc>
                <a:spcPct val="100000"/>
              </a:lnSpc>
              <a:spcBef>
                <a:spcPts val="0"/>
              </a:spcBef>
              <a:buNone/>
              <a:defRPr sz="1000" b="0" i="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defRPr>
            </a:lvl3pPr>
            <a:lvl4pPr marL="25400" lvl="3" indent="0">
              <a:lnSpc>
                <a:spcPct val="100000"/>
              </a:lnSpc>
              <a:spcBef>
                <a:spcPts val="0"/>
              </a:spcBef>
              <a:buNone/>
              <a:defRPr sz="1000" b="0" i="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defRPr>
            </a:lvl4pPr>
            <a:lvl5pPr marL="25400" lvl="4" indent="0">
              <a:lnSpc>
                <a:spcPct val="100000"/>
              </a:lnSpc>
              <a:spcBef>
                <a:spcPts val="0"/>
              </a:spcBef>
              <a:buNone/>
              <a:defRPr sz="1000" b="0" i="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defRPr>
            </a:lvl5pPr>
            <a:lvl6pPr marL="25400" lvl="5" indent="0">
              <a:lnSpc>
                <a:spcPct val="100000"/>
              </a:lnSpc>
              <a:spcBef>
                <a:spcPts val="0"/>
              </a:spcBef>
              <a:buNone/>
              <a:defRPr sz="1000" b="0" i="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defRPr>
            </a:lvl6pPr>
            <a:lvl7pPr marL="25400" lvl="6" indent="0">
              <a:lnSpc>
                <a:spcPct val="100000"/>
              </a:lnSpc>
              <a:spcBef>
                <a:spcPts val="0"/>
              </a:spcBef>
              <a:buNone/>
              <a:defRPr sz="1000" b="0" i="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defRPr>
            </a:lvl7pPr>
            <a:lvl8pPr marL="25400" lvl="7" indent="0">
              <a:lnSpc>
                <a:spcPct val="100000"/>
              </a:lnSpc>
              <a:spcBef>
                <a:spcPts val="0"/>
              </a:spcBef>
              <a:buNone/>
              <a:defRPr sz="1000" b="0" i="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defRPr>
            </a:lvl8pPr>
            <a:lvl9pPr marL="25400" lvl="8" indent="0">
              <a:lnSpc>
                <a:spcPct val="100000"/>
              </a:lnSpc>
              <a:spcBef>
                <a:spcPts val="0"/>
              </a:spcBef>
              <a:buNone/>
              <a:defRPr sz="1000" b="0" i="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defRPr>
            </a:lvl9pPr>
          </a:lstStyle>
          <a:p>
            <a:pPr marL="2540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59" r:id="rId1"/>
    <p:sldLayoutId id="2147483660" r:id="rId2"/>
    <p:sldLayoutId id="2147483661" r:id="rId3"/>
    <p:sldLayoutId id="2147483662" r:id="rId4"/>
    <p:sldLayoutId id="2147483663" r:id="rId5"/>
    <p:sldLayoutId id="2147483664" r:id="rId6"/>
    <p:sldLayoutId id="2147483665" r:id="rId7"/>
    <p:sldLayoutId id="2147483666" r:id="rId8"/>
    <p:sldLayoutId id="2147483669" r:id="rId9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4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3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png"/><Relationship Id="rId13" Type="http://schemas.openxmlformats.org/officeDocument/2006/relationships/image" Target="../media/image20.png"/><Relationship Id="rId3" Type="http://schemas.openxmlformats.org/officeDocument/2006/relationships/image" Target="../media/image10.png"/><Relationship Id="rId7" Type="http://schemas.openxmlformats.org/officeDocument/2006/relationships/image" Target="../media/image14.png"/><Relationship Id="rId12" Type="http://schemas.openxmlformats.org/officeDocument/2006/relationships/image" Target="../media/image19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5.xml"/><Relationship Id="rId6" Type="http://schemas.openxmlformats.org/officeDocument/2006/relationships/image" Target="../media/image13.png"/><Relationship Id="rId11" Type="http://schemas.openxmlformats.org/officeDocument/2006/relationships/image" Target="../media/image18.png"/><Relationship Id="rId5" Type="http://schemas.openxmlformats.org/officeDocument/2006/relationships/image" Target="../media/image12.png"/><Relationship Id="rId10" Type="http://schemas.openxmlformats.org/officeDocument/2006/relationships/image" Target="../media/image17.png"/><Relationship Id="rId4" Type="http://schemas.openxmlformats.org/officeDocument/2006/relationships/image" Target="../media/image11.png"/><Relationship Id="rId9" Type="http://schemas.openxmlformats.org/officeDocument/2006/relationships/image" Target="../media/image16.png"/><Relationship Id="rId14" Type="http://schemas.openxmlformats.org/officeDocument/2006/relationships/image" Target="../media/image21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7.png"/><Relationship Id="rId13" Type="http://schemas.openxmlformats.org/officeDocument/2006/relationships/image" Target="../media/image19.png"/><Relationship Id="rId3" Type="http://schemas.openxmlformats.org/officeDocument/2006/relationships/image" Target="../media/image22.png"/><Relationship Id="rId7" Type="http://schemas.openxmlformats.org/officeDocument/2006/relationships/image" Target="../media/image26.png"/><Relationship Id="rId12" Type="http://schemas.openxmlformats.org/officeDocument/2006/relationships/image" Target="../media/image18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5.xml"/><Relationship Id="rId6" Type="http://schemas.openxmlformats.org/officeDocument/2006/relationships/image" Target="../media/image25.png"/><Relationship Id="rId11" Type="http://schemas.openxmlformats.org/officeDocument/2006/relationships/image" Target="../media/image17.png"/><Relationship Id="rId5" Type="http://schemas.openxmlformats.org/officeDocument/2006/relationships/image" Target="../media/image24.png"/><Relationship Id="rId15" Type="http://schemas.openxmlformats.org/officeDocument/2006/relationships/image" Target="../media/image21.png"/><Relationship Id="rId10" Type="http://schemas.openxmlformats.org/officeDocument/2006/relationships/image" Target="../media/image16.png"/><Relationship Id="rId4" Type="http://schemas.openxmlformats.org/officeDocument/2006/relationships/image" Target="../media/image23.png"/><Relationship Id="rId9" Type="http://schemas.openxmlformats.org/officeDocument/2006/relationships/image" Target="../media/image15.png"/><Relationship Id="rId14" Type="http://schemas.openxmlformats.org/officeDocument/2006/relationships/image" Target="../media/image20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33.png"/><Relationship Id="rId13" Type="http://schemas.openxmlformats.org/officeDocument/2006/relationships/image" Target="../media/image38.png"/><Relationship Id="rId18" Type="http://schemas.openxmlformats.org/officeDocument/2006/relationships/image" Target="../media/image43.jpg"/><Relationship Id="rId3" Type="http://schemas.openxmlformats.org/officeDocument/2006/relationships/image" Target="../media/image28.jpg"/><Relationship Id="rId21" Type="http://schemas.openxmlformats.org/officeDocument/2006/relationships/image" Target="../media/image46.png"/><Relationship Id="rId7" Type="http://schemas.openxmlformats.org/officeDocument/2006/relationships/image" Target="../media/image32.png"/><Relationship Id="rId12" Type="http://schemas.openxmlformats.org/officeDocument/2006/relationships/image" Target="../media/image37.png"/><Relationship Id="rId17" Type="http://schemas.openxmlformats.org/officeDocument/2006/relationships/image" Target="../media/image42.png"/><Relationship Id="rId2" Type="http://schemas.openxmlformats.org/officeDocument/2006/relationships/notesSlide" Target="../notesSlides/notesSlide7.xml"/><Relationship Id="rId16" Type="http://schemas.openxmlformats.org/officeDocument/2006/relationships/image" Target="../media/image41.png"/><Relationship Id="rId20" Type="http://schemas.openxmlformats.org/officeDocument/2006/relationships/image" Target="../media/image45.png"/><Relationship Id="rId1" Type="http://schemas.openxmlformats.org/officeDocument/2006/relationships/slideLayout" Target="../slideLayouts/slideLayout15.xml"/><Relationship Id="rId6" Type="http://schemas.openxmlformats.org/officeDocument/2006/relationships/image" Target="../media/image31.png"/><Relationship Id="rId11" Type="http://schemas.openxmlformats.org/officeDocument/2006/relationships/image" Target="../media/image36.png"/><Relationship Id="rId5" Type="http://schemas.openxmlformats.org/officeDocument/2006/relationships/image" Target="../media/image30.png"/><Relationship Id="rId15" Type="http://schemas.openxmlformats.org/officeDocument/2006/relationships/image" Target="../media/image40.jpg"/><Relationship Id="rId10" Type="http://schemas.openxmlformats.org/officeDocument/2006/relationships/image" Target="../media/image35.png"/><Relationship Id="rId19" Type="http://schemas.openxmlformats.org/officeDocument/2006/relationships/image" Target="../media/image44.png"/><Relationship Id="rId4" Type="http://schemas.openxmlformats.org/officeDocument/2006/relationships/image" Target="../media/image29.png"/><Relationship Id="rId9" Type="http://schemas.openxmlformats.org/officeDocument/2006/relationships/image" Target="../media/image34.png"/><Relationship Id="rId14" Type="http://schemas.openxmlformats.org/officeDocument/2006/relationships/image" Target="../media/image39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5.xml"/><Relationship Id="rId4" Type="http://schemas.openxmlformats.org/officeDocument/2006/relationships/image" Target="../media/image48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54.jpg"/><Relationship Id="rId3" Type="http://schemas.openxmlformats.org/officeDocument/2006/relationships/image" Target="../media/image49.png"/><Relationship Id="rId7" Type="http://schemas.openxmlformats.org/officeDocument/2006/relationships/image" Target="../media/image53.jp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5.xml"/><Relationship Id="rId6" Type="http://schemas.openxmlformats.org/officeDocument/2006/relationships/image" Target="../media/image52.png"/><Relationship Id="rId5" Type="http://schemas.openxmlformats.org/officeDocument/2006/relationships/image" Target="../media/image51.png"/><Relationship Id="rId4" Type="http://schemas.openxmlformats.org/officeDocument/2006/relationships/image" Target="../media/image50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5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6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3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3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6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3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3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3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3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3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3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7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3.xml"/><Relationship Id="rId5" Type="http://schemas.openxmlformats.org/officeDocument/2006/relationships/image" Target="../media/image59.png"/><Relationship Id="rId4" Type="http://schemas.openxmlformats.org/officeDocument/2006/relationships/image" Target="../media/image58.png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3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7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8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7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7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9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9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8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8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3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3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2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0.jp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14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1.jp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14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2.jpg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14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3.jpg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14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4.jpg"/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14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18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27"/>
          <p:cNvSpPr txBox="1"/>
          <p:nvPr/>
        </p:nvSpPr>
        <p:spPr>
          <a:xfrm>
            <a:off x="8959786" y="4806619"/>
            <a:ext cx="87629" cy="167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050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latin typeface="Cambria"/>
                <a:ea typeface="Cambria"/>
                <a:cs typeface="Cambria"/>
                <a:sym typeface="Cambria"/>
              </a:rPr>
              <a:t>1</a:t>
            </a:r>
            <a:endParaRPr sz="1000">
              <a:latin typeface="Cambria"/>
              <a:ea typeface="Cambria"/>
              <a:cs typeface="Cambria"/>
              <a:sym typeface="Cambria"/>
            </a:endParaRPr>
          </a:p>
        </p:txBody>
      </p:sp>
      <p:pic>
        <p:nvPicPr>
          <p:cNvPr id="129" name="Google Shape;129;p27" descr="A white cover with black text and orange circles&#10;&#10;AI-generated content may be incorrect.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3362"/>
            <a:ext cx="9149987" cy="5140139"/>
          </a:xfrm>
          <a:prstGeom prst="rect">
            <a:avLst/>
          </a:prstGeom>
          <a:noFill/>
          <a:ln>
            <a:noFill/>
          </a:ln>
        </p:spPr>
      </p:pic>
      <p:pic>
        <p:nvPicPr>
          <p:cNvPr id="2" name="Picture 1" descr="A white cover with black text and orange circles&#10;&#10;AI-generated content may be incorrect.">
            <a:extLst>
              <a:ext uri="{FF2B5EF4-FFF2-40B4-BE49-F238E27FC236}">
                <a16:creationId xmlns:a16="http://schemas.microsoft.com/office/drawing/2014/main" id="{2140D1C9-4810-435F-1B1D-5DC10379E53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9985" cy="5140138"/>
          </a:xfrm>
          <a:prstGeom prst="rect">
            <a:avLst/>
          </a:prstGeom>
        </p:spPr>
      </p:pic>
      <p:sp>
        <p:nvSpPr>
          <p:cNvPr id="130" name="Google Shape;130;p27"/>
          <p:cNvSpPr/>
          <p:nvPr/>
        </p:nvSpPr>
        <p:spPr>
          <a:xfrm>
            <a:off x="6434356" y="57149"/>
            <a:ext cx="2652494" cy="966307"/>
          </a:xfrm>
          <a:prstGeom prst="rect">
            <a:avLst/>
          </a:prstGeom>
          <a:solidFill>
            <a:schemeClr val="lt1"/>
          </a:solidFill>
          <a:ln w="2540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chemeClr val="lt1"/>
              </a:solidFill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600B5AA5-0C5E-20D1-4996-428E32D2E44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564230" y="169241"/>
            <a:ext cx="1395556" cy="471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6" name="Google Shape;136;p28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143250" y="400050"/>
            <a:ext cx="5791200" cy="4343400"/>
          </a:xfrm>
          <a:prstGeom prst="rect">
            <a:avLst/>
          </a:prstGeom>
          <a:noFill/>
          <a:ln>
            <a:noFill/>
          </a:ln>
        </p:spPr>
      </p:pic>
      <p:sp>
        <p:nvSpPr>
          <p:cNvPr id="137" name="Google Shape;137;p28"/>
          <p:cNvSpPr txBox="1">
            <a:spLocks noGrp="1"/>
          </p:cNvSpPr>
          <p:nvPr>
            <p:ph type="title"/>
          </p:nvPr>
        </p:nvSpPr>
        <p:spPr>
          <a:xfrm>
            <a:off x="687704" y="403060"/>
            <a:ext cx="2466975" cy="52292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0000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Who are we?</a:t>
            </a:r>
            <a:endParaRPr/>
          </a:p>
        </p:txBody>
      </p:sp>
      <p:sp>
        <p:nvSpPr>
          <p:cNvPr id="138" name="Google Shape;138;p28"/>
          <p:cNvSpPr txBox="1"/>
          <p:nvPr/>
        </p:nvSpPr>
        <p:spPr>
          <a:xfrm>
            <a:off x="628650" y="1595914"/>
            <a:ext cx="2569846" cy="26903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6175" rIns="0" bIns="0" anchor="t" anchorCtr="0">
            <a:spAutoFit/>
          </a:bodyPr>
          <a:lstStyle/>
          <a:p>
            <a:pPr marL="1270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 b="1" dirty="0">
                <a:latin typeface="Cambria"/>
                <a:ea typeface="Cambria"/>
                <a:cs typeface="Cambria"/>
                <a:sym typeface="Cambria"/>
              </a:rPr>
              <a:t>At Justwords we  transform digital  journeys for our  customers by  keeping content  at the center for  any marketing  strategy</a:t>
            </a:r>
            <a:endParaRPr sz="2400" dirty="0">
              <a:latin typeface="Cambria"/>
              <a:ea typeface="Cambria"/>
              <a:cs typeface="Cambria"/>
              <a:sym typeface="Cambria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29"/>
          <p:cNvSpPr txBox="1"/>
          <p:nvPr/>
        </p:nvSpPr>
        <p:spPr>
          <a:xfrm>
            <a:off x="687704" y="417957"/>
            <a:ext cx="7551420" cy="4295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525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700" b="1" dirty="0">
                <a:solidFill>
                  <a:srgbClr val="FFC000"/>
                </a:solidFill>
                <a:latin typeface="Cambria"/>
                <a:ea typeface="Cambria"/>
                <a:cs typeface="Cambria"/>
                <a:sym typeface="Cambria"/>
              </a:rPr>
              <a:t>OUR VISION AND MISSION STATEMENTS</a:t>
            </a:r>
            <a:endParaRPr sz="2700" dirty="0">
              <a:latin typeface="Cambria"/>
              <a:ea typeface="Cambria"/>
              <a:cs typeface="Cambria"/>
              <a:sym typeface="Cambria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3500" dirty="0">
              <a:latin typeface="Cambria"/>
              <a:ea typeface="Cambria"/>
              <a:cs typeface="Cambria"/>
              <a:sym typeface="Cambria"/>
            </a:endParaRPr>
          </a:p>
          <a:p>
            <a:pPr marL="1270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700" b="1" dirty="0">
                <a:solidFill>
                  <a:srgbClr val="FFC000"/>
                </a:solidFill>
                <a:latin typeface="Cambria"/>
                <a:ea typeface="Cambria"/>
                <a:cs typeface="Cambria"/>
                <a:sym typeface="Cambria"/>
              </a:rPr>
              <a:t>VISION:</a:t>
            </a:r>
            <a:r>
              <a:rPr lang="en" sz="2700" b="1" dirty="0">
                <a:latin typeface="Cambria"/>
                <a:ea typeface="Cambria"/>
                <a:cs typeface="Cambria"/>
                <a:sym typeface="Cambria"/>
              </a:rPr>
              <a:t> </a:t>
            </a:r>
            <a:r>
              <a:rPr lang="en" sz="2700" dirty="0">
                <a:latin typeface="Cambria"/>
                <a:ea typeface="Cambria"/>
                <a:cs typeface="Cambria"/>
                <a:sym typeface="Cambria"/>
              </a:rPr>
              <a:t>To create </a:t>
            </a:r>
            <a:r>
              <a:rPr lang="en" sz="2700" b="1" dirty="0">
                <a:solidFill>
                  <a:srgbClr val="00B050"/>
                </a:solidFill>
                <a:latin typeface="Cambria"/>
                <a:ea typeface="Cambria"/>
                <a:cs typeface="Cambria"/>
                <a:sym typeface="Cambria"/>
              </a:rPr>
              <a:t>“Value” </a:t>
            </a:r>
            <a:r>
              <a:rPr lang="en" sz="2700" dirty="0">
                <a:latin typeface="Cambria"/>
                <a:ea typeface="Cambria"/>
                <a:cs typeface="Cambria"/>
                <a:sym typeface="Cambria"/>
              </a:rPr>
              <a:t>for our </a:t>
            </a:r>
            <a:r>
              <a:rPr lang="en" sz="2700" b="1" dirty="0">
                <a:solidFill>
                  <a:srgbClr val="00B050"/>
                </a:solidFill>
                <a:latin typeface="Cambria"/>
                <a:ea typeface="Cambria"/>
                <a:cs typeface="Cambria"/>
                <a:sym typeface="Cambria"/>
              </a:rPr>
              <a:t>customers, our  employees; and other stakeholders</a:t>
            </a:r>
            <a:r>
              <a:rPr lang="en" sz="2700" dirty="0">
                <a:latin typeface="Cambria"/>
                <a:ea typeface="Cambria"/>
                <a:cs typeface="Cambria"/>
                <a:sym typeface="Cambria"/>
              </a:rPr>
              <a:t>, which finally  impacts the </a:t>
            </a:r>
            <a:r>
              <a:rPr lang="en" sz="2700" b="1" dirty="0">
                <a:solidFill>
                  <a:srgbClr val="00B050"/>
                </a:solidFill>
                <a:latin typeface="Cambria"/>
                <a:ea typeface="Cambria"/>
                <a:cs typeface="Cambria"/>
                <a:sym typeface="Cambria"/>
              </a:rPr>
              <a:t>larger society </a:t>
            </a:r>
            <a:r>
              <a:rPr lang="en" sz="2700" dirty="0">
                <a:latin typeface="Cambria"/>
                <a:ea typeface="Cambria"/>
                <a:cs typeface="Cambria"/>
                <a:sym typeface="Cambria"/>
              </a:rPr>
              <a:t>in a positive way</a:t>
            </a:r>
            <a:endParaRPr sz="2700" dirty="0">
              <a:latin typeface="Cambria"/>
              <a:ea typeface="Cambria"/>
              <a:cs typeface="Cambria"/>
              <a:sym typeface="Cambria"/>
            </a:endParaRPr>
          </a:p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700" dirty="0">
              <a:latin typeface="Cambria"/>
              <a:ea typeface="Cambria"/>
              <a:cs typeface="Cambria"/>
              <a:sym typeface="Cambria"/>
            </a:endParaRPr>
          </a:p>
          <a:p>
            <a:pPr marL="12700" marR="50800" lvl="0" indent="0" algn="ctr" rtl="0">
              <a:lnSpc>
                <a:spcPct val="10805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700" b="1" dirty="0">
                <a:solidFill>
                  <a:srgbClr val="FFC000"/>
                </a:solidFill>
                <a:latin typeface="Cambria"/>
                <a:ea typeface="Cambria"/>
                <a:cs typeface="Cambria"/>
                <a:sym typeface="Cambria"/>
              </a:rPr>
              <a:t>MISSION:</a:t>
            </a:r>
            <a:r>
              <a:rPr lang="en" sz="2700" b="1" dirty="0">
                <a:latin typeface="Cambria"/>
                <a:ea typeface="Cambria"/>
                <a:cs typeface="Cambria"/>
                <a:sym typeface="Cambria"/>
              </a:rPr>
              <a:t> </a:t>
            </a:r>
            <a:r>
              <a:rPr lang="en" sz="2700" dirty="0">
                <a:latin typeface="Cambria"/>
                <a:ea typeface="Cambria"/>
                <a:cs typeface="Cambria"/>
                <a:sym typeface="Cambria"/>
              </a:rPr>
              <a:t>Our mission is to </a:t>
            </a:r>
            <a:r>
              <a:rPr lang="en" sz="2700" b="1" dirty="0">
                <a:solidFill>
                  <a:srgbClr val="00B050"/>
                </a:solidFill>
                <a:latin typeface="Cambria"/>
                <a:ea typeface="Cambria"/>
                <a:cs typeface="Cambria"/>
                <a:sym typeface="Cambria"/>
              </a:rPr>
              <a:t>help businesses do better business</a:t>
            </a:r>
            <a:r>
              <a:rPr lang="en" sz="2700" dirty="0">
                <a:latin typeface="Cambria"/>
                <a:ea typeface="Cambria"/>
                <a:cs typeface="Cambria"/>
                <a:sym typeface="Cambria"/>
              </a:rPr>
              <a:t> by delivering </a:t>
            </a:r>
            <a:r>
              <a:rPr lang="en" sz="2700" b="1" dirty="0">
                <a:solidFill>
                  <a:srgbClr val="00B050"/>
                </a:solidFill>
                <a:latin typeface="Cambria"/>
                <a:ea typeface="Cambria"/>
                <a:cs typeface="Cambria"/>
                <a:sym typeface="Cambria"/>
              </a:rPr>
              <a:t>outstanding marketing solutions</a:t>
            </a:r>
            <a:r>
              <a:rPr lang="en" sz="2700" dirty="0">
                <a:latin typeface="Cambria"/>
                <a:ea typeface="Cambria"/>
                <a:cs typeface="Cambria"/>
                <a:sym typeface="Cambria"/>
              </a:rPr>
              <a:t>, and being </a:t>
            </a:r>
            <a:r>
              <a:rPr lang="en" sz="2700" b="1" dirty="0">
                <a:solidFill>
                  <a:srgbClr val="00B050"/>
                </a:solidFill>
                <a:latin typeface="Cambria"/>
                <a:ea typeface="Cambria"/>
                <a:cs typeface="Cambria"/>
                <a:sym typeface="Cambria"/>
              </a:rPr>
              <a:t>obsessively customer-focused</a:t>
            </a:r>
            <a:r>
              <a:rPr lang="en" sz="2700" dirty="0">
                <a:solidFill>
                  <a:srgbClr val="00B050"/>
                </a:solidFill>
                <a:latin typeface="Cambria"/>
                <a:ea typeface="Cambria"/>
                <a:cs typeface="Cambria"/>
                <a:sym typeface="Cambria"/>
              </a:rPr>
              <a:t> </a:t>
            </a:r>
            <a:r>
              <a:rPr lang="en" sz="2700" dirty="0">
                <a:latin typeface="Cambria"/>
                <a:ea typeface="Cambria"/>
                <a:cs typeface="Cambria"/>
                <a:sym typeface="Cambria"/>
              </a:rPr>
              <a:t>and </a:t>
            </a:r>
            <a:r>
              <a:rPr lang="en" sz="2700" b="1" dirty="0">
                <a:solidFill>
                  <a:srgbClr val="00B050"/>
                </a:solidFill>
                <a:latin typeface="Cambria"/>
                <a:ea typeface="Cambria"/>
                <a:cs typeface="Cambria"/>
                <a:sym typeface="Cambria"/>
              </a:rPr>
              <a:t>quality-focused</a:t>
            </a:r>
            <a:endParaRPr sz="2700" b="1" dirty="0">
              <a:solidFill>
                <a:srgbClr val="00B050"/>
              </a:solidFill>
              <a:latin typeface="Cambria"/>
              <a:ea typeface="Cambria"/>
              <a:cs typeface="Cambria"/>
              <a:sym typeface="Cambria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30"/>
          <p:cNvSpPr txBox="1">
            <a:spLocks noGrp="1"/>
          </p:cNvSpPr>
          <p:nvPr>
            <p:ph type="title"/>
          </p:nvPr>
        </p:nvSpPr>
        <p:spPr>
          <a:xfrm>
            <a:off x="550718" y="342900"/>
            <a:ext cx="3254693" cy="476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050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/>
              <a:t>Our 6 core VALUES</a:t>
            </a:r>
            <a:endParaRPr sz="3000"/>
          </a:p>
        </p:txBody>
      </p:sp>
      <p:pic>
        <p:nvPicPr>
          <p:cNvPr id="149" name="Google Shape;149;p30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370330" y="971550"/>
            <a:ext cx="4629150" cy="3344418"/>
          </a:xfrm>
          <a:prstGeom prst="rect">
            <a:avLst/>
          </a:prstGeom>
          <a:noFill/>
          <a:ln>
            <a:noFill/>
          </a:ln>
        </p:spPr>
      </p:pic>
      <p:sp>
        <p:nvSpPr>
          <p:cNvPr id="150" name="Google Shape;150;p30"/>
          <p:cNvSpPr txBox="1"/>
          <p:nvPr/>
        </p:nvSpPr>
        <p:spPr>
          <a:xfrm>
            <a:off x="571501" y="1085850"/>
            <a:ext cx="3658593" cy="29014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29525" rIns="0" bIns="0" anchor="t" anchorCtr="0">
            <a:spAutoFit/>
          </a:bodyPr>
          <a:lstStyle/>
          <a:p>
            <a:pPr marL="12700" marR="88900" lvl="0" indent="0" algn="l" rtl="0">
              <a:lnSpc>
                <a:spcPct val="10812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b="1" dirty="0">
                <a:latin typeface="Arial"/>
                <a:ea typeface="Arial"/>
                <a:cs typeface="Arial"/>
                <a:sym typeface="Arial"/>
              </a:rPr>
              <a:t>CUSTOMER FOCUS: </a:t>
            </a:r>
            <a:r>
              <a:rPr lang="en" sz="1200" dirty="0">
                <a:latin typeface="Arial"/>
                <a:ea typeface="Arial"/>
                <a:cs typeface="Arial"/>
                <a:sym typeface="Arial"/>
              </a:rPr>
              <a:t>Do your best to  keep our Customers happy. Customers  are the reason for our business and  Customer’s perception is reality</a:t>
            </a:r>
            <a:endParaRPr sz="1200" dirty="0">
              <a:latin typeface="Arial"/>
              <a:ea typeface="Arial"/>
              <a:cs typeface="Arial"/>
              <a:sym typeface="Arial"/>
            </a:endParaRPr>
          </a:p>
          <a:p>
            <a:pPr marL="12700" lvl="0" indent="0" algn="l" rtl="0">
              <a:lnSpc>
                <a:spcPct val="114062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lang="en" sz="1200" b="1" dirty="0">
                <a:latin typeface="Arial"/>
                <a:ea typeface="Arial"/>
                <a:cs typeface="Arial"/>
                <a:sym typeface="Arial"/>
              </a:rPr>
              <a:t>PERSONAL COMMITMENT TO</a:t>
            </a:r>
            <a:r>
              <a:rPr lang="en" sz="1200" dirty="0"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" sz="1200" b="1" dirty="0">
                <a:latin typeface="Arial"/>
                <a:ea typeface="Arial"/>
                <a:cs typeface="Arial"/>
                <a:sym typeface="Arial"/>
              </a:rPr>
              <a:t>QUALITY: </a:t>
            </a:r>
            <a:r>
              <a:rPr lang="en" sz="1200" dirty="0">
                <a:latin typeface="Arial"/>
                <a:ea typeface="Arial"/>
                <a:cs typeface="Arial"/>
                <a:sym typeface="Arial"/>
              </a:rPr>
              <a:t>Do brilliant work and make sure you have tried your best</a:t>
            </a:r>
            <a:endParaRPr sz="1200" dirty="0">
              <a:latin typeface="Arial"/>
              <a:ea typeface="Arial"/>
              <a:cs typeface="Arial"/>
              <a:sym typeface="Arial"/>
            </a:endParaRPr>
          </a:p>
          <a:p>
            <a:pPr marL="12700" lvl="0" indent="0" algn="l" rtl="0">
              <a:lnSpc>
                <a:spcPct val="114062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lang="en" sz="1200" b="1" dirty="0">
                <a:latin typeface="Arial"/>
                <a:ea typeface="Arial"/>
                <a:cs typeface="Arial"/>
                <a:sym typeface="Arial"/>
              </a:rPr>
              <a:t>CONTINUOUS IMPROVEMENT: </a:t>
            </a:r>
            <a:r>
              <a:rPr lang="en" sz="1200" dirty="0">
                <a:latin typeface="Arial"/>
                <a:ea typeface="Arial"/>
                <a:cs typeface="Arial"/>
                <a:sym typeface="Arial"/>
              </a:rPr>
              <a:t>Never stop learning, experimenting and  exploring</a:t>
            </a:r>
            <a:endParaRPr sz="1200" dirty="0">
              <a:latin typeface="Arial"/>
              <a:ea typeface="Arial"/>
              <a:cs typeface="Arial"/>
              <a:sym typeface="Arial"/>
            </a:endParaRPr>
          </a:p>
          <a:p>
            <a:pPr marL="12700" lvl="0" indent="0" algn="l" rtl="0">
              <a:lnSpc>
                <a:spcPct val="114062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lang="en" sz="1200" b="1" dirty="0">
                <a:latin typeface="Arial"/>
                <a:ea typeface="Arial"/>
                <a:cs typeface="Arial"/>
                <a:sym typeface="Arial"/>
              </a:rPr>
              <a:t>FUN AT WORK: </a:t>
            </a:r>
            <a:r>
              <a:rPr lang="en" sz="1200" dirty="0">
                <a:latin typeface="Arial"/>
                <a:ea typeface="Arial"/>
                <a:cs typeface="Arial"/>
                <a:sym typeface="Arial"/>
              </a:rPr>
              <a:t>Always enjoy what you are doing.</a:t>
            </a:r>
            <a:endParaRPr sz="1200" dirty="0">
              <a:latin typeface="Arial"/>
              <a:ea typeface="Arial"/>
              <a:cs typeface="Arial"/>
              <a:sym typeface="Arial"/>
            </a:endParaRPr>
          </a:p>
          <a:p>
            <a:pPr marL="12700" marR="342900" lvl="0" indent="0" algn="l" rtl="0">
              <a:lnSpc>
                <a:spcPct val="108124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rPr lang="en" sz="1200" b="1" dirty="0">
                <a:latin typeface="Arial"/>
                <a:ea typeface="Arial"/>
                <a:cs typeface="Arial"/>
                <a:sym typeface="Arial"/>
              </a:rPr>
              <a:t>ETHICS: </a:t>
            </a:r>
            <a:r>
              <a:rPr lang="en" sz="1200" dirty="0">
                <a:latin typeface="Arial"/>
                <a:ea typeface="Arial"/>
                <a:cs typeface="Arial"/>
                <a:sym typeface="Arial"/>
              </a:rPr>
              <a:t>All your actions should be  backed up with full integrity</a:t>
            </a:r>
            <a:endParaRPr lang="en-US" sz="1200" dirty="0">
              <a:latin typeface="Arial"/>
              <a:ea typeface="Arial"/>
              <a:cs typeface="Arial"/>
              <a:sym typeface="Arial"/>
            </a:endParaRPr>
          </a:p>
          <a:p>
            <a:pPr marL="12700" marR="0" lvl="0" indent="0" algn="l" rtl="0">
              <a:lnSpc>
                <a:spcPct val="108124"/>
              </a:lnSpc>
              <a:spcBef>
                <a:spcPts val="700"/>
              </a:spcBef>
              <a:spcAft>
                <a:spcPts val="0"/>
              </a:spcAft>
              <a:buNone/>
            </a:pPr>
            <a:r>
              <a:rPr lang="en-US" sz="1200" b="1" dirty="0">
                <a:latin typeface="Arial"/>
                <a:ea typeface="Arial"/>
                <a:cs typeface="Arial"/>
                <a:sym typeface="Arial"/>
              </a:rPr>
              <a:t>RESPECT: </a:t>
            </a:r>
            <a:r>
              <a:rPr lang="en-US" sz="1200" dirty="0">
                <a:latin typeface="Arial"/>
                <a:ea typeface="Arial"/>
                <a:cs typeface="Arial"/>
                <a:sym typeface="Arial"/>
              </a:rPr>
              <a:t>You are supposed to respect  everyone as they are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31"/>
          <p:cNvSpPr/>
          <p:nvPr/>
        </p:nvSpPr>
        <p:spPr>
          <a:xfrm>
            <a:off x="8406097" y="597627"/>
            <a:ext cx="751934" cy="3987290"/>
          </a:xfrm>
          <a:prstGeom prst="rect">
            <a:avLst/>
          </a:prstGeom>
          <a:solidFill>
            <a:srgbClr val="FFC000"/>
          </a:solidFill>
          <a:ln>
            <a:noFill/>
          </a:ln>
          <a:effectLst>
            <a:outerShdw blurRad="50800" dist="38100" dir="13500000" algn="br" rotWithShape="0">
              <a:srgbClr val="000000">
                <a:alpha val="40000"/>
              </a:srgbClr>
            </a:outerShdw>
          </a:effectLst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chemeClr val="lt1"/>
              </a:solidFill>
            </a:endParaRPr>
          </a:p>
        </p:txBody>
      </p:sp>
      <p:sp>
        <p:nvSpPr>
          <p:cNvPr id="157" name="Google Shape;157;p31"/>
          <p:cNvSpPr txBox="1"/>
          <p:nvPr/>
        </p:nvSpPr>
        <p:spPr>
          <a:xfrm>
            <a:off x="136106" y="228213"/>
            <a:ext cx="8974148" cy="1675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700" b="1">
                <a:solidFill>
                  <a:srgbClr val="FFC000"/>
                </a:solidFill>
              </a:rPr>
              <a:t>Our Content Creation Services</a:t>
            </a:r>
            <a:endParaRPr sz="2700">
              <a:solidFill>
                <a:srgbClr val="FFC000"/>
              </a:solidFill>
            </a:endParaRPr>
          </a:p>
        </p:txBody>
      </p:sp>
      <p:pic>
        <p:nvPicPr>
          <p:cNvPr id="158" name="Google Shape;158;p3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83266" y="1087823"/>
            <a:ext cx="436435" cy="436435"/>
          </a:xfrm>
          <a:prstGeom prst="rect">
            <a:avLst/>
          </a:prstGeom>
          <a:noFill/>
          <a:ln>
            <a:noFill/>
          </a:ln>
        </p:spPr>
      </p:pic>
      <p:sp>
        <p:nvSpPr>
          <p:cNvPr id="159" name="Google Shape;159;p31"/>
          <p:cNvSpPr txBox="1"/>
          <p:nvPr/>
        </p:nvSpPr>
        <p:spPr>
          <a:xfrm>
            <a:off x="619702" y="1154124"/>
            <a:ext cx="2159570" cy="276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 b="1"/>
              <a:t>SEO Content Creation</a:t>
            </a:r>
            <a:endParaRPr sz="1100"/>
          </a:p>
        </p:txBody>
      </p:sp>
      <p:sp>
        <p:nvSpPr>
          <p:cNvPr id="160" name="Google Shape;160;p31"/>
          <p:cNvSpPr txBox="1"/>
          <p:nvPr/>
        </p:nvSpPr>
        <p:spPr>
          <a:xfrm>
            <a:off x="216054" y="1517679"/>
            <a:ext cx="2358690" cy="117724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marL="215900" lvl="0" indent="-209550" algn="l" rtl="0">
              <a:spcBef>
                <a:spcPts val="0"/>
              </a:spcBef>
              <a:spcAft>
                <a:spcPts val="0"/>
              </a:spcAft>
              <a:buSzPts val="900"/>
              <a:buFont typeface="Noto Sans Symbols"/>
              <a:buChar char="✔"/>
            </a:pPr>
            <a:r>
              <a:rPr lang="en" sz="900"/>
              <a:t>Off Page Articles </a:t>
            </a:r>
            <a:endParaRPr sz="1100"/>
          </a:p>
          <a:p>
            <a:pPr marL="215900" lvl="0" indent="-209550" algn="l" rtl="0">
              <a:spcBef>
                <a:spcPts val="0"/>
              </a:spcBef>
              <a:spcAft>
                <a:spcPts val="0"/>
              </a:spcAft>
              <a:buSzPts val="900"/>
              <a:buFont typeface="Noto Sans Symbols"/>
              <a:buChar char="✔"/>
            </a:pPr>
            <a:r>
              <a:rPr lang="en" sz="900"/>
              <a:t>Off Page Blogs</a:t>
            </a:r>
            <a:endParaRPr sz="1100"/>
          </a:p>
          <a:p>
            <a:pPr marL="215900" lvl="0" indent="-209550" algn="l" rtl="0">
              <a:spcBef>
                <a:spcPts val="0"/>
              </a:spcBef>
              <a:spcAft>
                <a:spcPts val="0"/>
              </a:spcAft>
              <a:buSzPts val="900"/>
              <a:buFont typeface="Noto Sans Symbols"/>
              <a:buChar char="✔"/>
            </a:pPr>
            <a:r>
              <a:rPr lang="en" sz="900"/>
              <a:t>Quora Answers</a:t>
            </a:r>
            <a:endParaRPr sz="1100"/>
          </a:p>
          <a:p>
            <a:pPr marL="215900" lvl="0" indent="-209550" algn="l" rtl="0">
              <a:spcBef>
                <a:spcPts val="0"/>
              </a:spcBef>
              <a:spcAft>
                <a:spcPts val="0"/>
              </a:spcAft>
              <a:buSzPts val="900"/>
              <a:buFont typeface="Noto Sans Symbols"/>
              <a:buChar char="✔"/>
            </a:pPr>
            <a:r>
              <a:rPr lang="en" sz="900"/>
              <a:t>On Page SEO Blogs</a:t>
            </a:r>
            <a:endParaRPr sz="1100"/>
          </a:p>
          <a:p>
            <a:pPr marL="215900" lvl="0" indent="-209550" algn="l" rtl="0">
              <a:spcBef>
                <a:spcPts val="0"/>
              </a:spcBef>
              <a:spcAft>
                <a:spcPts val="0"/>
              </a:spcAft>
              <a:buSzPts val="900"/>
              <a:buFont typeface="Noto Sans Symbols"/>
              <a:buChar char="✔"/>
            </a:pPr>
            <a:r>
              <a:rPr lang="en" sz="900"/>
              <a:t>Micro Blogs</a:t>
            </a:r>
            <a:endParaRPr sz="1100"/>
          </a:p>
          <a:p>
            <a:pPr marL="215900" lvl="0" indent="-209550" algn="l" rtl="0">
              <a:spcBef>
                <a:spcPts val="0"/>
              </a:spcBef>
              <a:spcAft>
                <a:spcPts val="0"/>
              </a:spcAft>
              <a:buSzPts val="900"/>
              <a:buFont typeface="Noto Sans Symbols"/>
              <a:buChar char="✔"/>
            </a:pPr>
            <a:r>
              <a:rPr lang="en" sz="900"/>
              <a:t>Profile Descriptions</a:t>
            </a:r>
            <a:endParaRPr sz="1100"/>
          </a:p>
          <a:p>
            <a:pPr marL="215900" lvl="0" indent="-209550" algn="l" rtl="0">
              <a:spcBef>
                <a:spcPts val="0"/>
              </a:spcBef>
              <a:spcAft>
                <a:spcPts val="0"/>
              </a:spcAft>
              <a:buSzPts val="900"/>
              <a:buFont typeface="Noto Sans Symbols"/>
              <a:buChar char="✔"/>
            </a:pPr>
            <a:r>
              <a:rPr lang="en" sz="900"/>
              <a:t>SEO On Page Supporting Pages</a:t>
            </a:r>
            <a:endParaRPr sz="1100"/>
          </a:p>
          <a:p>
            <a:pPr marL="215900" lvl="0" indent="-152400" algn="l" rtl="0">
              <a:spcBef>
                <a:spcPts val="0"/>
              </a:spcBef>
              <a:spcAft>
                <a:spcPts val="0"/>
              </a:spcAft>
              <a:buSzPts val="900"/>
              <a:buFont typeface="Noto Sans Symbols"/>
              <a:buNone/>
            </a:pPr>
            <a:endParaRPr sz="900"/>
          </a:p>
        </p:txBody>
      </p:sp>
      <p:pic>
        <p:nvPicPr>
          <p:cNvPr id="161" name="Google Shape;161;p31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2779271" y="1046879"/>
            <a:ext cx="552566" cy="552566"/>
          </a:xfrm>
          <a:prstGeom prst="rect">
            <a:avLst/>
          </a:prstGeom>
          <a:noFill/>
          <a:ln>
            <a:noFill/>
          </a:ln>
        </p:spPr>
      </p:pic>
      <p:sp>
        <p:nvSpPr>
          <p:cNvPr id="162" name="Google Shape;162;p31"/>
          <p:cNvSpPr txBox="1"/>
          <p:nvPr/>
        </p:nvSpPr>
        <p:spPr>
          <a:xfrm>
            <a:off x="3301485" y="1184663"/>
            <a:ext cx="2595969" cy="276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 b="1"/>
              <a:t>Premium Content Creation</a:t>
            </a:r>
            <a:endParaRPr sz="1100"/>
          </a:p>
        </p:txBody>
      </p:sp>
      <p:sp>
        <p:nvSpPr>
          <p:cNvPr id="163" name="Google Shape;163;p31"/>
          <p:cNvSpPr txBox="1"/>
          <p:nvPr/>
        </p:nvSpPr>
        <p:spPr>
          <a:xfrm>
            <a:off x="2917121" y="1561913"/>
            <a:ext cx="2358690" cy="18697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marL="215900" lvl="0" indent="-209550" algn="l" rtl="0">
              <a:spcBef>
                <a:spcPts val="0"/>
              </a:spcBef>
              <a:spcAft>
                <a:spcPts val="0"/>
              </a:spcAft>
              <a:buSzPts val="900"/>
              <a:buFont typeface="Noto Sans Symbols"/>
              <a:buChar char="✔"/>
            </a:pPr>
            <a:r>
              <a:rPr lang="en" sz="900"/>
              <a:t>Thought Leadership Articles</a:t>
            </a:r>
            <a:endParaRPr sz="1100"/>
          </a:p>
          <a:p>
            <a:pPr marL="215900" lvl="0" indent="-209550" algn="l" rtl="0">
              <a:spcBef>
                <a:spcPts val="0"/>
              </a:spcBef>
              <a:spcAft>
                <a:spcPts val="0"/>
              </a:spcAft>
              <a:buSzPts val="900"/>
              <a:buFont typeface="Noto Sans Symbols"/>
              <a:buChar char="✔"/>
            </a:pPr>
            <a:r>
              <a:rPr lang="en" sz="900"/>
              <a:t>Product and Service Based Transactional Blogs</a:t>
            </a:r>
            <a:endParaRPr sz="1100"/>
          </a:p>
          <a:p>
            <a:pPr marL="215900" lvl="0" indent="-209550" algn="l" rtl="0">
              <a:spcBef>
                <a:spcPts val="0"/>
              </a:spcBef>
              <a:spcAft>
                <a:spcPts val="0"/>
              </a:spcAft>
              <a:buSzPts val="900"/>
              <a:buFont typeface="Noto Sans Symbols"/>
              <a:buChar char="✔"/>
            </a:pPr>
            <a:r>
              <a:rPr lang="en" sz="900"/>
              <a:t>E Book</a:t>
            </a:r>
            <a:endParaRPr sz="1100"/>
          </a:p>
          <a:p>
            <a:pPr marL="215900" lvl="0" indent="-209550" algn="l" rtl="0">
              <a:spcBef>
                <a:spcPts val="0"/>
              </a:spcBef>
              <a:spcAft>
                <a:spcPts val="0"/>
              </a:spcAft>
              <a:buSzPts val="900"/>
              <a:buFont typeface="Noto Sans Symbols"/>
              <a:buChar char="✔"/>
            </a:pPr>
            <a:r>
              <a:rPr lang="en" sz="900"/>
              <a:t>White Paper</a:t>
            </a:r>
            <a:endParaRPr sz="1100"/>
          </a:p>
          <a:p>
            <a:pPr marL="215900" lvl="0" indent="-209550" algn="l" rtl="0">
              <a:spcBef>
                <a:spcPts val="0"/>
              </a:spcBef>
              <a:spcAft>
                <a:spcPts val="0"/>
              </a:spcAft>
              <a:buSzPts val="900"/>
              <a:buFont typeface="Noto Sans Symbols"/>
              <a:buChar char="✔"/>
            </a:pPr>
            <a:r>
              <a:rPr lang="en" sz="900"/>
              <a:t>Case Studies</a:t>
            </a:r>
            <a:endParaRPr sz="1100"/>
          </a:p>
          <a:p>
            <a:pPr marL="215900" lvl="0" indent="-209550" algn="l" rtl="0">
              <a:spcBef>
                <a:spcPts val="0"/>
              </a:spcBef>
              <a:spcAft>
                <a:spcPts val="0"/>
              </a:spcAft>
              <a:buSzPts val="900"/>
              <a:buFont typeface="Noto Sans Symbols"/>
              <a:buChar char="✔"/>
            </a:pPr>
            <a:r>
              <a:rPr lang="en" sz="900"/>
              <a:t>Podcast scripts</a:t>
            </a:r>
            <a:endParaRPr sz="1100"/>
          </a:p>
          <a:p>
            <a:pPr marL="215900" lvl="0" indent="-209550" algn="l" rtl="0">
              <a:spcBef>
                <a:spcPts val="0"/>
              </a:spcBef>
              <a:spcAft>
                <a:spcPts val="0"/>
              </a:spcAft>
              <a:buSzPts val="900"/>
              <a:buFont typeface="Noto Sans Symbols"/>
              <a:buChar char="✔"/>
            </a:pPr>
            <a:r>
              <a:rPr lang="en" sz="900"/>
              <a:t>Video scripts</a:t>
            </a:r>
            <a:endParaRPr sz="1100"/>
          </a:p>
          <a:p>
            <a:pPr marL="215900" lvl="0" indent="-209550" algn="l" rtl="0">
              <a:spcBef>
                <a:spcPts val="0"/>
              </a:spcBef>
              <a:spcAft>
                <a:spcPts val="0"/>
              </a:spcAft>
              <a:buSzPts val="900"/>
              <a:buFont typeface="Noto Sans Symbols"/>
              <a:buChar char="✔"/>
            </a:pPr>
            <a:r>
              <a:rPr lang="en" sz="900"/>
              <a:t>Infographic content</a:t>
            </a:r>
            <a:endParaRPr sz="1100"/>
          </a:p>
          <a:p>
            <a:pPr marL="215900" lvl="0" indent="-209550" algn="l" rtl="0">
              <a:spcBef>
                <a:spcPts val="0"/>
              </a:spcBef>
              <a:spcAft>
                <a:spcPts val="0"/>
              </a:spcAft>
              <a:buSzPts val="900"/>
              <a:buFont typeface="Noto Sans Symbols"/>
              <a:buChar char="✔"/>
            </a:pPr>
            <a:r>
              <a:rPr lang="en" sz="900"/>
              <a:t>Product Descriptions</a:t>
            </a:r>
            <a:endParaRPr sz="1100"/>
          </a:p>
          <a:p>
            <a:pPr marL="215900" lvl="0" indent="-209550" algn="l" rtl="0">
              <a:spcBef>
                <a:spcPts val="0"/>
              </a:spcBef>
              <a:spcAft>
                <a:spcPts val="0"/>
              </a:spcAft>
              <a:buSzPts val="900"/>
              <a:buFont typeface="Noto Sans Symbols"/>
              <a:buChar char="✔"/>
            </a:pPr>
            <a:r>
              <a:rPr lang="en" sz="900"/>
              <a:t>Social Media Copies</a:t>
            </a:r>
            <a:endParaRPr sz="1100"/>
          </a:p>
          <a:p>
            <a:pPr marL="215900" lvl="0" indent="-209550" algn="l" rtl="0">
              <a:spcBef>
                <a:spcPts val="0"/>
              </a:spcBef>
              <a:spcAft>
                <a:spcPts val="0"/>
              </a:spcAft>
              <a:buSzPts val="900"/>
              <a:buFont typeface="Noto Sans Symbols"/>
              <a:buChar char="✔"/>
            </a:pPr>
            <a:r>
              <a:rPr lang="en" sz="900"/>
              <a:t>Ad Copies</a:t>
            </a:r>
            <a:endParaRPr sz="1100"/>
          </a:p>
          <a:p>
            <a:pPr marL="215900" lvl="0" indent="-152400" algn="l" rtl="0">
              <a:spcBef>
                <a:spcPts val="0"/>
              </a:spcBef>
              <a:spcAft>
                <a:spcPts val="0"/>
              </a:spcAft>
              <a:buSzPts val="900"/>
              <a:buFont typeface="Noto Sans Symbols"/>
              <a:buNone/>
            </a:pPr>
            <a:endParaRPr sz="900"/>
          </a:p>
        </p:txBody>
      </p:sp>
      <p:sp>
        <p:nvSpPr>
          <p:cNvPr id="164" name="Google Shape;164;p31"/>
          <p:cNvSpPr txBox="1"/>
          <p:nvPr/>
        </p:nvSpPr>
        <p:spPr>
          <a:xfrm>
            <a:off x="6297977" y="1089677"/>
            <a:ext cx="2117542" cy="4847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 b="1"/>
              <a:t>Linguistic Content Creation</a:t>
            </a:r>
            <a:endParaRPr sz="1100"/>
          </a:p>
        </p:txBody>
      </p:sp>
      <p:sp>
        <p:nvSpPr>
          <p:cNvPr id="165" name="Google Shape;165;p31"/>
          <p:cNvSpPr txBox="1"/>
          <p:nvPr/>
        </p:nvSpPr>
        <p:spPr>
          <a:xfrm>
            <a:off x="5897454" y="1567515"/>
            <a:ext cx="2358690" cy="131574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marL="215900" lvl="0" indent="-209550" algn="l" rtl="0">
              <a:spcBef>
                <a:spcPts val="0"/>
              </a:spcBef>
              <a:spcAft>
                <a:spcPts val="0"/>
              </a:spcAft>
              <a:buSzPts val="900"/>
              <a:buFont typeface="Noto Sans Symbols"/>
              <a:buChar char="✔"/>
            </a:pPr>
            <a:r>
              <a:rPr lang="en" sz="900"/>
              <a:t>Translation </a:t>
            </a:r>
            <a:endParaRPr sz="1100"/>
          </a:p>
          <a:p>
            <a:pPr marL="215900" lvl="0" indent="-209550" algn="l" rtl="0">
              <a:spcBef>
                <a:spcPts val="0"/>
              </a:spcBef>
              <a:spcAft>
                <a:spcPts val="0"/>
              </a:spcAft>
              <a:buSzPts val="900"/>
              <a:buFont typeface="Noto Sans Symbols"/>
              <a:buChar char="✔"/>
            </a:pPr>
            <a:r>
              <a:rPr lang="en" sz="900"/>
              <a:t>Content creation from scratch for the below languages – </a:t>
            </a:r>
            <a:endParaRPr sz="1100"/>
          </a:p>
          <a:p>
            <a:pPr marL="558800" lvl="1" indent="-209550" algn="l" rtl="0">
              <a:spcBef>
                <a:spcPts val="0"/>
              </a:spcBef>
              <a:spcAft>
                <a:spcPts val="0"/>
              </a:spcAft>
              <a:buSzPts val="900"/>
              <a:buFont typeface="Noto Sans Symbols"/>
              <a:buChar char="▪"/>
            </a:pPr>
            <a:r>
              <a:rPr lang="en" sz="900"/>
              <a:t>Hindi, Bengali, Assamese,  Odia, Marathi, Tamil, Telugu, </a:t>
            </a:r>
            <a:endParaRPr sz="1100"/>
          </a:p>
          <a:p>
            <a:pPr marL="558800" lvl="1" indent="-209550" algn="l" rtl="0">
              <a:spcBef>
                <a:spcPts val="0"/>
              </a:spcBef>
              <a:spcAft>
                <a:spcPts val="0"/>
              </a:spcAft>
              <a:buSzPts val="900"/>
              <a:buFont typeface="Noto Sans Symbols"/>
              <a:buChar char="▪"/>
            </a:pPr>
            <a:r>
              <a:rPr lang="en" sz="900"/>
              <a:t>International Languages as per requests</a:t>
            </a:r>
            <a:endParaRPr sz="110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900"/>
          </a:p>
          <a:p>
            <a:pPr marL="215900" lvl="0" indent="-152400" algn="l" rtl="0">
              <a:spcBef>
                <a:spcPts val="0"/>
              </a:spcBef>
              <a:spcAft>
                <a:spcPts val="0"/>
              </a:spcAft>
              <a:buSzPts val="900"/>
              <a:buFont typeface="Noto Sans Symbols"/>
              <a:buNone/>
            </a:pPr>
            <a:endParaRPr sz="900"/>
          </a:p>
        </p:txBody>
      </p:sp>
      <p:pic>
        <p:nvPicPr>
          <p:cNvPr id="166" name="Google Shape;166;p31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807787" y="1087823"/>
            <a:ext cx="484267" cy="484267"/>
          </a:xfrm>
          <a:prstGeom prst="rect">
            <a:avLst/>
          </a:prstGeom>
          <a:noFill/>
          <a:ln>
            <a:noFill/>
          </a:ln>
        </p:spPr>
      </p:pic>
      <p:sp>
        <p:nvSpPr>
          <p:cNvPr id="167" name="Google Shape;167;p31"/>
          <p:cNvSpPr txBox="1"/>
          <p:nvPr/>
        </p:nvSpPr>
        <p:spPr>
          <a:xfrm>
            <a:off x="496873" y="2813039"/>
            <a:ext cx="2077871" cy="276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 b="1"/>
              <a:t>Editing &amp; Proof reading</a:t>
            </a:r>
            <a:endParaRPr sz="1100"/>
          </a:p>
        </p:txBody>
      </p:sp>
      <p:pic>
        <p:nvPicPr>
          <p:cNvPr id="168" name="Google Shape;168;p31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129963" y="2731750"/>
            <a:ext cx="442931" cy="442931"/>
          </a:xfrm>
          <a:prstGeom prst="rect">
            <a:avLst/>
          </a:prstGeom>
          <a:noFill/>
          <a:ln>
            <a:noFill/>
          </a:ln>
        </p:spPr>
      </p:pic>
      <p:sp>
        <p:nvSpPr>
          <p:cNvPr id="169" name="Google Shape;169;p31"/>
          <p:cNvSpPr txBox="1"/>
          <p:nvPr/>
        </p:nvSpPr>
        <p:spPr>
          <a:xfrm>
            <a:off x="175111" y="3174681"/>
            <a:ext cx="2358690" cy="1315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marL="215900" lvl="0" indent="-209550" algn="l" rtl="0">
              <a:spcBef>
                <a:spcPts val="0"/>
              </a:spcBef>
              <a:spcAft>
                <a:spcPts val="0"/>
              </a:spcAft>
              <a:buSzPts val="900"/>
              <a:buFont typeface="Noto Sans Symbols"/>
              <a:buChar char="✔"/>
            </a:pPr>
            <a:r>
              <a:rPr lang="en" sz="900"/>
              <a:t>Content Reviewing </a:t>
            </a:r>
            <a:endParaRPr sz="1100"/>
          </a:p>
          <a:p>
            <a:pPr marL="215900" lvl="0" indent="-209550" algn="l" rtl="0">
              <a:spcBef>
                <a:spcPts val="0"/>
              </a:spcBef>
              <a:spcAft>
                <a:spcPts val="0"/>
              </a:spcAft>
              <a:buSzPts val="900"/>
              <a:buFont typeface="Noto Sans Symbols"/>
              <a:buChar char="✔"/>
            </a:pPr>
            <a:r>
              <a:rPr lang="en" sz="900"/>
              <a:t>Quality Improvement</a:t>
            </a:r>
            <a:endParaRPr sz="1100"/>
          </a:p>
          <a:p>
            <a:pPr marL="215900" lvl="0" indent="-209550" algn="l" rtl="0">
              <a:spcBef>
                <a:spcPts val="0"/>
              </a:spcBef>
              <a:spcAft>
                <a:spcPts val="0"/>
              </a:spcAft>
              <a:buSzPts val="900"/>
              <a:buFont typeface="Noto Sans Symbols"/>
              <a:buChar char="✔"/>
            </a:pPr>
            <a:r>
              <a:rPr lang="en" sz="900"/>
              <a:t>SEO friendly</a:t>
            </a:r>
            <a:endParaRPr sz="1100"/>
          </a:p>
          <a:p>
            <a:pPr marL="215900" lvl="0" indent="-209550" algn="l" rtl="0">
              <a:spcBef>
                <a:spcPts val="0"/>
              </a:spcBef>
              <a:spcAft>
                <a:spcPts val="0"/>
              </a:spcAft>
              <a:buSzPts val="900"/>
              <a:buFont typeface="Noto Sans Symbols"/>
              <a:buChar char="✔"/>
            </a:pPr>
            <a:r>
              <a:rPr lang="en" sz="900"/>
              <a:t>Spelling and Grammatical issue fixation</a:t>
            </a:r>
            <a:endParaRPr sz="1100"/>
          </a:p>
          <a:p>
            <a:pPr marL="215900" lvl="0" indent="-209550" algn="l" rtl="0">
              <a:spcBef>
                <a:spcPts val="0"/>
              </a:spcBef>
              <a:spcAft>
                <a:spcPts val="0"/>
              </a:spcAft>
              <a:buSzPts val="900"/>
              <a:buFont typeface="Noto Sans Symbols"/>
              <a:buChar char="✔"/>
            </a:pPr>
            <a:r>
              <a:rPr lang="en" sz="900"/>
              <a:t>Restructuring of sentences</a:t>
            </a:r>
            <a:endParaRPr sz="1100"/>
          </a:p>
          <a:p>
            <a:pPr marL="215900" lvl="0" indent="-209550" algn="l" rtl="0">
              <a:spcBef>
                <a:spcPts val="0"/>
              </a:spcBef>
              <a:spcAft>
                <a:spcPts val="0"/>
              </a:spcAft>
              <a:buSzPts val="900"/>
              <a:buFont typeface="Noto Sans Symbols"/>
              <a:buChar char="✔"/>
            </a:pPr>
            <a:r>
              <a:rPr lang="en" sz="900"/>
              <a:t>Brand Tonality check</a:t>
            </a:r>
            <a:endParaRPr sz="1100"/>
          </a:p>
          <a:p>
            <a:pPr marL="215900" lvl="0" indent="-209550" algn="l" rtl="0">
              <a:spcBef>
                <a:spcPts val="0"/>
              </a:spcBef>
              <a:spcAft>
                <a:spcPts val="0"/>
              </a:spcAft>
              <a:buSzPts val="900"/>
              <a:buFont typeface="Noto Sans Symbols"/>
              <a:buChar char="✔"/>
            </a:pPr>
            <a:r>
              <a:rPr lang="en" sz="900"/>
              <a:t>Fact checking</a:t>
            </a:r>
            <a:endParaRPr sz="1100"/>
          </a:p>
          <a:p>
            <a:pPr marL="215900" lvl="0" indent="-152400" algn="l" rtl="0">
              <a:spcBef>
                <a:spcPts val="0"/>
              </a:spcBef>
              <a:spcAft>
                <a:spcPts val="0"/>
              </a:spcAft>
              <a:buSzPts val="900"/>
              <a:buFont typeface="Noto Sans Symbols"/>
              <a:buNone/>
            </a:pPr>
            <a:endParaRPr sz="900"/>
          </a:p>
          <a:p>
            <a:pPr marL="215900" lvl="0" indent="-152400" algn="l" rtl="0">
              <a:spcBef>
                <a:spcPts val="0"/>
              </a:spcBef>
              <a:spcAft>
                <a:spcPts val="0"/>
              </a:spcAft>
              <a:buSzPts val="900"/>
              <a:buFont typeface="Noto Sans Symbols"/>
              <a:buNone/>
            </a:pPr>
            <a:endParaRPr sz="900"/>
          </a:p>
        </p:txBody>
      </p:sp>
      <p:sp>
        <p:nvSpPr>
          <p:cNvPr id="170" name="Google Shape;170;p31"/>
          <p:cNvSpPr txBox="1"/>
          <p:nvPr/>
        </p:nvSpPr>
        <p:spPr>
          <a:xfrm>
            <a:off x="4980277" y="2822902"/>
            <a:ext cx="2077871" cy="276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 b="1"/>
              <a:t>Visual Content</a:t>
            </a:r>
            <a:endParaRPr sz="1100"/>
          </a:p>
        </p:txBody>
      </p:sp>
      <p:pic>
        <p:nvPicPr>
          <p:cNvPr id="171" name="Google Shape;171;p31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4560884" y="2702705"/>
            <a:ext cx="442931" cy="442931"/>
          </a:xfrm>
          <a:prstGeom prst="rect">
            <a:avLst/>
          </a:prstGeom>
          <a:noFill/>
          <a:ln>
            <a:noFill/>
          </a:ln>
        </p:spPr>
      </p:pic>
      <p:sp>
        <p:nvSpPr>
          <p:cNvPr id="172" name="Google Shape;172;p31"/>
          <p:cNvSpPr txBox="1"/>
          <p:nvPr/>
        </p:nvSpPr>
        <p:spPr>
          <a:xfrm>
            <a:off x="4546554" y="3126656"/>
            <a:ext cx="2358690" cy="15927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marL="215900" lvl="0" indent="-209550" algn="l" rtl="0">
              <a:spcBef>
                <a:spcPts val="0"/>
              </a:spcBef>
              <a:spcAft>
                <a:spcPts val="0"/>
              </a:spcAft>
              <a:buSzPts val="900"/>
              <a:buFont typeface="Noto Sans Symbols"/>
              <a:buChar char="✔"/>
            </a:pPr>
            <a:r>
              <a:rPr lang="en" sz="900"/>
              <a:t>Social Media Static Post, Carousel, gifs</a:t>
            </a:r>
            <a:endParaRPr sz="1100"/>
          </a:p>
          <a:p>
            <a:pPr marL="215900" lvl="0" indent="-209550" algn="l" rtl="0">
              <a:spcBef>
                <a:spcPts val="0"/>
              </a:spcBef>
              <a:spcAft>
                <a:spcPts val="0"/>
              </a:spcAft>
              <a:buSzPts val="900"/>
              <a:buFont typeface="Noto Sans Symbols"/>
              <a:buChar char="✔"/>
            </a:pPr>
            <a:r>
              <a:rPr lang="en" sz="900"/>
              <a:t>Infographic</a:t>
            </a:r>
            <a:endParaRPr sz="1100"/>
          </a:p>
          <a:p>
            <a:pPr marL="215900" lvl="0" indent="-209550" algn="l" rtl="0">
              <a:spcBef>
                <a:spcPts val="0"/>
              </a:spcBef>
              <a:spcAft>
                <a:spcPts val="0"/>
              </a:spcAft>
              <a:buSzPts val="900"/>
              <a:buFont typeface="Noto Sans Symbols"/>
              <a:buChar char="✔"/>
            </a:pPr>
            <a:r>
              <a:rPr lang="en" sz="900"/>
              <a:t>Emailer</a:t>
            </a:r>
            <a:endParaRPr sz="1100"/>
          </a:p>
          <a:p>
            <a:pPr marL="215900" lvl="0" indent="-209550" algn="l" rtl="0">
              <a:spcBef>
                <a:spcPts val="0"/>
              </a:spcBef>
              <a:spcAft>
                <a:spcPts val="0"/>
              </a:spcAft>
              <a:buSzPts val="900"/>
              <a:buFont typeface="Noto Sans Symbols"/>
              <a:buChar char="✔"/>
            </a:pPr>
            <a:r>
              <a:rPr lang="en" sz="900"/>
              <a:t>Newsletter</a:t>
            </a:r>
            <a:endParaRPr sz="1100"/>
          </a:p>
          <a:p>
            <a:pPr marL="215900" lvl="0" indent="-209550" algn="l" rtl="0">
              <a:spcBef>
                <a:spcPts val="0"/>
              </a:spcBef>
              <a:spcAft>
                <a:spcPts val="0"/>
              </a:spcAft>
              <a:buSzPts val="900"/>
              <a:buFont typeface="Noto Sans Symbols"/>
              <a:buChar char="✔"/>
            </a:pPr>
            <a:r>
              <a:rPr lang="en" sz="900"/>
              <a:t>Video (Animated and white board)</a:t>
            </a:r>
            <a:endParaRPr sz="1100"/>
          </a:p>
          <a:p>
            <a:pPr marL="215900" lvl="0" indent="-209550" algn="l" rtl="0">
              <a:spcBef>
                <a:spcPts val="0"/>
              </a:spcBef>
              <a:spcAft>
                <a:spcPts val="0"/>
              </a:spcAft>
              <a:buSzPts val="900"/>
              <a:buFont typeface="Noto Sans Symbols"/>
              <a:buChar char="✔"/>
            </a:pPr>
            <a:r>
              <a:rPr lang="en" sz="900"/>
              <a:t>Marketing collaterals (fliers, banners, brochures, PPT decks)</a:t>
            </a:r>
            <a:endParaRPr sz="1100"/>
          </a:p>
          <a:p>
            <a:pPr marL="215900" lvl="0" indent="-209550" algn="l" rtl="0">
              <a:spcBef>
                <a:spcPts val="0"/>
              </a:spcBef>
              <a:spcAft>
                <a:spcPts val="0"/>
              </a:spcAft>
              <a:buSzPts val="900"/>
              <a:buFont typeface="Noto Sans Symbols"/>
              <a:buChar char="✔"/>
            </a:pPr>
            <a:r>
              <a:rPr lang="en" sz="900"/>
              <a:t>EBook, White paper, Case study designs</a:t>
            </a:r>
            <a:endParaRPr sz="1100"/>
          </a:p>
          <a:p>
            <a:pPr marL="215900" lvl="0" indent="-152400" algn="l" rtl="0">
              <a:spcBef>
                <a:spcPts val="0"/>
              </a:spcBef>
              <a:spcAft>
                <a:spcPts val="0"/>
              </a:spcAft>
              <a:buSzPts val="900"/>
              <a:buFont typeface="Noto Sans Symbols"/>
              <a:buNone/>
            </a:pPr>
            <a:endParaRPr sz="900"/>
          </a:p>
          <a:p>
            <a:pPr marL="215900" lvl="0" indent="-152400" algn="l" rtl="0">
              <a:spcBef>
                <a:spcPts val="0"/>
              </a:spcBef>
              <a:spcAft>
                <a:spcPts val="0"/>
              </a:spcAft>
              <a:buSzPts val="900"/>
              <a:buFont typeface="Noto Sans Symbols"/>
              <a:buNone/>
            </a:pPr>
            <a:endParaRPr sz="900"/>
          </a:p>
          <a:p>
            <a:pPr marL="215900" lvl="0" indent="-152400" algn="l" rtl="0">
              <a:spcBef>
                <a:spcPts val="0"/>
              </a:spcBef>
              <a:spcAft>
                <a:spcPts val="0"/>
              </a:spcAft>
              <a:buSzPts val="900"/>
              <a:buFont typeface="Noto Sans Symbols"/>
              <a:buNone/>
            </a:pPr>
            <a:endParaRPr sz="900"/>
          </a:p>
        </p:txBody>
      </p:sp>
      <p:sp>
        <p:nvSpPr>
          <p:cNvPr id="173" name="Google Shape;173;p31"/>
          <p:cNvSpPr/>
          <p:nvPr/>
        </p:nvSpPr>
        <p:spPr>
          <a:xfrm>
            <a:off x="183932" y="2614601"/>
            <a:ext cx="388961" cy="34289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chemeClr val="lt1"/>
              </a:solidFill>
            </a:endParaRPr>
          </a:p>
        </p:txBody>
      </p:sp>
      <p:sp>
        <p:nvSpPr>
          <p:cNvPr id="174" name="Google Shape;174;p31"/>
          <p:cNvSpPr/>
          <p:nvPr/>
        </p:nvSpPr>
        <p:spPr>
          <a:xfrm>
            <a:off x="183932" y="4254038"/>
            <a:ext cx="388961" cy="34289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chemeClr val="lt1"/>
              </a:solidFill>
            </a:endParaRPr>
          </a:p>
        </p:txBody>
      </p:sp>
      <p:sp>
        <p:nvSpPr>
          <p:cNvPr id="175" name="Google Shape;175;p31"/>
          <p:cNvSpPr/>
          <p:nvPr/>
        </p:nvSpPr>
        <p:spPr>
          <a:xfrm>
            <a:off x="2902017" y="3327486"/>
            <a:ext cx="388961" cy="34289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chemeClr val="lt1"/>
              </a:solidFill>
            </a:endParaRPr>
          </a:p>
        </p:txBody>
      </p:sp>
      <p:sp>
        <p:nvSpPr>
          <p:cNvPr id="176" name="Google Shape;176;p31"/>
          <p:cNvSpPr/>
          <p:nvPr/>
        </p:nvSpPr>
        <p:spPr>
          <a:xfrm>
            <a:off x="5855439" y="2614600"/>
            <a:ext cx="388961" cy="34289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chemeClr val="lt1"/>
              </a:solidFill>
            </a:endParaRPr>
          </a:p>
        </p:txBody>
      </p:sp>
      <p:sp>
        <p:nvSpPr>
          <p:cNvPr id="177" name="Google Shape;177;p31"/>
          <p:cNvSpPr/>
          <p:nvPr/>
        </p:nvSpPr>
        <p:spPr>
          <a:xfrm>
            <a:off x="4587869" y="4477147"/>
            <a:ext cx="388961" cy="34289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chemeClr val="lt1"/>
              </a:solidFill>
            </a:endParaRPr>
          </a:p>
        </p:txBody>
      </p:sp>
      <p:pic>
        <p:nvPicPr>
          <p:cNvPr id="178" name="Google Shape;178;p31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8664518" y="703760"/>
            <a:ext cx="237850" cy="237850"/>
          </a:xfrm>
          <a:prstGeom prst="rect">
            <a:avLst/>
          </a:prstGeom>
          <a:noFill/>
          <a:ln>
            <a:noFill/>
          </a:ln>
        </p:spPr>
      </p:pic>
      <p:sp>
        <p:nvSpPr>
          <p:cNvPr id="179" name="Google Shape;179;p31"/>
          <p:cNvSpPr txBox="1"/>
          <p:nvPr/>
        </p:nvSpPr>
        <p:spPr>
          <a:xfrm>
            <a:off x="8567297" y="991466"/>
            <a:ext cx="460570" cy="1731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700" b="1"/>
              <a:t>BFSI</a:t>
            </a:r>
            <a:endParaRPr sz="1100"/>
          </a:p>
        </p:txBody>
      </p:sp>
      <p:cxnSp>
        <p:nvCxnSpPr>
          <p:cNvPr id="180" name="Google Shape;180;p31"/>
          <p:cNvCxnSpPr/>
          <p:nvPr/>
        </p:nvCxnSpPr>
        <p:spPr>
          <a:xfrm>
            <a:off x="8558378" y="1210446"/>
            <a:ext cx="468055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pic>
        <p:nvPicPr>
          <p:cNvPr id="181" name="Google Shape;181;p31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8655985" y="1265687"/>
            <a:ext cx="275775" cy="275775"/>
          </a:xfrm>
          <a:prstGeom prst="rect">
            <a:avLst/>
          </a:prstGeom>
          <a:noFill/>
          <a:ln>
            <a:noFill/>
          </a:ln>
        </p:spPr>
      </p:pic>
      <p:sp>
        <p:nvSpPr>
          <p:cNvPr id="182" name="Google Shape;182;p31"/>
          <p:cNvSpPr txBox="1"/>
          <p:nvPr/>
        </p:nvSpPr>
        <p:spPr>
          <a:xfrm>
            <a:off x="8493095" y="1515195"/>
            <a:ext cx="611236" cy="1731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700" b="1"/>
              <a:t>Health</a:t>
            </a:r>
            <a:endParaRPr sz="1100"/>
          </a:p>
        </p:txBody>
      </p:sp>
      <p:pic>
        <p:nvPicPr>
          <p:cNvPr id="183" name="Google Shape;183;p31"/>
          <p:cNvPicPr preferRelativeResize="0"/>
          <p:nvPr/>
        </p:nvPicPr>
        <p:blipFill rotWithShape="1">
          <a:blip r:embed="rId10">
            <a:alphaModFix/>
          </a:blip>
          <a:srcRect/>
          <a:stretch/>
        </p:blipFill>
        <p:spPr>
          <a:xfrm>
            <a:off x="8656982" y="1740530"/>
            <a:ext cx="294372" cy="294372"/>
          </a:xfrm>
          <a:prstGeom prst="rect">
            <a:avLst/>
          </a:prstGeom>
          <a:noFill/>
          <a:ln>
            <a:noFill/>
          </a:ln>
        </p:spPr>
      </p:pic>
      <p:sp>
        <p:nvSpPr>
          <p:cNvPr id="184" name="Google Shape;184;p31"/>
          <p:cNvSpPr txBox="1"/>
          <p:nvPr/>
        </p:nvSpPr>
        <p:spPr>
          <a:xfrm>
            <a:off x="8415518" y="2008927"/>
            <a:ext cx="786428" cy="1731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700" b="1"/>
              <a:t>Ed-Tech</a:t>
            </a:r>
            <a:endParaRPr sz="1100"/>
          </a:p>
        </p:txBody>
      </p:sp>
      <p:pic>
        <p:nvPicPr>
          <p:cNvPr id="185" name="Google Shape;185;p31"/>
          <p:cNvPicPr preferRelativeResize="0"/>
          <p:nvPr/>
        </p:nvPicPr>
        <p:blipFill rotWithShape="1">
          <a:blip r:embed="rId11">
            <a:alphaModFix/>
          </a:blip>
          <a:srcRect/>
          <a:stretch/>
        </p:blipFill>
        <p:spPr>
          <a:xfrm>
            <a:off x="8642882" y="2278785"/>
            <a:ext cx="308472" cy="308472"/>
          </a:xfrm>
          <a:prstGeom prst="rect">
            <a:avLst/>
          </a:prstGeom>
          <a:noFill/>
          <a:ln>
            <a:noFill/>
          </a:ln>
        </p:spPr>
      </p:pic>
      <p:sp>
        <p:nvSpPr>
          <p:cNvPr id="186" name="Google Shape;186;p31"/>
          <p:cNvSpPr txBox="1"/>
          <p:nvPr/>
        </p:nvSpPr>
        <p:spPr>
          <a:xfrm>
            <a:off x="8410954" y="2557876"/>
            <a:ext cx="786428" cy="1731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700" b="1"/>
              <a:t>Travel</a:t>
            </a:r>
            <a:endParaRPr sz="1100"/>
          </a:p>
        </p:txBody>
      </p:sp>
      <p:pic>
        <p:nvPicPr>
          <p:cNvPr id="187" name="Google Shape;187;p31"/>
          <p:cNvPicPr preferRelativeResize="0"/>
          <p:nvPr/>
        </p:nvPicPr>
        <p:blipFill rotWithShape="1">
          <a:blip r:embed="rId12">
            <a:alphaModFix/>
          </a:blip>
          <a:srcRect/>
          <a:stretch/>
        </p:blipFill>
        <p:spPr>
          <a:xfrm>
            <a:off x="8664518" y="2829154"/>
            <a:ext cx="301057" cy="301058"/>
          </a:xfrm>
          <a:prstGeom prst="rect">
            <a:avLst/>
          </a:prstGeom>
          <a:noFill/>
          <a:ln>
            <a:noFill/>
          </a:ln>
        </p:spPr>
      </p:pic>
      <p:sp>
        <p:nvSpPr>
          <p:cNvPr id="188" name="Google Shape;188;p31"/>
          <p:cNvSpPr txBox="1"/>
          <p:nvPr/>
        </p:nvSpPr>
        <p:spPr>
          <a:xfrm>
            <a:off x="8337516" y="3091022"/>
            <a:ext cx="950498" cy="1731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700" b="1"/>
              <a:t> Lifestyle</a:t>
            </a:r>
            <a:endParaRPr sz="1100"/>
          </a:p>
        </p:txBody>
      </p:sp>
      <p:pic>
        <p:nvPicPr>
          <p:cNvPr id="189" name="Google Shape;189;p31"/>
          <p:cNvPicPr preferRelativeResize="0"/>
          <p:nvPr/>
        </p:nvPicPr>
        <p:blipFill rotWithShape="1">
          <a:blip r:embed="rId13">
            <a:alphaModFix/>
          </a:blip>
          <a:srcRect/>
          <a:stretch/>
        </p:blipFill>
        <p:spPr>
          <a:xfrm>
            <a:off x="8668373" y="3382670"/>
            <a:ext cx="263386" cy="263386"/>
          </a:xfrm>
          <a:prstGeom prst="rect">
            <a:avLst/>
          </a:prstGeom>
          <a:noFill/>
          <a:ln>
            <a:noFill/>
          </a:ln>
        </p:spPr>
      </p:pic>
      <p:sp>
        <p:nvSpPr>
          <p:cNvPr id="190" name="Google Shape;190;p31"/>
          <p:cNvSpPr txBox="1"/>
          <p:nvPr/>
        </p:nvSpPr>
        <p:spPr>
          <a:xfrm>
            <a:off x="8321930" y="3633998"/>
            <a:ext cx="950498" cy="1731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700" b="1"/>
              <a:t>Technology </a:t>
            </a:r>
            <a:endParaRPr sz="1100"/>
          </a:p>
        </p:txBody>
      </p:sp>
      <p:pic>
        <p:nvPicPr>
          <p:cNvPr id="191" name="Google Shape;191;p31"/>
          <p:cNvPicPr preferRelativeResize="0"/>
          <p:nvPr/>
        </p:nvPicPr>
        <p:blipFill rotWithShape="1">
          <a:blip r:embed="rId14">
            <a:alphaModFix/>
          </a:blip>
          <a:srcRect/>
          <a:stretch/>
        </p:blipFill>
        <p:spPr>
          <a:xfrm>
            <a:off x="8672541" y="3913038"/>
            <a:ext cx="285311" cy="285311"/>
          </a:xfrm>
          <a:prstGeom prst="rect">
            <a:avLst/>
          </a:prstGeom>
          <a:noFill/>
          <a:ln>
            <a:noFill/>
          </a:ln>
        </p:spPr>
      </p:pic>
      <p:sp>
        <p:nvSpPr>
          <p:cNvPr id="192" name="Google Shape;192;p31"/>
          <p:cNvSpPr txBox="1"/>
          <p:nvPr/>
        </p:nvSpPr>
        <p:spPr>
          <a:xfrm>
            <a:off x="8397395" y="4235960"/>
            <a:ext cx="790019" cy="1731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700" b="1"/>
              <a:t>Manufacturing</a:t>
            </a:r>
            <a:endParaRPr sz="1100"/>
          </a:p>
        </p:txBody>
      </p:sp>
      <p:cxnSp>
        <p:nvCxnSpPr>
          <p:cNvPr id="193" name="Google Shape;193;p31"/>
          <p:cNvCxnSpPr/>
          <p:nvPr/>
        </p:nvCxnSpPr>
        <p:spPr>
          <a:xfrm>
            <a:off x="8564909" y="1736231"/>
            <a:ext cx="468055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94" name="Google Shape;194;p31"/>
          <p:cNvCxnSpPr/>
          <p:nvPr/>
        </p:nvCxnSpPr>
        <p:spPr>
          <a:xfrm>
            <a:off x="8561675" y="2241176"/>
            <a:ext cx="468055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95" name="Google Shape;195;p31"/>
          <p:cNvCxnSpPr/>
          <p:nvPr/>
        </p:nvCxnSpPr>
        <p:spPr>
          <a:xfrm>
            <a:off x="8569087" y="2788709"/>
            <a:ext cx="468055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96" name="Google Shape;196;p31"/>
          <p:cNvCxnSpPr/>
          <p:nvPr/>
        </p:nvCxnSpPr>
        <p:spPr>
          <a:xfrm>
            <a:off x="8570141" y="3354767"/>
            <a:ext cx="468055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97" name="Google Shape;197;p31"/>
          <p:cNvCxnSpPr/>
          <p:nvPr/>
        </p:nvCxnSpPr>
        <p:spPr>
          <a:xfrm>
            <a:off x="8564908" y="3865122"/>
            <a:ext cx="468055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03" name="Google Shape;203;p32"/>
          <p:cNvCxnSpPr>
            <a:stCxn id="204" idx="3"/>
          </p:cNvCxnSpPr>
          <p:nvPr/>
        </p:nvCxnSpPr>
        <p:spPr>
          <a:xfrm>
            <a:off x="4477815" y="1833696"/>
            <a:ext cx="1004100" cy="0"/>
          </a:xfrm>
          <a:prstGeom prst="straightConnector1">
            <a:avLst/>
          </a:prstGeom>
          <a:noFill/>
          <a:ln w="9525" cap="flat" cmpd="sng">
            <a:solidFill>
              <a:srgbClr val="FFC000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205" name="Google Shape;205;p32"/>
          <p:cNvCxnSpPr/>
          <p:nvPr/>
        </p:nvCxnSpPr>
        <p:spPr>
          <a:xfrm rot="10800000" flipH="1">
            <a:off x="4485240" y="2696121"/>
            <a:ext cx="1003857" cy="1"/>
          </a:xfrm>
          <a:prstGeom prst="straightConnector1">
            <a:avLst/>
          </a:prstGeom>
          <a:noFill/>
          <a:ln w="9525" cap="flat" cmpd="sng">
            <a:solidFill>
              <a:srgbClr val="FFC000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206" name="Google Shape;206;p32"/>
          <p:cNvCxnSpPr/>
          <p:nvPr/>
        </p:nvCxnSpPr>
        <p:spPr>
          <a:xfrm rot="10800000" flipH="1">
            <a:off x="4474852" y="3647608"/>
            <a:ext cx="1003857" cy="1"/>
          </a:xfrm>
          <a:prstGeom prst="straightConnector1">
            <a:avLst/>
          </a:prstGeom>
          <a:noFill/>
          <a:ln w="9525" cap="flat" cmpd="sng">
            <a:solidFill>
              <a:srgbClr val="FFC000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207" name="Google Shape;207;p32"/>
          <p:cNvCxnSpPr/>
          <p:nvPr/>
        </p:nvCxnSpPr>
        <p:spPr>
          <a:xfrm rot="10800000" flipH="1">
            <a:off x="2095403" y="3663940"/>
            <a:ext cx="1003857" cy="1"/>
          </a:xfrm>
          <a:prstGeom prst="straightConnector1">
            <a:avLst/>
          </a:prstGeom>
          <a:noFill/>
          <a:ln w="9525" cap="flat" cmpd="sng">
            <a:solidFill>
              <a:srgbClr val="FFC000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208" name="Google Shape;208;p32"/>
          <p:cNvCxnSpPr/>
          <p:nvPr/>
        </p:nvCxnSpPr>
        <p:spPr>
          <a:xfrm rot="10800000" flipH="1">
            <a:off x="2093921" y="2700584"/>
            <a:ext cx="1003857" cy="1"/>
          </a:xfrm>
          <a:prstGeom prst="straightConnector1">
            <a:avLst/>
          </a:prstGeom>
          <a:noFill/>
          <a:ln w="9525" cap="flat" cmpd="sng">
            <a:solidFill>
              <a:srgbClr val="FFC000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209" name="Google Shape;209;p32"/>
          <p:cNvCxnSpPr/>
          <p:nvPr/>
        </p:nvCxnSpPr>
        <p:spPr>
          <a:xfrm rot="10800000" flipH="1">
            <a:off x="2092440" y="1835196"/>
            <a:ext cx="1003857" cy="1"/>
          </a:xfrm>
          <a:prstGeom prst="straightConnector1">
            <a:avLst/>
          </a:prstGeom>
          <a:noFill/>
          <a:ln w="9525" cap="flat" cmpd="sng">
            <a:solidFill>
              <a:srgbClr val="FFC000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210" name="Google Shape;210;p32"/>
          <p:cNvSpPr txBox="1"/>
          <p:nvPr/>
        </p:nvSpPr>
        <p:spPr>
          <a:xfrm>
            <a:off x="84925" y="282440"/>
            <a:ext cx="8974148" cy="1675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700" b="1">
                <a:solidFill>
                  <a:srgbClr val="FFC000"/>
                </a:solidFill>
              </a:rPr>
              <a:t>Our 360° Digital Marketing Services</a:t>
            </a:r>
            <a:endParaRPr sz="2700">
              <a:solidFill>
                <a:srgbClr val="FFC000"/>
              </a:solidFill>
            </a:endParaRPr>
          </a:p>
        </p:txBody>
      </p:sp>
      <p:sp>
        <p:nvSpPr>
          <p:cNvPr id="211" name="Google Shape;211;p32"/>
          <p:cNvSpPr/>
          <p:nvPr/>
        </p:nvSpPr>
        <p:spPr>
          <a:xfrm>
            <a:off x="3005655" y="1487090"/>
            <a:ext cx="671203" cy="671204"/>
          </a:xfrm>
          <a:prstGeom prst="ellipse">
            <a:avLst/>
          </a:prstGeom>
          <a:solidFill>
            <a:schemeClr val="lt1"/>
          </a:solidFill>
          <a:ln w="25400" cap="flat" cmpd="sng">
            <a:solidFill>
              <a:srgbClr val="FFC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chemeClr val="lt1"/>
              </a:solidFill>
            </a:endParaRPr>
          </a:p>
        </p:txBody>
      </p:sp>
      <p:sp>
        <p:nvSpPr>
          <p:cNvPr id="212" name="Google Shape;212;p32"/>
          <p:cNvSpPr/>
          <p:nvPr/>
        </p:nvSpPr>
        <p:spPr>
          <a:xfrm>
            <a:off x="3877007" y="1488451"/>
            <a:ext cx="671203" cy="671203"/>
          </a:xfrm>
          <a:prstGeom prst="ellipse">
            <a:avLst/>
          </a:prstGeom>
          <a:solidFill>
            <a:schemeClr val="lt1"/>
          </a:solidFill>
          <a:ln w="25400" cap="flat" cmpd="sng">
            <a:solidFill>
              <a:srgbClr val="FFC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chemeClr val="lt1"/>
              </a:solidFill>
            </a:endParaRPr>
          </a:p>
        </p:txBody>
      </p:sp>
      <p:sp>
        <p:nvSpPr>
          <p:cNvPr id="213" name="Google Shape;213;p32"/>
          <p:cNvSpPr/>
          <p:nvPr/>
        </p:nvSpPr>
        <p:spPr>
          <a:xfrm>
            <a:off x="3868955" y="2382378"/>
            <a:ext cx="671203" cy="671203"/>
          </a:xfrm>
          <a:prstGeom prst="ellipse">
            <a:avLst/>
          </a:prstGeom>
          <a:solidFill>
            <a:schemeClr val="lt1"/>
          </a:solidFill>
          <a:ln w="25400" cap="flat" cmpd="sng">
            <a:solidFill>
              <a:srgbClr val="FFC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chemeClr val="lt1"/>
              </a:solidFill>
            </a:endParaRPr>
          </a:p>
        </p:txBody>
      </p:sp>
      <p:sp>
        <p:nvSpPr>
          <p:cNvPr id="214" name="Google Shape;214;p32"/>
          <p:cNvSpPr/>
          <p:nvPr/>
        </p:nvSpPr>
        <p:spPr>
          <a:xfrm>
            <a:off x="3005655" y="2361658"/>
            <a:ext cx="671203" cy="671203"/>
          </a:xfrm>
          <a:prstGeom prst="ellipse">
            <a:avLst/>
          </a:prstGeom>
          <a:solidFill>
            <a:schemeClr val="lt1"/>
          </a:solidFill>
          <a:ln w="25400" cap="flat" cmpd="sng">
            <a:solidFill>
              <a:srgbClr val="FFC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chemeClr val="lt1"/>
              </a:solidFill>
            </a:endParaRPr>
          </a:p>
        </p:txBody>
      </p:sp>
      <p:sp>
        <p:nvSpPr>
          <p:cNvPr id="215" name="Google Shape;215;p32"/>
          <p:cNvSpPr/>
          <p:nvPr/>
        </p:nvSpPr>
        <p:spPr>
          <a:xfrm>
            <a:off x="3005655" y="3295355"/>
            <a:ext cx="671203" cy="671203"/>
          </a:xfrm>
          <a:prstGeom prst="ellipse">
            <a:avLst/>
          </a:prstGeom>
          <a:solidFill>
            <a:schemeClr val="lt1"/>
          </a:solidFill>
          <a:ln w="25400" cap="flat" cmpd="sng">
            <a:solidFill>
              <a:srgbClr val="FFC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chemeClr val="lt1"/>
              </a:solidFill>
            </a:endParaRPr>
          </a:p>
        </p:txBody>
      </p:sp>
      <p:sp>
        <p:nvSpPr>
          <p:cNvPr id="216" name="Google Shape;216;p32"/>
          <p:cNvSpPr/>
          <p:nvPr/>
        </p:nvSpPr>
        <p:spPr>
          <a:xfrm>
            <a:off x="3877007" y="3295355"/>
            <a:ext cx="671203" cy="671203"/>
          </a:xfrm>
          <a:prstGeom prst="ellipse">
            <a:avLst/>
          </a:prstGeom>
          <a:solidFill>
            <a:schemeClr val="lt1"/>
          </a:solidFill>
          <a:ln w="25400" cap="flat" cmpd="sng">
            <a:solidFill>
              <a:srgbClr val="FFC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chemeClr val="lt1"/>
              </a:solidFill>
            </a:endParaRPr>
          </a:p>
        </p:txBody>
      </p:sp>
      <p:pic>
        <p:nvPicPr>
          <p:cNvPr id="217" name="Google Shape;217;p32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131699" y="1622040"/>
            <a:ext cx="411567" cy="411567"/>
          </a:xfrm>
          <a:prstGeom prst="rect">
            <a:avLst/>
          </a:prstGeom>
          <a:noFill/>
          <a:ln>
            <a:noFill/>
          </a:ln>
        </p:spPr>
      </p:pic>
      <p:pic>
        <p:nvPicPr>
          <p:cNvPr id="204" name="Google Shape;204;p32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3949370" y="1569474"/>
            <a:ext cx="528445" cy="528445"/>
          </a:xfrm>
          <a:prstGeom prst="rect">
            <a:avLst/>
          </a:prstGeom>
          <a:noFill/>
          <a:ln>
            <a:noFill/>
          </a:ln>
        </p:spPr>
      </p:pic>
      <p:pic>
        <p:nvPicPr>
          <p:cNvPr id="218" name="Google Shape;218;p32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3115946" y="2474693"/>
            <a:ext cx="465549" cy="465549"/>
          </a:xfrm>
          <a:prstGeom prst="rect">
            <a:avLst/>
          </a:prstGeom>
          <a:noFill/>
          <a:ln>
            <a:noFill/>
          </a:ln>
        </p:spPr>
      </p:pic>
      <p:pic>
        <p:nvPicPr>
          <p:cNvPr id="219" name="Google Shape;219;p32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3946669" y="2468998"/>
            <a:ext cx="497963" cy="497963"/>
          </a:xfrm>
          <a:prstGeom prst="rect">
            <a:avLst/>
          </a:prstGeom>
          <a:noFill/>
          <a:ln>
            <a:noFill/>
          </a:ln>
        </p:spPr>
      </p:pic>
      <p:pic>
        <p:nvPicPr>
          <p:cNvPr id="220" name="Google Shape;220;p32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3131699" y="3430614"/>
            <a:ext cx="454124" cy="454124"/>
          </a:xfrm>
          <a:prstGeom prst="rect">
            <a:avLst/>
          </a:prstGeom>
          <a:noFill/>
          <a:ln>
            <a:noFill/>
          </a:ln>
        </p:spPr>
      </p:pic>
      <p:pic>
        <p:nvPicPr>
          <p:cNvPr id="221" name="Google Shape;221;p32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3986402" y="3403895"/>
            <a:ext cx="454124" cy="454124"/>
          </a:xfrm>
          <a:prstGeom prst="rect">
            <a:avLst/>
          </a:prstGeom>
          <a:noFill/>
          <a:ln>
            <a:noFill/>
          </a:ln>
        </p:spPr>
      </p:pic>
      <p:sp>
        <p:nvSpPr>
          <p:cNvPr id="222" name="Google Shape;222;p32"/>
          <p:cNvSpPr txBox="1"/>
          <p:nvPr/>
        </p:nvSpPr>
        <p:spPr>
          <a:xfrm>
            <a:off x="158657" y="1165521"/>
            <a:ext cx="2930214" cy="16119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 b="1">
                <a:latin typeface="Quattrocento Sans"/>
                <a:ea typeface="Quattrocento Sans"/>
                <a:cs typeface="Quattrocento Sans"/>
                <a:sym typeface="Quattrocento Sans"/>
              </a:rPr>
              <a:t>SEO – Content Marketing Led</a:t>
            </a:r>
            <a:endParaRPr sz="1100"/>
          </a:p>
          <a:p>
            <a:pPr marL="228600" lvl="0" indent="-222250" algn="l" rtl="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900"/>
              <a:buFont typeface="Noto Sans Symbols"/>
              <a:buChar char="✔"/>
            </a:pPr>
            <a:r>
              <a:rPr lang="en" sz="900">
                <a:latin typeface="Quattrocento Sans"/>
                <a:ea typeface="Quattrocento Sans"/>
                <a:cs typeface="Quattrocento Sans"/>
                <a:sym typeface="Quattrocento Sans"/>
              </a:rPr>
              <a:t>KW &amp; Competitor Research</a:t>
            </a:r>
            <a:endParaRPr sz="1100"/>
          </a:p>
          <a:p>
            <a:pPr marL="228600" lvl="0" indent="-2222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Font typeface="Noto Sans Symbols"/>
              <a:buChar char="✔"/>
            </a:pPr>
            <a:r>
              <a:rPr lang="en" sz="900">
                <a:latin typeface="Quattrocento Sans"/>
                <a:ea typeface="Quattrocento Sans"/>
                <a:cs typeface="Quattrocento Sans"/>
                <a:sym typeface="Quattrocento Sans"/>
              </a:rPr>
              <a:t>On-Page &amp; Off-Page SEO (Technical + Content)</a:t>
            </a:r>
            <a:endParaRPr sz="1100"/>
          </a:p>
          <a:p>
            <a:pPr marL="228600" lvl="0" indent="-2222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Font typeface="Noto Sans Symbols"/>
              <a:buChar char="✔"/>
            </a:pPr>
            <a:r>
              <a:rPr lang="en" sz="900">
                <a:latin typeface="Quattrocento Sans"/>
                <a:ea typeface="Quattrocento Sans"/>
                <a:cs typeface="Quattrocento Sans"/>
                <a:sym typeface="Quattrocento Sans"/>
              </a:rPr>
              <a:t>Link Building Strategy</a:t>
            </a:r>
            <a:endParaRPr sz="1100"/>
          </a:p>
          <a:p>
            <a:pPr marL="228600" lvl="0" indent="-2222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Font typeface="Noto Sans Symbols"/>
              <a:buChar char="✔"/>
            </a:pPr>
            <a:r>
              <a:rPr lang="en" sz="900">
                <a:latin typeface="Quattrocento Sans"/>
                <a:ea typeface="Quattrocento Sans"/>
                <a:cs typeface="Quattrocento Sans"/>
                <a:sym typeface="Quattrocento Sans"/>
              </a:rPr>
              <a:t>Paid Guest Posting</a:t>
            </a:r>
            <a:endParaRPr sz="1100"/>
          </a:p>
          <a:p>
            <a:pPr marL="12700" lvl="0" indent="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None/>
            </a:pPr>
            <a:endParaRPr sz="1400" b="1">
              <a:solidFill>
                <a:srgbClr val="FFC000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  <a:p>
            <a:pPr marL="12700" lvl="0" indent="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None/>
            </a:pPr>
            <a:endParaRPr sz="1400">
              <a:solidFill>
                <a:srgbClr val="FFC000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223" name="Google Shape;223;p32"/>
          <p:cNvSpPr/>
          <p:nvPr/>
        </p:nvSpPr>
        <p:spPr>
          <a:xfrm>
            <a:off x="2074628" y="1787630"/>
            <a:ext cx="95134" cy="95134"/>
          </a:xfrm>
          <a:prstGeom prst="ellipse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chemeClr val="lt1"/>
              </a:solidFill>
            </a:endParaRPr>
          </a:p>
        </p:txBody>
      </p:sp>
      <p:sp>
        <p:nvSpPr>
          <p:cNvPr id="224" name="Google Shape;224;p32"/>
          <p:cNvSpPr/>
          <p:nvPr/>
        </p:nvSpPr>
        <p:spPr>
          <a:xfrm>
            <a:off x="2061947" y="2638065"/>
            <a:ext cx="95134" cy="95134"/>
          </a:xfrm>
          <a:prstGeom prst="ellipse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chemeClr val="lt1"/>
              </a:solidFill>
            </a:endParaRPr>
          </a:p>
        </p:txBody>
      </p:sp>
      <p:sp>
        <p:nvSpPr>
          <p:cNvPr id="225" name="Google Shape;225;p32"/>
          <p:cNvSpPr/>
          <p:nvPr/>
        </p:nvSpPr>
        <p:spPr>
          <a:xfrm>
            <a:off x="5422236" y="3590966"/>
            <a:ext cx="95134" cy="95134"/>
          </a:xfrm>
          <a:prstGeom prst="ellipse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chemeClr val="lt1"/>
              </a:solidFill>
            </a:endParaRPr>
          </a:p>
        </p:txBody>
      </p:sp>
      <p:sp>
        <p:nvSpPr>
          <p:cNvPr id="226" name="Google Shape;226;p32"/>
          <p:cNvSpPr/>
          <p:nvPr/>
        </p:nvSpPr>
        <p:spPr>
          <a:xfrm>
            <a:off x="5434177" y="2648554"/>
            <a:ext cx="95134" cy="95134"/>
          </a:xfrm>
          <a:prstGeom prst="ellipse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chemeClr val="lt1"/>
              </a:solidFill>
            </a:endParaRPr>
          </a:p>
        </p:txBody>
      </p:sp>
      <p:sp>
        <p:nvSpPr>
          <p:cNvPr id="227" name="Google Shape;227;p32"/>
          <p:cNvSpPr/>
          <p:nvPr/>
        </p:nvSpPr>
        <p:spPr>
          <a:xfrm>
            <a:off x="5416083" y="1776485"/>
            <a:ext cx="95134" cy="95134"/>
          </a:xfrm>
          <a:prstGeom prst="ellipse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chemeClr val="lt1"/>
              </a:solidFill>
            </a:endParaRPr>
          </a:p>
        </p:txBody>
      </p:sp>
      <p:sp>
        <p:nvSpPr>
          <p:cNvPr id="228" name="Google Shape;228;p32"/>
          <p:cNvSpPr/>
          <p:nvPr/>
        </p:nvSpPr>
        <p:spPr>
          <a:xfrm>
            <a:off x="163879" y="2179070"/>
            <a:ext cx="2397772" cy="16119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 b="1">
                <a:latin typeface="Quattrocento Sans"/>
                <a:ea typeface="Quattrocento Sans"/>
                <a:cs typeface="Quattrocento Sans"/>
                <a:sym typeface="Quattrocento Sans"/>
              </a:rPr>
              <a:t>Impactful Social Campaigns</a:t>
            </a:r>
            <a:endParaRPr sz="1100"/>
          </a:p>
          <a:p>
            <a:pPr marL="228600" lvl="0" indent="-222250" algn="l" rtl="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900"/>
              <a:buFont typeface="Noto Sans Symbols"/>
              <a:buChar char="✔"/>
            </a:pPr>
            <a:r>
              <a:rPr lang="en" sz="900">
                <a:latin typeface="Quattrocento Sans"/>
                <a:ea typeface="Quattrocento Sans"/>
                <a:cs typeface="Quattrocento Sans"/>
                <a:sym typeface="Quattrocento Sans"/>
              </a:rPr>
              <a:t>Monthly Content Calendar</a:t>
            </a:r>
            <a:endParaRPr sz="1100"/>
          </a:p>
          <a:p>
            <a:pPr marL="228600" lvl="0" indent="-2222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Font typeface="Noto Sans Symbols"/>
              <a:buChar char="✔"/>
            </a:pPr>
            <a:r>
              <a:rPr lang="en" sz="900">
                <a:latin typeface="Quattrocento Sans"/>
                <a:ea typeface="Quattrocento Sans"/>
                <a:cs typeface="Quattrocento Sans"/>
                <a:sym typeface="Quattrocento Sans"/>
              </a:rPr>
              <a:t>Campaign Planning</a:t>
            </a:r>
            <a:endParaRPr sz="1100"/>
          </a:p>
          <a:p>
            <a:pPr marL="228600" lvl="0" indent="-2222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Font typeface="Noto Sans Symbols"/>
              <a:buChar char="✔"/>
            </a:pPr>
            <a:r>
              <a:rPr lang="en" sz="900">
                <a:latin typeface="Quattrocento Sans"/>
                <a:ea typeface="Quattrocento Sans"/>
                <a:cs typeface="Quattrocento Sans"/>
                <a:sym typeface="Quattrocento Sans"/>
              </a:rPr>
              <a:t>Brand/Profile Page Handle</a:t>
            </a:r>
            <a:endParaRPr sz="1100"/>
          </a:p>
          <a:p>
            <a:pPr marL="228600" lvl="0" indent="-2222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Font typeface="Noto Sans Symbols"/>
              <a:buChar char="✔"/>
            </a:pPr>
            <a:r>
              <a:rPr lang="en" sz="900">
                <a:latin typeface="Quattrocento Sans"/>
                <a:ea typeface="Quattrocento Sans"/>
                <a:cs typeface="Quattrocento Sans"/>
                <a:sym typeface="Quattrocento Sans"/>
              </a:rPr>
              <a:t>Online Reputation Management</a:t>
            </a:r>
            <a:endParaRPr sz="1100"/>
          </a:p>
          <a:p>
            <a:pPr marL="12700" lvl="0" indent="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None/>
            </a:pPr>
            <a:endParaRPr sz="1400">
              <a:solidFill>
                <a:srgbClr val="FFC000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  <a:p>
            <a:pPr marL="12700" lvl="0" indent="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None/>
            </a:pPr>
            <a:endParaRPr sz="1400">
              <a:solidFill>
                <a:srgbClr val="FFC000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229" name="Google Shape;229;p32"/>
          <p:cNvSpPr/>
          <p:nvPr/>
        </p:nvSpPr>
        <p:spPr>
          <a:xfrm>
            <a:off x="5686780" y="1219903"/>
            <a:ext cx="2041616" cy="1473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 b="1">
                <a:latin typeface="Quattrocento Sans"/>
                <a:ea typeface="Quattrocento Sans"/>
                <a:cs typeface="Quattrocento Sans"/>
                <a:sym typeface="Quattrocento Sans"/>
              </a:rPr>
              <a:t>Content Marketing</a:t>
            </a:r>
            <a:endParaRPr sz="1100"/>
          </a:p>
          <a:p>
            <a:pPr marL="228600" lvl="0" indent="-222250" algn="l" rtl="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900"/>
              <a:buFont typeface="Noto Sans Symbols"/>
              <a:buChar char="✔"/>
            </a:pPr>
            <a:r>
              <a:rPr lang="en" sz="900">
                <a:latin typeface="Quattrocento Sans"/>
                <a:ea typeface="Quattrocento Sans"/>
                <a:cs typeface="Quattrocento Sans"/>
                <a:sym typeface="Quattrocento Sans"/>
              </a:rPr>
              <a:t>Content Strategy</a:t>
            </a:r>
            <a:endParaRPr sz="1100"/>
          </a:p>
          <a:p>
            <a:pPr marL="228600" lvl="0" indent="-2222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Font typeface="Noto Sans Symbols"/>
              <a:buChar char="✔"/>
            </a:pPr>
            <a:r>
              <a:rPr lang="en" sz="900">
                <a:latin typeface="Quattrocento Sans"/>
                <a:ea typeface="Quattrocento Sans"/>
                <a:cs typeface="Quattrocento Sans"/>
                <a:sym typeface="Quattrocento Sans"/>
              </a:rPr>
              <a:t>Content Creation &amp; Optimization</a:t>
            </a:r>
            <a:endParaRPr sz="1100"/>
          </a:p>
          <a:p>
            <a:pPr marL="228600" lvl="0" indent="-2222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Font typeface="Noto Sans Symbols"/>
              <a:buChar char="✔"/>
            </a:pPr>
            <a:r>
              <a:rPr lang="en" sz="900">
                <a:latin typeface="Quattrocento Sans"/>
                <a:ea typeface="Quattrocento Sans"/>
                <a:cs typeface="Quattrocento Sans"/>
                <a:sym typeface="Quattrocento Sans"/>
              </a:rPr>
              <a:t>Content Distribution</a:t>
            </a:r>
            <a:endParaRPr sz="1100"/>
          </a:p>
          <a:p>
            <a:pPr marL="12700" lvl="0" indent="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None/>
            </a:pPr>
            <a:endParaRPr sz="1400" b="1">
              <a:solidFill>
                <a:srgbClr val="FFC000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  <a:p>
            <a:pPr marL="12700" lvl="0" indent="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None/>
            </a:pPr>
            <a:endParaRPr sz="1400">
              <a:solidFill>
                <a:srgbClr val="FFC000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230" name="Google Shape;230;p32"/>
          <p:cNvSpPr/>
          <p:nvPr/>
        </p:nvSpPr>
        <p:spPr>
          <a:xfrm>
            <a:off x="5686780" y="2243878"/>
            <a:ext cx="2297504" cy="161582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 b="1">
                <a:latin typeface="Quattrocento Sans"/>
                <a:ea typeface="Quattrocento Sans"/>
                <a:cs typeface="Quattrocento Sans"/>
                <a:sym typeface="Quattrocento Sans"/>
              </a:rPr>
              <a:t>Link Building Services </a:t>
            </a:r>
            <a:endParaRPr sz="1100"/>
          </a:p>
          <a:p>
            <a:pPr marL="228600" lvl="0" indent="-222250" algn="l" rtl="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900"/>
              <a:buFont typeface="Noto Sans Symbols"/>
              <a:buChar char="✔"/>
            </a:pPr>
            <a:r>
              <a:rPr lang="en" sz="900">
                <a:latin typeface="Quattrocento Sans"/>
                <a:ea typeface="Quattrocento Sans"/>
                <a:cs typeface="Quattrocento Sans"/>
                <a:sym typeface="Quattrocento Sans"/>
              </a:rPr>
              <a:t>Guest post Outreach</a:t>
            </a:r>
            <a:endParaRPr sz="1100"/>
          </a:p>
          <a:p>
            <a:pPr marL="228600" lvl="0" indent="-2222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Font typeface="Noto Sans Symbols"/>
              <a:buChar char="✔"/>
            </a:pPr>
            <a:r>
              <a:rPr lang="en" sz="900">
                <a:latin typeface="Quattrocento Sans"/>
                <a:ea typeface="Quattrocento Sans"/>
                <a:cs typeface="Quattrocento Sans"/>
                <a:sym typeface="Quattrocento Sans"/>
              </a:rPr>
              <a:t>High Value Premium Content Creation</a:t>
            </a:r>
            <a:endParaRPr sz="1100"/>
          </a:p>
          <a:p>
            <a:pPr marL="228600" lvl="0" indent="-2222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Font typeface="Noto Sans Symbols"/>
              <a:buChar char="✔"/>
            </a:pPr>
            <a:r>
              <a:rPr lang="en" sz="900">
                <a:latin typeface="Quattrocento Sans"/>
                <a:ea typeface="Quattrocento Sans"/>
                <a:cs typeface="Quattrocento Sans"/>
                <a:sym typeface="Quattrocento Sans"/>
              </a:rPr>
              <a:t>Digital PR</a:t>
            </a:r>
            <a:endParaRPr sz="1100"/>
          </a:p>
          <a:p>
            <a:pPr marL="228600" lvl="0" indent="-2222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Font typeface="Noto Sans Symbols"/>
              <a:buChar char="✔"/>
            </a:pPr>
            <a:r>
              <a:rPr lang="en" sz="900">
                <a:latin typeface="Quattrocento Sans"/>
                <a:ea typeface="Quattrocento Sans"/>
                <a:cs typeface="Quattrocento Sans"/>
                <a:sym typeface="Quattrocento Sans"/>
              </a:rPr>
              <a:t>DO-Follow links</a:t>
            </a:r>
            <a:endParaRPr sz="1100"/>
          </a:p>
          <a:p>
            <a:pPr marL="228600" lvl="0" indent="-1651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Font typeface="Noto Sans Symbols"/>
              <a:buNone/>
            </a:pPr>
            <a:endParaRPr sz="900">
              <a:latin typeface="Quattrocento Sans"/>
              <a:ea typeface="Quattrocento Sans"/>
              <a:cs typeface="Quattrocento Sans"/>
              <a:sym typeface="Quattrocento Sans"/>
            </a:endParaRPr>
          </a:p>
          <a:p>
            <a:pPr marL="228600" lvl="0" indent="-1270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Arial"/>
              <a:buNone/>
            </a:pPr>
            <a:endParaRPr sz="1400">
              <a:solidFill>
                <a:schemeClr val="lt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  <a:p>
            <a:pPr marL="12700" lvl="0" indent="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None/>
            </a:pPr>
            <a:endParaRPr sz="1400">
              <a:solidFill>
                <a:srgbClr val="FFC000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231" name="Google Shape;231;p32"/>
          <p:cNvSpPr/>
          <p:nvPr/>
        </p:nvSpPr>
        <p:spPr>
          <a:xfrm>
            <a:off x="94431" y="3220408"/>
            <a:ext cx="1638959" cy="16119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 b="1">
                <a:latin typeface="Quattrocento Sans"/>
                <a:ea typeface="Quattrocento Sans"/>
                <a:cs typeface="Quattrocento Sans"/>
                <a:sym typeface="Quattrocento Sans"/>
              </a:rPr>
              <a:t>Stellar Websites</a:t>
            </a:r>
            <a:endParaRPr sz="1400">
              <a:latin typeface="Quattrocento Sans"/>
              <a:ea typeface="Quattrocento Sans"/>
              <a:cs typeface="Quattrocento Sans"/>
              <a:sym typeface="Quattrocento Sans"/>
            </a:endParaRPr>
          </a:p>
          <a:p>
            <a:pPr marL="228600" lvl="0" indent="-222250" algn="l" rtl="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900"/>
              <a:buFont typeface="Noto Sans Symbols"/>
              <a:buChar char="✔"/>
            </a:pPr>
            <a:r>
              <a:rPr lang="en" sz="900">
                <a:latin typeface="Quattrocento Sans"/>
                <a:ea typeface="Quattrocento Sans"/>
                <a:cs typeface="Quattrocento Sans"/>
                <a:sym typeface="Quattrocento Sans"/>
              </a:rPr>
              <a:t>Design, Develop/Revamp</a:t>
            </a:r>
            <a:endParaRPr sz="1100"/>
          </a:p>
          <a:p>
            <a:pPr marL="228600" lvl="0" indent="-2222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Font typeface="Noto Sans Symbols"/>
              <a:buChar char="✔"/>
            </a:pPr>
            <a:r>
              <a:rPr lang="en" sz="900">
                <a:latin typeface="Quattrocento Sans"/>
                <a:ea typeface="Quattrocento Sans"/>
                <a:cs typeface="Quattrocento Sans"/>
                <a:sym typeface="Quattrocento Sans"/>
              </a:rPr>
              <a:t>Mobile and SEO Friendly</a:t>
            </a:r>
            <a:endParaRPr sz="1100"/>
          </a:p>
          <a:p>
            <a:pPr marL="228600" lvl="0" indent="-2222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Font typeface="Noto Sans Symbols"/>
              <a:buChar char="✔"/>
            </a:pPr>
            <a:r>
              <a:rPr lang="en" sz="900">
                <a:latin typeface="Quattrocento Sans"/>
                <a:ea typeface="Quattrocento Sans"/>
                <a:cs typeface="Quattrocento Sans"/>
                <a:sym typeface="Quattrocento Sans"/>
              </a:rPr>
              <a:t>CMS</a:t>
            </a:r>
            <a:endParaRPr sz="1100"/>
          </a:p>
          <a:p>
            <a:pPr marL="228600" lvl="0" indent="-2222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Font typeface="Noto Sans Symbols"/>
              <a:buChar char="✔"/>
            </a:pPr>
            <a:r>
              <a:rPr lang="en" sz="900">
                <a:latin typeface="Quattrocento Sans"/>
                <a:ea typeface="Quattrocento Sans"/>
                <a:cs typeface="Quattrocento Sans"/>
                <a:sym typeface="Quattrocento Sans"/>
              </a:rPr>
              <a:t>Website Maintenance</a:t>
            </a:r>
            <a:endParaRPr sz="1100"/>
          </a:p>
          <a:p>
            <a:pPr marL="12700" lvl="0" indent="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None/>
            </a:pPr>
            <a:endParaRPr sz="1400">
              <a:solidFill>
                <a:srgbClr val="FFC000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  <a:p>
            <a:pPr marL="12700" lvl="0" indent="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None/>
            </a:pPr>
            <a:endParaRPr sz="1400">
              <a:solidFill>
                <a:srgbClr val="FFC000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232" name="Google Shape;232;p32"/>
          <p:cNvSpPr/>
          <p:nvPr/>
        </p:nvSpPr>
        <p:spPr>
          <a:xfrm>
            <a:off x="5737803" y="3220409"/>
            <a:ext cx="1865367" cy="126957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 b="1">
                <a:latin typeface="Quattrocento Sans"/>
                <a:ea typeface="Quattrocento Sans"/>
                <a:cs typeface="Quattrocento Sans"/>
                <a:sym typeface="Quattrocento Sans"/>
              </a:rPr>
              <a:t>Designs and Videos</a:t>
            </a:r>
            <a:endParaRPr sz="1100"/>
          </a:p>
          <a:p>
            <a:pPr marL="228600" lvl="0" indent="-222250" algn="l" rtl="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900"/>
              <a:buFont typeface="Noto Sans Symbols"/>
              <a:buChar char="✔"/>
            </a:pPr>
            <a:r>
              <a:rPr lang="en" sz="900">
                <a:latin typeface="Quattrocento Sans"/>
                <a:ea typeface="Quattrocento Sans"/>
                <a:cs typeface="Quattrocento Sans"/>
                <a:sym typeface="Quattrocento Sans"/>
              </a:rPr>
              <a:t>Event Banner/Standee Design</a:t>
            </a:r>
            <a:endParaRPr sz="1100"/>
          </a:p>
          <a:p>
            <a:pPr marL="228600" lvl="0" indent="-2222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Font typeface="Noto Sans Symbols"/>
              <a:buChar char="✔"/>
            </a:pPr>
            <a:r>
              <a:rPr lang="en" sz="900">
                <a:latin typeface="Quattrocento Sans"/>
                <a:ea typeface="Quattrocento Sans"/>
                <a:cs typeface="Quattrocento Sans"/>
                <a:sym typeface="Quattrocento Sans"/>
              </a:rPr>
              <a:t>Video editing</a:t>
            </a:r>
            <a:endParaRPr sz="1100"/>
          </a:p>
          <a:p>
            <a:pPr marL="228600" lvl="0" indent="-2222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Font typeface="Noto Sans Symbols"/>
              <a:buChar char="✔"/>
            </a:pPr>
            <a:r>
              <a:rPr lang="en" sz="900">
                <a:latin typeface="Quattrocento Sans"/>
                <a:ea typeface="Quattrocento Sans"/>
                <a:cs typeface="Quattrocento Sans"/>
                <a:sym typeface="Quattrocento Sans"/>
              </a:rPr>
              <a:t>Brochure/Flyer Design</a:t>
            </a:r>
            <a:endParaRPr sz="1100"/>
          </a:p>
          <a:p>
            <a:pPr marL="228600" lvl="0" indent="-2222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Font typeface="Noto Sans Symbols"/>
              <a:buChar char="✔"/>
            </a:pPr>
            <a:r>
              <a:rPr lang="en" sz="900">
                <a:latin typeface="Quattrocento Sans"/>
                <a:ea typeface="Quattrocento Sans"/>
                <a:cs typeface="Quattrocento Sans"/>
                <a:sym typeface="Quattrocento Sans"/>
              </a:rPr>
              <a:t>Magazine/Newspaper Ads</a:t>
            </a:r>
            <a:endParaRPr sz="1100"/>
          </a:p>
          <a:p>
            <a:pPr marL="12700" lvl="0" indent="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None/>
            </a:pPr>
            <a:endParaRPr sz="1400">
              <a:solidFill>
                <a:srgbClr val="FFC000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233" name="Google Shape;233;p32"/>
          <p:cNvSpPr/>
          <p:nvPr/>
        </p:nvSpPr>
        <p:spPr>
          <a:xfrm>
            <a:off x="289198" y="2097919"/>
            <a:ext cx="445325" cy="34289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chemeClr val="lt1"/>
              </a:solidFill>
            </a:endParaRPr>
          </a:p>
        </p:txBody>
      </p:sp>
      <p:sp>
        <p:nvSpPr>
          <p:cNvPr id="234" name="Google Shape;234;p32"/>
          <p:cNvSpPr/>
          <p:nvPr/>
        </p:nvSpPr>
        <p:spPr>
          <a:xfrm>
            <a:off x="280292" y="3122918"/>
            <a:ext cx="445325" cy="34289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chemeClr val="lt1"/>
              </a:solidFill>
            </a:endParaRPr>
          </a:p>
        </p:txBody>
      </p:sp>
      <p:sp>
        <p:nvSpPr>
          <p:cNvPr id="235" name="Google Shape;235;p32"/>
          <p:cNvSpPr/>
          <p:nvPr/>
        </p:nvSpPr>
        <p:spPr>
          <a:xfrm>
            <a:off x="289198" y="4127867"/>
            <a:ext cx="445325" cy="34289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chemeClr val="lt1"/>
              </a:solidFill>
            </a:endParaRPr>
          </a:p>
        </p:txBody>
      </p:sp>
      <p:sp>
        <p:nvSpPr>
          <p:cNvPr id="236" name="Google Shape;236;p32"/>
          <p:cNvSpPr/>
          <p:nvPr/>
        </p:nvSpPr>
        <p:spPr>
          <a:xfrm>
            <a:off x="5882138" y="4135437"/>
            <a:ext cx="445325" cy="34289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chemeClr val="lt1"/>
              </a:solidFill>
            </a:endParaRPr>
          </a:p>
        </p:txBody>
      </p:sp>
      <p:sp>
        <p:nvSpPr>
          <p:cNvPr id="237" name="Google Shape;237;p32"/>
          <p:cNvSpPr/>
          <p:nvPr/>
        </p:nvSpPr>
        <p:spPr>
          <a:xfrm>
            <a:off x="5864325" y="3140062"/>
            <a:ext cx="445325" cy="34289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chemeClr val="lt1"/>
              </a:solidFill>
            </a:endParaRPr>
          </a:p>
        </p:txBody>
      </p:sp>
      <p:sp>
        <p:nvSpPr>
          <p:cNvPr id="238" name="Google Shape;238;p32"/>
          <p:cNvSpPr/>
          <p:nvPr/>
        </p:nvSpPr>
        <p:spPr>
          <a:xfrm>
            <a:off x="5819454" y="2141149"/>
            <a:ext cx="445325" cy="34289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chemeClr val="lt1"/>
              </a:solidFill>
            </a:endParaRPr>
          </a:p>
        </p:txBody>
      </p:sp>
      <p:sp>
        <p:nvSpPr>
          <p:cNvPr id="239" name="Google Shape;239;p32"/>
          <p:cNvSpPr/>
          <p:nvPr/>
        </p:nvSpPr>
        <p:spPr>
          <a:xfrm>
            <a:off x="2066532" y="3623378"/>
            <a:ext cx="95134" cy="95134"/>
          </a:xfrm>
          <a:prstGeom prst="ellipse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chemeClr val="lt1"/>
              </a:solidFill>
            </a:endParaRPr>
          </a:p>
        </p:txBody>
      </p:sp>
      <p:sp>
        <p:nvSpPr>
          <p:cNvPr id="240" name="Google Shape;240;p32"/>
          <p:cNvSpPr/>
          <p:nvPr/>
        </p:nvSpPr>
        <p:spPr>
          <a:xfrm>
            <a:off x="8406097" y="597627"/>
            <a:ext cx="751934" cy="3987290"/>
          </a:xfrm>
          <a:prstGeom prst="rect">
            <a:avLst/>
          </a:prstGeom>
          <a:solidFill>
            <a:srgbClr val="FFC000"/>
          </a:solidFill>
          <a:ln>
            <a:noFill/>
          </a:ln>
          <a:effectLst>
            <a:outerShdw blurRad="50800" dist="38100" dir="13500000" algn="br" rotWithShape="0">
              <a:srgbClr val="000000">
                <a:alpha val="40000"/>
              </a:srgbClr>
            </a:outerShdw>
          </a:effectLst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chemeClr val="lt1"/>
              </a:solidFill>
            </a:endParaRPr>
          </a:p>
        </p:txBody>
      </p:sp>
      <p:pic>
        <p:nvPicPr>
          <p:cNvPr id="241" name="Google Shape;241;p32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8664518" y="703760"/>
            <a:ext cx="237850" cy="237850"/>
          </a:xfrm>
          <a:prstGeom prst="rect">
            <a:avLst/>
          </a:prstGeom>
          <a:noFill/>
          <a:ln>
            <a:noFill/>
          </a:ln>
        </p:spPr>
      </p:pic>
      <p:sp>
        <p:nvSpPr>
          <p:cNvPr id="242" name="Google Shape;242;p32"/>
          <p:cNvSpPr txBox="1"/>
          <p:nvPr/>
        </p:nvSpPr>
        <p:spPr>
          <a:xfrm>
            <a:off x="8567297" y="991466"/>
            <a:ext cx="460570" cy="1731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700" b="1"/>
              <a:t>BFSI</a:t>
            </a:r>
            <a:endParaRPr sz="1100"/>
          </a:p>
        </p:txBody>
      </p:sp>
      <p:cxnSp>
        <p:nvCxnSpPr>
          <p:cNvPr id="243" name="Google Shape;243;p32"/>
          <p:cNvCxnSpPr/>
          <p:nvPr/>
        </p:nvCxnSpPr>
        <p:spPr>
          <a:xfrm>
            <a:off x="8558378" y="1210446"/>
            <a:ext cx="468055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pic>
        <p:nvPicPr>
          <p:cNvPr id="244" name="Google Shape;244;p32"/>
          <p:cNvPicPr preferRelativeResize="0"/>
          <p:nvPr/>
        </p:nvPicPr>
        <p:blipFill rotWithShape="1">
          <a:blip r:embed="rId10">
            <a:alphaModFix/>
          </a:blip>
          <a:srcRect/>
          <a:stretch/>
        </p:blipFill>
        <p:spPr>
          <a:xfrm>
            <a:off x="8655985" y="1265687"/>
            <a:ext cx="275775" cy="275775"/>
          </a:xfrm>
          <a:prstGeom prst="rect">
            <a:avLst/>
          </a:prstGeom>
          <a:noFill/>
          <a:ln>
            <a:noFill/>
          </a:ln>
        </p:spPr>
      </p:pic>
      <p:sp>
        <p:nvSpPr>
          <p:cNvPr id="245" name="Google Shape;245;p32"/>
          <p:cNvSpPr txBox="1"/>
          <p:nvPr/>
        </p:nvSpPr>
        <p:spPr>
          <a:xfrm>
            <a:off x="8493095" y="1515195"/>
            <a:ext cx="611236" cy="1731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700" b="1"/>
              <a:t>Health</a:t>
            </a:r>
            <a:endParaRPr sz="1100"/>
          </a:p>
        </p:txBody>
      </p:sp>
      <p:pic>
        <p:nvPicPr>
          <p:cNvPr id="246" name="Google Shape;246;p32"/>
          <p:cNvPicPr preferRelativeResize="0"/>
          <p:nvPr/>
        </p:nvPicPr>
        <p:blipFill rotWithShape="1">
          <a:blip r:embed="rId11">
            <a:alphaModFix/>
          </a:blip>
          <a:srcRect/>
          <a:stretch/>
        </p:blipFill>
        <p:spPr>
          <a:xfrm>
            <a:off x="8656982" y="1740530"/>
            <a:ext cx="294372" cy="294372"/>
          </a:xfrm>
          <a:prstGeom prst="rect">
            <a:avLst/>
          </a:prstGeom>
          <a:noFill/>
          <a:ln>
            <a:noFill/>
          </a:ln>
        </p:spPr>
      </p:pic>
      <p:sp>
        <p:nvSpPr>
          <p:cNvPr id="247" name="Google Shape;247;p32"/>
          <p:cNvSpPr txBox="1"/>
          <p:nvPr/>
        </p:nvSpPr>
        <p:spPr>
          <a:xfrm>
            <a:off x="8415518" y="2008927"/>
            <a:ext cx="786428" cy="1731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700" b="1"/>
              <a:t>Ed-Tech</a:t>
            </a:r>
            <a:endParaRPr sz="1100"/>
          </a:p>
        </p:txBody>
      </p:sp>
      <p:pic>
        <p:nvPicPr>
          <p:cNvPr id="248" name="Google Shape;248;p32"/>
          <p:cNvPicPr preferRelativeResize="0"/>
          <p:nvPr/>
        </p:nvPicPr>
        <p:blipFill rotWithShape="1">
          <a:blip r:embed="rId12">
            <a:alphaModFix/>
          </a:blip>
          <a:srcRect/>
          <a:stretch/>
        </p:blipFill>
        <p:spPr>
          <a:xfrm>
            <a:off x="8642882" y="2278785"/>
            <a:ext cx="308472" cy="308472"/>
          </a:xfrm>
          <a:prstGeom prst="rect">
            <a:avLst/>
          </a:prstGeom>
          <a:noFill/>
          <a:ln>
            <a:noFill/>
          </a:ln>
        </p:spPr>
      </p:pic>
      <p:sp>
        <p:nvSpPr>
          <p:cNvPr id="249" name="Google Shape;249;p32"/>
          <p:cNvSpPr txBox="1"/>
          <p:nvPr/>
        </p:nvSpPr>
        <p:spPr>
          <a:xfrm>
            <a:off x="8410954" y="2557876"/>
            <a:ext cx="786428" cy="1731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700" b="1"/>
              <a:t>Travel</a:t>
            </a:r>
            <a:endParaRPr sz="1100"/>
          </a:p>
        </p:txBody>
      </p:sp>
      <p:pic>
        <p:nvPicPr>
          <p:cNvPr id="250" name="Google Shape;250;p32"/>
          <p:cNvPicPr preferRelativeResize="0"/>
          <p:nvPr/>
        </p:nvPicPr>
        <p:blipFill rotWithShape="1">
          <a:blip r:embed="rId13">
            <a:alphaModFix/>
          </a:blip>
          <a:srcRect/>
          <a:stretch/>
        </p:blipFill>
        <p:spPr>
          <a:xfrm>
            <a:off x="8664518" y="2829154"/>
            <a:ext cx="301057" cy="301058"/>
          </a:xfrm>
          <a:prstGeom prst="rect">
            <a:avLst/>
          </a:prstGeom>
          <a:noFill/>
          <a:ln>
            <a:noFill/>
          </a:ln>
        </p:spPr>
      </p:pic>
      <p:sp>
        <p:nvSpPr>
          <p:cNvPr id="251" name="Google Shape;251;p32"/>
          <p:cNvSpPr txBox="1"/>
          <p:nvPr/>
        </p:nvSpPr>
        <p:spPr>
          <a:xfrm>
            <a:off x="8337516" y="3091022"/>
            <a:ext cx="950498" cy="1731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700" b="1"/>
              <a:t> Lifestyle</a:t>
            </a:r>
            <a:endParaRPr sz="1100"/>
          </a:p>
        </p:txBody>
      </p:sp>
      <p:pic>
        <p:nvPicPr>
          <p:cNvPr id="252" name="Google Shape;252;p32"/>
          <p:cNvPicPr preferRelativeResize="0"/>
          <p:nvPr/>
        </p:nvPicPr>
        <p:blipFill rotWithShape="1">
          <a:blip r:embed="rId14">
            <a:alphaModFix/>
          </a:blip>
          <a:srcRect/>
          <a:stretch/>
        </p:blipFill>
        <p:spPr>
          <a:xfrm>
            <a:off x="8668373" y="3382670"/>
            <a:ext cx="263386" cy="263386"/>
          </a:xfrm>
          <a:prstGeom prst="rect">
            <a:avLst/>
          </a:prstGeom>
          <a:noFill/>
          <a:ln>
            <a:noFill/>
          </a:ln>
        </p:spPr>
      </p:pic>
      <p:sp>
        <p:nvSpPr>
          <p:cNvPr id="253" name="Google Shape;253;p32"/>
          <p:cNvSpPr txBox="1"/>
          <p:nvPr/>
        </p:nvSpPr>
        <p:spPr>
          <a:xfrm>
            <a:off x="8321930" y="3633998"/>
            <a:ext cx="950498" cy="1731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700" b="1"/>
              <a:t>Technology </a:t>
            </a:r>
            <a:endParaRPr sz="1100"/>
          </a:p>
        </p:txBody>
      </p:sp>
      <p:pic>
        <p:nvPicPr>
          <p:cNvPr id="254" name="Google Shape;254;p32"/>
          <p:cNvPicPr preferRelativeResize="0"/>
          <p:nvPr/>
        </p:nvPicPr>
        <p:blipFill rotWithShape="1">
          <a:blip r:embed="rId15">
            <a:alphaModFix/>
          </a:blip>
          <a:srcRect/>
          <a:stretch/>
        </p:blipFill>
        <p:spPr>
          <a:xfrm>
            <a:off x="8672541" y="3913038"/>
            <a:ext cx="285311" cy="285311"/>
          </a:xfrm>
          <a:prstGeom prst="rect">
            <a:avLst/>
          </a:prstGeom>
          <a:noFill/>
          <a:ln>
            <a:noFill/>
          </a:ln>
        </p:spPr>
      </p:pic>
      <p:sp>
        <p:nvSpPr>
          <p:cNvPr id="255" name="Google Shape;255;p32"/>
          <p:cNvSpPr txBox="1"/>
          <p:nvPr/>
        </p:nvSpPr>
        <p:spPr>
          <a:xfrm>
            <a:off x="8397395" y="4235960"/>
            <a:ext cx="790019" cy="1731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700" b="1"/>
              <a:t>Manufacturing</a:t>
            </a:r>
            <a:endParaRPr sz="1100"/>
          </a:p>
        </p:txBody>
      </p:sp>
      <p:cxnSp>
        <p:nvCxnSpPr>
          <p:cNvPr id="256" name="Google Shape;256;p32"/>
          <p:cNvCxnSpPr/>
          <p:nvPr/>
        </p:nvCxnSpPr>
        <p:spPr>
          <a:xfrm>
            <a:off x="8564909" y="1736231"/>
            <a:ext cx="468055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257" name="Google Shape;257;p32"/>
          <p:cNvCxnSpPr/>
          <p:nvPr/>
        </p:nvCxnSpPr>
        <p:spPr>
          <a:xfrm>
            <a:off x="8561675" y="2241176"/>
            <a:ext cx="468055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258" name="Google Shape;258;p32"/>
          <p:cNvCxnSpPr/>
          <p:nvPr/>
        </p:nvCxnSpPr>
        <p:spPr>
          <a:xfrm>
            <a:off x="8569087" y="2788709"/>
            <a:ext cx="468055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259" name="Google Shape;259;p32"/>
          <p:cNvCxnSpPr/>
          <p:nvPr/>
        </p:nvCxnSpPr>
        <p:spPr>
          <a:xfrm>
            <a:off x="8570141" y="3354767"/>
            <a:ext cx="468055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260" name="Google Shape;260;p32"/>
          <p:cNvCxnSpPr/>
          <p:nvPr/>
        </p:nvCxnSpPr>
        <p:spPr>
          <a:xfrm>
            <a:off x="8564908" y="3865122"/>
            <a:ext cx="468055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5" name="Google Shape;265;p33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921893" y="1583549"/>
            <a:ext cx="1616851" cy="1616851"/>
          </a:xfrm>
          <a:prstGeom prst="rect">
            <a:avLst/>
          </a:prstGeom>
          <a:noFill/>
          <a:ln>
            <a:noFill/>
          </a:ln>
        </p:spPr>
      </p:pic>
      <p:sp>
        <p:nvSpPr>
          <p:cNvPr id="266" name="Google Shape;266;p33"/>
          <p:cNvSpPr txBox="1"/>
          <p:nvPr/>
        </p:nvSpPr>
        <p:spPr>
          <a:xfrm>
            <a:off x="477317" y="271776"/>
            <a:ext cx="8974148" cy="61310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C000"/>
              </a:buClr>
              <a:buSzPts val="2700"/>
              <a:buFont typeface="Cambria"/>
              <a:buNone/>
            </a:pPr>
            <a:r>
              <a:rPr lang="en" sz="2700" b="1" i="0" u="none" strike="noStrike" cap="none">
                <a:solidFill>
                  <a:srgbClr val="FFC000"/>
                </a:solidFill>
                <a:latin typeface="Cambria"/>
                <a:ea typeface="Cambria"/>
                <a:cs typeface="Cambria"/>
                <a:sym typeface="Cambria"/>
              </a:rPr>
              <a:t>Some of Our Esteemed Clients:  Others</a:t>
            </a:r>
            <a:endParaRPr sz="1100"/>
          </a:p>
        </p:txBody>
      </p:sp>
      <p:pic>
        <p:nvPicPr>
          <p:cNvPr id="267" name="Google Shape;267;p33" descr="A black text on a white background&#10;&#10;Description automatically generated with low confidence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764325" y="3026075"/>
            <a:ext cx="923809" cy="523810"/>
          </a:xfrm>
          <a:prstGeom prst="rect">
            <a:avLst/>
          </a:prstGeom>
          <a:noFill/>
          <a:ln>
            <a:noFill/>
          </a:ln>
        </p:spPr>
      </p:pic>
      <p:pic>
        <p:nvPicPr>
          <p:cNvPr id="268" name="Google Shape;268;p33" descr="A picture containing graphics, colorfulness, design&#10;&#10;Description automatically generated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342900" y="2952831"/>
            <a:ext cx="866667" cy="647619"/>
          </a:xfrm>
          <a:prstGeom prst="rect">
            <a:avLst/>
          </a:prstGeom>
          <a:noFill/>
          <a:ln>
            <a:noFill/>
          </a:ln>
        </p:spPr>
      </p:pic>
      <p:pic>
        <p:nvPicPr>
          <p:cNvPr id="269" name="Google Shape;269;p33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5553242" y="1160228"/>
            <a:ext cx="1754600" cy="4537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70" name="Google Shape;270;p33" descr="A red and blue logo&#10;&#10;Description automatically generated with low confidence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338640" y="3994567"/>
            <a:ext cx="1123810" cy="485714"/>
          </a:xfrm>
          <a:prstGeom prst="rect">
            <a:avLst/>
          </a:prstGeom>
          <a:noFill/>
          <a:ln>
            <a:noFill/>
          </a:ln>
        </p:spPr>
      </p:pic>
      <p:pic>
        <p:nvPicPr>
          <p:cNvPr id="271" name="Google Shape;271;p33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7289519" y="3026075"/>
            <a:ext cx="1469443" cy="546488"/>
          </a:xfrm>
          <a:prstGeom prst="rect">
            <a:avLst/>
          </a:prstGeom>
          <a:noFill/>
          <a:ln>
            <a:noFill/>
          </a:ln>
        </p:spPr>
      </p:pic>
      <p:pic>
        <p:nvPicPr>
          <p:cNvPr id="272" name="Google Shape;272;p33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282511" y="1201402"/>
            <a:ext cx="1133333" cy="371429"/>
          </a:xfrm>
          <a:prstGeom prst="rect">
            <a:avLst/>
          </a:prstGeom>
          <a:noFill/>
          <a:ln>
            <a:noFill/>
          </a:ln>
        </p:spPr>
      </p:pic>
      <p:pic>
        <p:nvPicPr>
          <p:cNvPr id="273" name="Google Shape;273;p33"/>
          <p:cNvPicPr preferRelativeResize="0"/>
          <p:nvPr/>
        </p:nvPicPr>
        <p:blipFill rotWithShape="1">
          <a:blip r:embed="rId10">
            <a:alphaModFix/>
          </a:blip>
          <a:srcRect/>
          <a:stretch/>
        </p:blipFill>
        <p:spPr>
          <a:xfrm>
            <a:off x="338131" y="2190027"/>
            <a:ext cx="1712496" cy="399999"/>
          </a:xfrm>
          <a:prstGeom prst="rect">
            <a:avLst/>
          </a:prstGeom>
          <a:noFill/>
          <a:ln>
            <a:noFill/>
          </a:ln>
        </p:spPr>
      </p:pic>
      <p:pic>
        <p:nvPicPr>
          <p:cNvPr id="274" name="Google Shape;274;p33" descr="A picture containing black, darkness&#10;&#10;Description automatically generated"/>
          <p:cNvPicPr preferRelativeResize="0"/>
          <p:nvPr/>
        </p:nvPicPr>
        <p:blipFill rotWithShape="1">
          <a:blip r:embed="rId11">
            <a:alphaModFix/>
          </a:blip>
          <a:srcRect/>
          <a:stretch/>
        </p:blipFill>
        <p:spPr>
          <a:xfrm>
            <a:off x="1907188" y="1072831"/>
            <a:ext cx="609524" cy="628571"/>
          </a:xfrm>
          <a:prstGeom prst="rect">
            <a:avLst/>
          </a:prstGeom>
          <a:noFill/>
          <a:ln>
            <a:noFill/>
          </a:ln>
        </p:spPr>
      </p:pic>
      <p:pic>
        <p:nvPicPr>
          <p:cNvPr id="275" name="Google Shape;275;p33"/>
          <p:cNvPicPr preferRelativeResize="0"/>
          <p:nvPr/>
        </p:nvPicPr>
        <p:blipFill rotWithShape="1">
          <a:blip r:embed="rId12">
            <a:alphaModFix/>
          </a:blip>
          <a:srcRect/>
          <a:stretch/>
        </p:blipFill>
        <p:spPr>
          <a:xfrm>
            <a:off x="2852999" y="1342007"/>
            <a:ext cx="2348618" cy="195718"/>
          </a:xfrm>
          <a:prstGeom prst="rect">
            <a:avLst/>
          </a:prstGeom>
          <a:noFill/>
          <a:ln>
            <a:noFill/>
          </a:ln>
        </p:spPr>
      </p:pic>
      <p:pic>
        <p:nvPicPr>
          <p:cNvPr id="276" name="Google Shape;276;p33"/>
          <p:cNvPicPr preferRelativeResize="0"/>
          <p:nvPr/>
        </p:nvPicPr>
        <p:blipFill rotWithShape="1">
          <a:blip r:embed="rId13">
            <a:alphaModFix/>
          </a:blip>
          <a:srcRect/>
          <a:stretch/>
        </p:blipFill>
        <p:spPr>
          <a:xfrm>
            <a:off x="5059743" y="3115910"/>
            <a:ext cx="2030080" cy="340617"/>
          </a:xfrm>
          <a:prstGeom prst="rect">
            <a:avLst/>
          </a:prstGeom>
          <a:noFill/>
          <a:ln>
            <a:noFill/>
          </a:ln>
        </p:spPr>
      </p:pic>
      <p:pic>
        <p:nvPicPr>
          <p:cNvPr id="277" name="Google Shape;277;p33"/>
          <p:cNvPicPr preferRelativeResize="0"/>
          <p:nvPr/>
        </p:nvPicPr>
        <p:blipFill rotWithShape="1">
          <a:blip r:embed="rId14">
            <a:alphaModFix/>
          </a:blip>
          <a:srcRect/>
          <a:stretch/>
        </p:blipFill>
        <p:spPr>
          <a:xfrm>
            <a:off x="1804596" y="3903761"/>
            <a:ext cx="1604654" cy="668239"/>
          </a:xfrm>
          <a:prstGeom prst="rect">
            <a:avLst/>
          </a:prstGeom>
          <a:noFill/>
          <a:ln>
            <a:noFill/>
          </a:ln>
        </p:spPr>
      </p:pic>
      <p:pic>
        <p:nvPicPr>
          <p:cNvPr id="278" name="Google Shape;278;p33"/>
          <p:cNvPicPr preferRelativeResize="0"/>
          <p:nvPr/>
        </p:nvPicPr>
        <p:blipFill rotWithShape="1">
          <a:blip r:embed="rId15">
            <a:alphaModFix/>
          </a:blip>
          <a:srcRect/>
          <a:stretch/>
        </p:blipFill>
        <p:spPr>
          <a:xfrm>
            <a:off x="3825797" y="4016424"/>
            <a:ext cx="2114550" cy="442913"/>
          </a:xfrm>
          <a:prstGeom prst="rect">
            <a:avLst/>
          </a:prstGeom>
          <a:noFill/>
          <a:ln>
            <a:noFill/>
          </a:ln>
        </p:spPr>
      </p:pic>
      <p:pic>
        <p:nvPicPr>
          <p:cNvPr id="279" name="Google Shape;279;p33"/>
          <p:cNvPicPr preferRelativeResize="0"/>
          <p:nvPr/>
        </p:nvPicPr>
        <p:blipFill rotWithShape="1">
          <a:blip r:embed="rId16">
            <a:alphaModFix/>
          </a:blip>
          <a:srcRect/>
          <a:stretch/>
        </p:blipFill>
        <p:spPr>
          <a:xfrm>
            <a:off x="6415655" y="3940851"/>
            <a:ext cx="2328295" cy="518486"/>
          </a:xfrm>
          <a:prstGeom prst="rect">
            <a:avLst/>
          </a:prstGeom>
          <a:noFill/>
          <a:ln>
            <a:noFill/>
          </a:ln>
        </p:spPr>
      </p:pic>
      <p:pic>
        <p:nvPicPr>
          <p:cNvPr id="280" name="Google Shape;280;p33"/>
          <p:cNvPicPr preferRelativeResize="0"/>
          <p:nvPr/>
        </p:nvPicPr>
        <p:blipFill rotWithShape="1">
          <a:blip r:embed="rId17">
            <a:alphaModFix/>
          </a:blip>
          <a:srcRect/>
          <a:stretch/>
        </p:blipFill>
        <p:spPr>
          <a:xfrm>
            <a:off x="7533197" y="831131"/>
            <a:ext cx="1667953" cy="1111969"/>
          </a:xfrm>
          <a:prstGeom prst="rect">
            <a:avLst/>
          </a:prstGeom>
          <a:noFill/>
          <a:ln>
            <a:noFill/>
          </a:ln>
        </p:spPr>
      </p:pic>
      <p:pic>
        <p:nvPicPr>
          <p:cNvPr id="281" name="Google Shape;281;p33"/>
          <p:cNvPicPr preferRelativeResize="0"/>
          <p:nvPr/>
        </p:nvPicPr>
        <p:blipFill rotWithShape="1">
          <a:blip r:embed="rId18">
            <a:alphaModFix/>
          </a:blip>
          <a:srcRect/>
          <a:stretch/>
        </p:blipFill>
        <p:spPr>
          <a:xfrm>
            <a:off x="7909090" y="1956102"/>
            <a:ext cx="892010" cy="866279"/>
          </a:xfrm>
          <a:prstGeom prst="rect">
            <a:avLst/>
          </a:prstGeom>
          <a:noFill/>
          <a:ln>
            <a:noFill/>
          </a:ln>
        </p:spPr>
      </p:pic>
      <p:pic>
        <p:nvPicPr>
          <p:cNvPr id="282" name="Google Shape;282;p33"/>
          <p:cNvPicPr preferRelativeResize="0"/>
          <p:nvPr/>
        </p:nvPicPr>
        <p:blipFill rotWithShape="1">
          <a:blip r:embed="rId19">
            <a:alphaModFix/>
          </a:blip>
          <a:srcRect/>
          <a:stretch/>
        </p:blipFill>
        <p:spPr>
          <a:xfrm>
            <a:off x="2373857" y="1940323"/>
            <a:ext cx="1069522" cy="779860"/>
          </a:xfrm>
          <a:prstGeom prst="rect">
            <a:avLst/>
          </a:prstGeom>
          <a:noFill/>
          <a:ln>
            <a:noFill/>
          </a:ln>
        </p:spPr>
      </p:pic>
      <p:pic>
        <p:nvPicPr>
          <p:cNvPr id="283" name="Google Shape;283;p33"/>
          <p:cNvPicPr preferRelativeResize="0"/>
          <p:nvPr/>
        </p:nvPicPr>
        <p:blipFill rotWithShape="1">
          <a:blip r:embed="rId20">
            <a:alphaModFix/>
          </a:blip>
          <a:srcRect/>
          <a:stretch/>
        </p:blipFill>
        <p:spPr>
          <a:xfrm>
            <a:off x="6052220" y="2106819"/>
            <a:ext cx="1321634" cy="566414"/>
          </a:xfrm>
          <a:prstGeom prst="rect">
            <a:avLst/>
          </a:prstGeom>
          <a:noFill/>
          <a:ln>
            <a:noFill/>
          </a:ln>
        </p:spPr>
      </p:pic>
      <p:pic>
        <p:nvPicPr>
          <p:cNvPr id="284" name="Google Shape;284;p33"/>
          <p:cNvPicPr preferRelativeResize="0"/>
          <p:nvPr/>
        </p:nvPicPr>
        <p:blipFill rotWithShape="1">
          <a:blip r:embed="rId21">
            <a:alphaModFix/>
          </a:blip>
          <a:srcRect/>
          <a:stretch/>
        </p:blipFill>
        <p:spPr>
          <a:xfrm>
            <a:off x="3168706" y="3060394"/>
            <a:ext cx="1541055" cy="49060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9" name="Google Shape;289;p34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243108" y="3598049"/>
            <a:ext cx="406577" cy="406577"/>
          </a:xfrm>
          <a:prstGeom prst="rect">
            <a:avLst/>
          </a:prstGeom>
          <a:noFill/>
          <a:ln>
            <a:noFill/>
          </a:ln>
        </p:spPr>
      </p:pic>
      <p:pic>
        <p:nvPicPr>
          <p:cNvPr id="290" name="Google Shape;290;p34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 rot="10800000">
            <a:off x="203806" y="876365"/>
            <a:ext cx="349460" cy="349460"/>
          </a:xfrm>
          <a:prstGeom prst="rect">
            <a:avLst/>
          </a:prstGeom>
          <a:noFill/>
          <a:ln>
            <a:noFill/>
          </a:ln>
        </p:spPr>
      </p:pic>
      <p:sp>
        <p:nvSpPr>
          <p:cNvPr id="291" name="Google Shape;291;p34"/>
          <p:cNvSpPr txBox="1"/>
          <p:nvPr/>
        </p:nvSpPr>
        <p:spPr>
          <a:xfrm>
            <a:off x="231877" y="1345538"/>
            <a:ext cx="2458769" cy="30931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Cambria"/>
              <a:buNone/>
            </a:pPr>
            <a:r>
              <a:rPr lang="en" sz="1400" i="0" u="none" strike="noStrike" cap="none">
                <a:solidFill>
                  <a:srgbClr val="000000"/>
                </a:solidFill>
                <a:latin typeface="Cambria"/>
                <a:ea typeface="Cambria"/>
                <a:cs typeface="Cambria"/>
                <a:sym typeface="Cambria"/>
              </a:rPr>
              <a:t>Thanks to Justwords, the client’s web traffic grew ten times in terms of social presence. The partnership also led to a five times increase in traffic, and three times more leads. The team maintained a collaborative and smooth workflow. They went above and beyond to deliver for the client.</a:t>
            </a:r>
            <a:endParaRPr sz="1100"/>
          </a:p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Cambria"/>
              <a:ea typeface="Cambria"/>
              <a:cs typeface="Cambria"/>
              <a:sym typeface="Cambria"/>
            </a:endParaRPr>
          </a:p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Cambria"/>
              <a:ea typeface="Cambria"/>
              <a:cs typeface="Cambria"/>
              <a:sym typeface="Cambria"/>
            </a:endParaRPr>
          </a:p>
          <a:p>
            <a:pPr marL="215900" marR="0" lvl="0" indent="-21590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Cambria"/>
              <a:buChar char="-"/>
            </a:pPr>
            <a:r>
              <a:rPr lang="en" sz="1400" b="1" i="0" u="none" strike="noStrike" cap="none">
                <a:solidFill>
                  <a:srgbClr val="000000"/>
                </a:solidFill>
                <a:latin typeface="Cambria"/>
                <a:ea typeface="Cambria"/>
                <a:cs typeface="Cambria"/>
                <a:sym typeface="Cambria"/>
              </a:rPr>
              <a:t>Genus Innovations</a:t>
            </a:r>
            <a:endParaRPr sz="1100"/>
          </a:p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Cambria"/>
              <a:buNone/>
            </a:pPr>
            <a:r>
              <a:rPr lang="en" sz="1100" b="0" i="0" u="none" strike="noStrike" cap="none">
                <a:solidFill>
                  <a:srgbClr val="000000"/>
                </a:solidFill>
                <a:latin typeface="Cambria"/>
                <a:ea typeface="Cambria"/>
                <a:cs typeface="Cambria"/>
                <a:sym typeface="Cambria"/>
              </a:rPr>
              <a:t>(managed their 360° Digital Marketing campaign)</a:t>
            </a:r>
            <a:endParaRPr sz="1100" b="0" i="0" u="none" strike="noStrike" cap="none">
              <a:solidFill>
                <a:srgbClr val="000000"/>
              </a:solidFill>
              <a:latin typeface="Cambria"/>
              <a:ea typeface="Cambria"/>
              <a:cs typeface="Cambria"/>
              <a:sym typeface="Cambria"/>
            </a:endParaRPr>
          </a:p>
        </p:txBody>
      </p:sp>
      <p:pic>
        <p:nvPicPr>
          <p:cNvPr id="292" name="Google Shape;292;p34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 rot="10800000">
            <a:off x="3064065" y="883923"/>
            <a:ext cx="349460" cy="349460"/>
          </a:xfrm>
          <a:prstGeom prst="rect">
            <a:avLst/>
          </a:prstGeom>
          <a:noFill/>
          <a:ln>
            <a:noFill/>
          </a:ln>
        </p:spPr>
      </p:pic>
      <p:sp>
        <p:nvSpPr>
          <p:cNvPr id="293" name="Google Shape;293;p34"/>
          <p:cNvSpPr txBox="1"/>
          <p:nvPr/>
        </p:nvSpPr>
        <p:spPr>
          <a:xfrm>
            <a:off x="6264593" y="1217198"/>
            <a:ext cx="2606842" cy="38087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Cambria"/>
              <a:buNone/>
            </a:pPr>
            <a:r>
              <a:rPr lang="en" sz="1400" b="0" i="0" u="none" strike="noStrike" cap="none">
                <a:solidFill>
                  <a:srgbClr val="000000"/>
                </a:solidFill>
                <a:latin typeface="Cambria"/>
                <a:ea typeface="Cambria"/>
                <a:cs typeface="Cambria"/>
                <a:sym typeface="Cambria"/>
              </a:rPr>
              <a:t>We have been associated with Justwords for some time now. Over this time, they have built a deep understanding about our brand and value proposition. Their content marketing work for us has been effective and they actually deliver on the talk. The team is pro-active and delivers high quality work within the timelines - so yes, happy with their work and would definitely recommend!</a:t>
            </a:r>
            <a:endParaRPr sz="1100"/>
          </a:p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Cambria"/>
              <a:ea typeface="Cambria"/>
              <a:cs typeface="Cambria"/>
              <a:sym typeface="Cambria"/>
            </a:endParaRPr>
          </a:p>
          <a:p>
            <a:pPr marL="215900" marR="0" lvl="0" indent="-21590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Cambria"/>
              <a:buChar char="-"/>
            </a:pPr>
            <a:r>
              <a:rPr lang="en" sz="1400" b="1" i="0" u="none" strike="noStrike" cap="none">
                <a:solidFill>
                  <a:srgbClr val="000000"/>
                </a:solidFill>
                <a:latin typeface="Cambria"/>
                <a:ea typeface="Cambria"/>
                <a:cs typeface="Cambria"/>
                <a:sym typeface="Cambria"/>
              </a:rPr>
              <a:t>HERO FINCORP</a:t>
            </a:r>
            <a:endParaRPr sz="1100"/>
          </a:p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Cambria"/>
              <a:buNone/>
            </a:pPr>
            <a:r>
              <a:rPr lang="en" sz="1100" b="0" i="0" u="none" strike="noStrike" cap="none">
                <a:solidFill>
                  <a:srgbClr val="000000"/>
                </a:solidFill>
                <a:latin typeface="Cambria"/>
                <a:ea typeface="Cambria"/>
                <a:cs typeface="Cambria"/>
                <a:sym typeface="Cambria"/>
              </a:rPr>
              <a:t>(managed their 360° Digital Marketing campaign)</a:t>
            </a:r>
            <a:endParaRPr sz="1100"/>
          </a:p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Cambria"/>
              <a:ea typeface="Cambria"/>
              <a:cs typeface="Cambria"/>
              <a:sym typeface="Cambria"/>
            </a:endParaRPr>
          </a:p>
        </p:txBody>
      </p:sp>
      <p:pic>
        <p:nvPicPr>
          <p:cNvPr id="294" name="Google Shape;294;p34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522157" y="3794402"/>
            <a:ext cx="406577" cy="406577"/>
          </a:xfrm>
          <a:prstGeom prst="rect">
            <a:avLst/>
          </a:prstGeom>
          <a:noFill/>
          <a:ln>
            <a:noFill/>
          </a:ln>
        </p:spPr>
      </p:pic>
      <p:pic>
        <p:nvPicPr>
          <p:cNvPr id="295" name="Google Shape;295;p34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 rot="10800000">
            <a:off x="6296330" y="853933"/>
            <a:ext cx="349460" cy="349460"/>
          </a:xfrm>
          <a:prstGeom prst="rect">
            <a:avLst/>
          </a:prstGeom>
          <a:noFill/>
          <a:ln>
            <a:noFill/>
          </a:ln>
        </p:spPr>
      </p:pic>
      <p:sp>
        <p:nvSpPr>
          <p:cNvPr id="296" name="Google Shape;296;p34"/>
          <p:cNvSpPr txBox="1"/>
          <p:nvPr/>
        </p:nvSpPr>
        <p:spPr>
          <a:xfrm>
            <a:off x="3169586" y="1289828"/>
            <a:ext cx="2606843" cy="33932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Cambria"/>
              <a:buNone/>
            </a:pPr>
            <a:r>
              <a:rPr lang="en" sz="1400" b="0" i="0" u="none" strike="noStrike" cap="none">
                <a:solidFill>
                  <a:srgbClr val="000000"/>
                </a:solidFill>
                <a:latin typeface="Cambria"/>
                <a:ea typeface="Cambria"/>
                <a:cs typeface="Cambria"/>
                <a:sym typeface="Cambria"/>
              </a:rPr>
              <a:t>Content looks great on the</a:t>
            </a:r>
            <a:endParaRPr sz="1100"/>
          </a:p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Cambria"/>
              <a:buNone/>
            </a:pPr>
            <a:r>
              <a:rPr lang="en" sz="1400" b="0" i="0" u="none" strike="noStrike" cap="none">
                <a:solidFill>
                  <a:srgbClr val="000000"/>
                </a:solidFill>
                <a:latin typeface="Cambria"/>
                <a:ea typeface="Cambria"/>
                <a:cs typeface="Cambria"/>
                <a:sym typeface="Cambria"/>
              </a:rPr>
              <a:t>platform. We have significantly</a:t>
            </a:r>
            <a:endParaRPr sz="1100"/>
          </a:p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Cambria"/>
              <a:buNone/>
            </a:pPr>
            <a:r>
              <a:rPr lang="en" sz="1400" b="0" i="0" u="none" strike="noStrike" cap="none">
                <a:solidFill>
                  <a:srgbClr val="000000"/>
                </a:solidFill>
                <a:latin typeface="Cambria"/>
                <a:ea typeface="Cambria"/>
                <a:cs typeface="Cambria"/>
                <a:sym typeface="Cambria"/>
              </a:rPr>
              <a:t>stepped up on this front and I</a:t>
            </a:r>
            <a:endParaRPr sz="1100"/>
          </a:p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Cambria"/>
              <a:buNone/>
            </a:pPr>
            <a:r>
              <a:rPr lang="en" sz="1400" b="0" i="0" u="none" strike="noStrike" cap="none">
                <a:solidFill>
                  <a:srgbClr val="000000"/>
                </a:solidFill>
                <a:latin typeface="Cambria"/>
                <a:ea typeface="Cambria"/>
                <a:cs typeface="Cambria"/>
                <a:sym typeface="Cambria"/>
              </a:rPr>
              <a:t>am really proud of the kind of</a:t>
            </a:r>
            <a:endParaRPr sz="1100"/>
          </a:p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Cambria"/>
              <a:buNone/>
            </a:pPr>
            <a:r>
              <a:rPr lang="en" sz="1400" b="0" i="0" u="none" strike="noStrike" cap="none">
                <a:solidFill>
                  <a:srgbClr val="000000"/>
                </a:solidFill>
                <a:latin typeface="Cambria"/>
                <a:ea typeface="Cambria"/>
                <a:cs typeface="Cambria"/>
                <a:sym typeface="Cambria"/>
              </a:rPr>
              <a:t>content that we have for every</a:t>
            </a:r>
            <a:endParaRPr sz="1100"/>
          </a:p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Cambria"/>
              <a:buNone/>
            </a:pPr>
            <a:r>
              <a:rPr lang="en" sz="1400" b="0" i="0" u="none" strike="noStrike" cap="none">
                <a:solidFill>
                  <a:srgbClr val="000000"/>
                </a:solidFill>
                <a:latin typeface="Cambria"/>
                <a:ea typeface="Cambria"/>
                <a:cs typeface="Cambria"/>
                <a:sym typeface="Cambria"/>
              </a:rPr>
              <a:t>stage of the motherhood</a:t>
            </a:r>
            <a:endParaRPr sz="1100"/>
          </a:p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Cambria"/>
              <a:buNone/>
            </a:pPr>
            <a:r>
              <a:rPr lang="en" sz="1400" b="0" i="0" u="none" strike="noStrike" cap="none">
                <a:solidFill>
                  <a:srgbClr val="000000"/>
                </a:solidFill>
                <a:latin typeface="Cambria"/>
                <a:ea typeface="Cambria"/>
                <a:cs typeface="Cambria"/>
                <a:sym typeface="Cambria"/>
              </a:rPr>
              <a:t>journey. Special thanks you to</a:t>
            </a:r>
            <a:endParaRPr sz="1100"/>
          </a:p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Cambria"/>
              <a:buNone/>
            </a:pPr>
            <a:r>
              <a:rPr lang="en" sz="1400" b="0" i="0" u="none" strike="noStrike" cap="none">
                <a:solidFill>
                  <a:srgbClr val="000000"/>
                </a:solidFill>
                <a:latin typeface="Cambria"/>
                <a:ea typeface="Cambria"/>
                <a:cs typeface="Cambria"/>
                <a:sym typeface="Cambria"/>
              </a:rPr>
              <a:t>you and team for really going</a:t>
            </a:r>
            <a:endParaRPr sz="1100"/>
          </a:p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Cambria"/>
              <a:buNone/>
            </a:pPr>
            <a:r>
              <a:rPr lang="en" sz="1400" b="0" i="0" u="none" strike="noStrike" cap="none">
                <a:solidFill>
                  <a:srgbClr val="000000"/>
                </a:solidFill>
                <a:latin typeface="Cambria"/>
                <a:ea typeface="Cambria"/>
                <a:cs typeface="Cambria"/>
                <a:sym typeface="Cambria"/>
              </a:rPr>
              <a:t>out of your way on multiple</a:t>
            </a:r>
            <a:endParaRPr sz="1100"/>
          </a:p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Cambria"/>
              <a:buNone/>
            </a:pPr>
            <a:r>
              <a:rPr lang="en" sz="1400" b="0" i="0" u="none" strike="noStrike" cap="none">
                <a:solidFill>
                  <a:srgbClr val="000000"/>
                </a:solidFill>
                <a:latin typeface="Cambria"/>
                <a:ea typeface="Cambria"/>
                <a:cs typeface="Cambria"/>
                <a:sym typeface="Cambria"/>
              </a:rPr>
              <a:t>occasions and helping out with</a:t>
            </a:r>
            <a:endParaRPr sz="1100"/>
          </a:p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Cambria"/>
              <a:buNone/>
            </a:pPr>
            <a:r>
              <a:rPr lang="en" sz="1400" b="0" i="0" u="none" strike="noStrike" cap="none">
                <a:solidFill>
                  <a:srgbClr val="000000"/>
                </a:solidFill>
                <a:latin typeface="Cambria"/>
                <a:ea typeface="Cambria"/>
                <a:cs typeface="Cambria"/>
                <a:sym typeface="Cambria"/>
              </a:rPr>
              <a:t>work that was way beyond what</a:t>
            </a:r>
            <a:endParaRPr sz="1100"/>
          </a:p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Cambria"/>
              <a:buNone/>
            </a:pPr>
            <a:r>
              <a:rPr lang="en" sz="1400" b="0" i="0" u="none" strike="noStrike" cap="none">
                <a:solidFill>
                  <a:srgbClr val="000000"/>
                </a:solidFill>
                <a:latin typeface="Cambria"/>
                <a:ea typeface="Cambria"/>
                <a:cs typeface="Cambria"/>
                <a:sym typeface="Cambria"/>
              </a:rPr>
              <a:t>we had originally set out to do.</a:t>
            </a:r>
            <a:endParaRPr sz="1100"/>
          </a:p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Cambria"/>
              <a:ea typeface="Cambria"/>
              <a:cs typeface="Cambria"/>
              <a:sym typeface="Cambria"/>
            </a:endParaRPr>
          </a:p>
          <a:p>
            <a:pPr marL="215900" marR="0" lvl="0" indent="-21590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Cambria"/>
              <a:buChar char="-"/>
            </a:pPr>
            <a:r>
              <a:rPr lang="en" sz="1400" b="1" i="0" u="none" strike="noStrike" cap="none">
                <a:solidFill>
                  <a:srgbClr val="000000"/>
                </a:solidFill>
                <a:latin typeface="Cambria"/>
                <a:ea typeface="Cambria"/>
                <a:cs typeface="Cambria"/>
                <a:sym typeface="Cambria"/>
              </a:rPr>
              <a:t>Nestle</a:t>
            </a:r>
            <a:endParaRPr sz="1100"/>
          </a:p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Cambria"/>
              <a:buNone/>
            </a:pPr>
            <a:r>
              <a:rPr lang="en" sz="1100" b="0" i="0" u="none" strike="noStrike" cap="none">
                <a:solidFill>
                  <a:srgbClr val="000000"/>
                </a:solidFill>
                <a:latin typeface="Cambria"/>
                <a:ea typeface="Cambria"/>
                <a:cs typeface="Cambria"/>
                <a:sym typeface="Cambria"/>
              </a:rPr>
              <a:t>(helped them to build up their content hub Ask Nestle)</a:t>
            </a:r>
            <a:endParaRPr sz="1100" b="0" i="0" u="none" strike="noStrike" cap="none">
              <a:solidFill>
                <a:srgbClr val="000000"/>
              </a:solidFill>
              <a:latin typeface="Cambria"/>
              <a:ea typeface="Cambria"/>
              <a:cs typeface="Cambria"/>
              <a:sym typeface="Cambria"/>
            </a:endParaRPr>
          </a:p>
        </p:txBody>
      </p:sp>
      <p:pic>
        <p:nvPicPr>
          <p:cNvPr id="297" name="Google Shape;297;p34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234734" y="3899183"/>
            <a:ext cx="406577" cy="406577"/>
          </a:xfrm>
          <a:prstGeom prst="rect">
            <a:avLst/>
          </a:prstGeom>
          <a:noFill/>
          <a:ln>
            <a:noFill/>
          </a:ln>
        </p:spPr>
      </p:pic>
      <p:sp>
        <p:nvSpPr>
          <p:cNvPr id="298" name="Google Shape;298;p34"/>
          <p:cNvSpPr txBox="1"/>
          <p:nvPr/>
        </p:nvSpPr>
        <p:spPr>
          <a:xfrm>
            <a:off x="303746" y="255565"/>
            <a:ext cx="6598499" cy="7730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C000"/>
              </a:buClr>
              <a:buSzPts val="3000"/>
              <a:buFont typeface="Calibri"/>
              <a:buNone/>
            </a:pPr>
            <a:r>
              <a:rPr lang="en" sz="3000" b="1" i="0" u="none" strike="noStrike" cap="none">
                <a:solidFill>
                  <a:srgbClr val="FFC000"/>
                </a:solidFill>
                <a:latin typeface="Calibri"/>
                <a:ea typeface="Calibri"/>
                <a:cs typeface="Calibri"/>
                <a:sym typeface="Calibri"/>
              </a:rPr>
              <a:t>Motivating words from our CUSTOMERS</a:t>
            </a:r>
            <a:endParaRPr sz="3000" b="1" i="0" u="none" strike="noStrike" cap="none">
              <a:solidFill>
                <a:srgbClr val="FFC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9" name="Google Shape;299;p34"/>
          <p:cNvSpPr/>
          <p:nvPr/>
        </p:nvSpPr>
        <p:spPr>
          <a:xfrm rot="2349490">
            <a:off x="1382981" y="-2294652"/>
            <a:ext cx="281006" cy="242246"/>
          </a:xfrm>
          <a:prstGeom prst="triangle">
            <a:avLst>
              <a:gd name="adj" fmla="val 50000"/>
            </a:avLst>
          </a:prstGeom>
          <a:solidFill>
            <a:srgbClr val="FFC000"/>
          </a:solidFill>
          <a:ln w="254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10800000" algn="r" rotWithShape="0">
              <a:srgbClr val="000000">
                <a:alpha val="40000"/>
              </a:srgbClr>
            </a:outerShdw>
          </a:effectLst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4" name="Google Shape;304;p35"/>
          <p:cNvSpPr txBox="1"/>
          <p:nvPr/>
        </p:nvSpPr>
        <p:spPr>
          <a:xfrm>
            <a:off x="1136829" y="256196"/>
            <a:ext cx="6662707" cy="167547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C000"/>
              </a:buClr>
              <a:buSzPts val="3000"/>
              <a:buFont typeface="Arial"/>
              <a:buNone/>
            </a:pPr>
            <a:r>
              <a:rPr lang="en" sz="3000" b="1" i="0" u="none" strike="noStrike" cap="none">
                <a:solidFill>
                  <a:srgbClr val="FFC000"/>
                </a:solidFill>
                <a:latin typeface="Arial"/>
                <a:ea typeface="Arial"/>
                <a:cs typeface="Arial"/>
                <a:sym typeface="Arial"/>
              </a:rPr>
              <a:t>Awards &amp; Recognition</a:t>
            </a:r>
            <a:endParaRPr sz="1100"/>
          </a:p>
        </p:txBody>
      </p:sp>
      <p:pic>
        <p:nvPicPr>
          <p:cNvPr id="305" name="Google Shape;305;p35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878778" y="2995560"/>
            <a:ext cx="1324479" cy="1324479"/>
          </a:xfrm>
          <a:prstGeom prst="rect">
            <a:avLst/>
          </a:prstGeom>
          <a:noFill/>
          <a:ln>
            <a:noFill/>
          </a:ln>
        </p:spPr>
      </p:pic>
      <p:pic>
        <p:nvPicPr>
          <p:cNvPr id="306" name="Google Shape;306;p35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3974680" y="2960613"/>
            <a:ext cx="1042601" cy="1390134"/>
          </a:xfrm>
          <a:prstGeom prst="rect">
            <a:avLst/>
          </a:prstGeom>
          <a:noFill/>
          <a:ln>
            <a:noFill/>
          </a:ln>
        </p:spPr>
      </p:pic>
      <p:pic>
        <p:nvPicPr>
          <p:cNvPr id="307" name="Google Shape;307;p35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827598" y="1093931"/>
            <a:ext cx="1183937" cy="1183937"/>
          </a:xfrm>
          <a:prstGeom prst="rect">
            <a:avLst/>
          </a:prstGeom>
          <a:noFill/>
          <a:ln>
            <a:noFill/>
          </a:ln>
        </p:spPr>
      </p:pic>
      <p:pic>
        <p:nvPicPr>
          <p:cNvPr id="308" name="Google Shape;308;p35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1542288" y="2944380"/>
            <a:ext cx="1419942" cy="1419942"/>
          </a:xfrm>
          <a:prstGeom prst="rect">
            <a:avLst/>
          </a:prstGeom>
          <a:noFill/>
          <a:ln>
            <a:noFill/>
          </a:ln>
        </p:spPr>
      </p:pic>
      <p:pic>
        <p:nvPicPr>
          <p:cNvPr id="309" name="Google Shape;309;p35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1542287" y="974160"/>
            <a:ext cx="1507982" cy="1507982"/>
          </a:xfrm>
          <a:prstGeom prst="rect">
            <a:avLst/>
          </a:prstGeom>
          <a:noFill/>
          <a:ln>
            <a:noFill/>
          </a:ln>
        </p:spPr>
      </p:pic>
      <p:pic>
        <p:nvPicPr>
          <p:cNvPr id="310" name="Google Shape;310;p35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3727744" y="981040"/>
            <a:ext cx="1509686" cy="1509686"/>
          </a:xfrm>
          <a:prstGeom prst="rect">
            <a:avLst/>
          </a:prstGeom>
          <a:noFill/>
          <a:ln>
            <a:noFill/>
          </a:ln>
        </p:spPr>
      </p:pic>
      <p:sp>
        <p:nvSpPr>
          <p:cNvPr id="311" name="Google Shape;311;p35"/>
          <p:cNvSpPr/>
          <p:nvPr/>
        </p:nvSpPr>
        <p:spPr>
          <a:xfrm>
            <a:off x="1532051" y="963989"/>
            <a:ext cx="1507982" cy="1507982"/>
          </a:xfrm>
          <a:prstGeom prst="ellipse">
            <a:avLst/>
          </a:prstGeom>
          <a:noFill/>
          <a:ln w="25400" cap="flat" cmpd="sng">
            <a:solidFill>
              <a:srgbClr val="F0C906"/>
            </a:solidFill>
            <a:prstDash val="solid"/>
            <a:round/>
            <a:headEnd type="none" w="sm" len="sm"/>
            <a:tailEnd type="none" w="sm" len="sm"/>
          </a:ln>
          <a:effectLst>
            <a:outerShdw blurRad="63500" sx="102000" sy="102000" algn="ctr" rotWithShape="0">
              <a:srgbClr val="000000">
                <a:alpha val="40000"/>
              </a:srgbClr>
            </a:outerShdw>
          </a:effectLst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2" name="Google Shape;312;p35"/>
          <p:cNvSpPr/>
          <p:nvPr/>
        </p:nvSpPr>
        <p:spPr>
          <a:xfrm>
            <a:off x="3714192" y="982743"/>
            <a:ext cx="1507982" cy="1507982"/>
          </a:xfrm>
          <a:prstGeom prst="ellipse">
            <a:avLst/>
          </a:prstGeom>
          <a:noFill/>
          <a:ln w="25400" cap="flat" cmpd="sng">
            <a:solidFill>
              <a:srgbClr val="F0C906"/>
            </a:solidFill>
            <a:prstDash val="solid"/>
            <a:round/>
            <a:headEnd type="none" w="sm" len="sm"/>
            <a:tailEnd type="none" w="sm" len="sm"/>
          </a:ln>
          <a:effectLst>
            <a:outerShdw blurRad="63500" sx="102000" sy="102000" algn="ctr" rotWithShape="0">
              <a:srgbClr val="000000">
                <a:alpha val="40000"/>
              </a:srgbClr>
            </a:outerShdw>
          </a:effectLst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3" name="Google Shape;313;p35"/>
          <p:cNvSpPr/>
          <p:nvPr/>
        </p:nvSpPr>
        <p:spPr>
          <a:xfrm>
            <a:off x="5650469" y="933270"/>
            <a:ext cx="1507982" cy="1507982"/>
          </a:xfrm>
          <a:prstGeom prst="ellipse">
            <a:avLst/>
          </a:prstGeom>
          <a:noFill/>
          <a:ln w="25400" cap="flat" cmpd="sng">
            <a:solidFill>
              <a:srgbClr val="F0C906"/>
            </a:solidFill>
            <a:prstDash val="solid"/>
            <a:round/>
            <a:headEnd type="none" w="sm" len="sm"/>
            <a:tailEnd type="none" w="sm" len="sm"/>
          </a:ln>
          <a:effectLst>
            <a:outerShdw blurRad="63500" sx="102000" sy="102000" algn="ctr" rotWithShape="0">
              <a:srgbClr val="000000">
                <a:alpha val="40000"/>
              </a:srgbClr>
            </a:outerShdw>
          </a:effectLst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4" name="Google Shape;314;p35"/>
          <p:cNvSpPr/>
          <p:nvPr/>
        </p:nvSpPr>
        <p:spPr>
          <a:xfrm>
            <a:off x="1521815" y="2902993"/>
            <a:ext cx="1507982" cy="1507982"/>
          </a:xfrm>
          <a:prstGeom prst="ellipse">
            <a:avLst/>
          </a:prstGeom>
          <a:noFill/>
          <a:ln w="25400" cap="flat" cmpd="sng">
            <a:solidFill>
              <a:srgbClr val="F0C906"/>
            </a:solidFill>
            <a:prstDash val="solid"/>
            <a:round/>
            <a:headEnd type="none" w="sm" len="sm"/>
            <a:tailEnd type="none" w="sm" len="sm"/>
          </a:ln>
          <a:effectLst>
            <a:outerShdw blurRad="63500" sx="102000" sy="102000" algn="ctr" rotWithShape="0">
              <a:srgbClr val="000000">
                <a:alpha val="40000"/>
              </a:srgbClr>
            </a:outerShdw>
          </a:effectLst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5" name="Google Shape;315;p35"/>
          <p:cNvSpPr/>
          <p:nvPr/>
        </p:nvSpPr>
        <p:spPr>
          <a:xfrm>
            <a:off x="3714192" y="2925647"/>
            <a:ext cx="1507982" cy="1507982"/>
          </a:xfrm>
          <a:prstGeom prst="ellipse">
            <a:avLst/>
          </a:prstGeom>
          <a:noFill/>
          <a:ln w="25400" cap="flat" cmpd="sng">
            <a:solidFill>
              <a:srgbClr val="F0C906"/>
            </a:solidFill>
            <a:prstDash val="solid"/>
            <a:round/>
            <a:headEnd type="none" w="sm" len="sm"/>
            <a:tailEnd type="none" w="sm" len="sm"/>
          </a:ln>
          <a:effectLst>
            <a:outerShdw blurRad="63500" sx="102000" sy="102000" algn="ctr" rotWithShape="0">
              <a:srgbClr val="000000">
                <a:alpha val="40000"/>
              </a:srgbClr>
            </a:outerShdw>
          </a:effectLst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6" name="Google Shape;316;p35"/>
          <p:cNvSpPr/>
          <p:nvPr/>
        </p:nvSpPr>
        <p:spPr>
          <a:xfrm>
            <a:off x="5766554" y="2913672"/>
            <a:ext cx="1507982" cy="1507982"/>
          </a:xfrm>
          <a:prstGeom prst="ellipse">
            <a:avLst/>
          </a:prstGeom>
          <a:noFill/>
          <a:ln w="25400" cap="flat" cmpd="sng">
            <a:solidFill>
              <a:srgbClr val="F0C906"/>
            </a:solidFill>
            <a:prstDash val="solid"/>
            <a:round/>
            <a:headEnd type="none" w="sm" len="sm"/>
            <a:tailEnd type="none" w="sm" len="sm"/>
          </a:ln>
          <a:effectLst>
            <a:outerShdw blurRad="63500" sx="102000" sy="102000" algn="ctr" rotWithShape="0">
              <a:srgbClr val="000000">
                <a:alpha val="40000"/>
              </a:srgbClr>
            </a:outerShdw>
          </a:effectLst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21" name="Google Shape;321;p36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6" name="Google Shape;326;p37"/>
          <p:cNvSpPr txBox="1">
            <a:spLocks noGrp="1"/>
          </p:cNvSpPr>
          <p:nvPr>
            <p:ph type="title"/>
          </p:nvPr>
        </p:nvSpPr>
        <p:spPr>
          <a:xfrm>
            <a:off x="57150" y="1543050"/>
            <a:ext cx="8858250" cy="18466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6000" u="none" dirty="0"/>
              <a:t>Search Engine Optimisation</a:t>
            </a:r>
            <a:br>
              <a:rPr lang="en" sz="6000" u="none" dirty="0"/>
            </a:br>
            <a:r>
              <a:rPr lang="en" sz="6000" u="none" dirty="0"/>
              <a:t>Living Shapes</a:t>
            </a:r>
            <a:endParaRPr dirty="0"/>
          </a:p>
        </p:txBody>
      </p:sp>
      <p:sp>
        <p:nvSpPr>
          <p:cNvPr id="327" name="Google Shape;327;p37"/>
          <p:cNvSpPr/>
          <p:nvPr/>
        </p:nvSpPr>
        <p:spPr>
          <a:xfrm>
            <a:off x="3886200" y="3722543"/>
            <a:ext cx="1543050" cy="57150"/>
          </a:xfrm>
          <a:prstGeom prst="rect">
            <a:avLst/>
          </a:prstGeom>
          <a:solidFill>
            <a:srgbClr val="A5A5A5"/>
          </a:solidFill>
          <a:ln>
            <a:noFill/>
          </a:ln>
          <a:effectLst>
            <a:outerShdw blurRad="50800" dist="38100" dir="5400000" algn="t" rotWithShape="0">
              <a:srgbClr val="000000">
                <a:alpha val="40000"/>
              </a:srgbClr>
            </a:outerShdw>
          </a:effectLst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2" name="Google Shape;332;p38"/>
          <p:cNvSpPr txBox="1">
            <a:spLocks noGrp="1"/>
          </p:cNvSpPr>
          <p:nvPr>
            <p:ph type="title"/>
          </p:nvPr>
        </p:nvSpPr>
        <p:spPr>
          <a:xfrm>
            <a:off x="342900" y="131802"/>
            <a:ext cx="8554612" cy="5539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 dirty="0"/>
              <a:t>Premise</a:t>
            </a:r>
            <a:endParaRPr dirty="0"/>
          </a:p>
        </p:txBody>
      </p:sp>
      <p:sp>
        <p:nvSpPr>
          <p:cNvPr id="333" name="Google Shape;333;p38"/>
          <p:cNvSpPr txBox="1"/>
          <p:nvPr/>
        </p:nvSpPr>
        <p:spPr>
          <a:xfrm>
            <a:off x="246488" y="758228"/>
            <a:ext cx="8401050" cy="41318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lvl="0"/>
            <a:r>
              <a:rPr lang="en" sz="2000" b="1" dirty="0">
                <a:latin typeface="Calibri"/>
                <a:ea typeface="Calibri"/>
                <a:cs typeface="Calibri"/>
                <a:sym typeface="Calibri"/>
              </a:rPr>
              <a:t>About </a:t>
            </a:r>
            <a:r>
              <a:rPr lang="en-US" sz="2000" b="1" dirty="0">
                <a:latin typeface="Calibri"/>
                <a:ea typeface="Calibri"/>
                <a:cs typeface="Calibri"/>
                <a:sym typeface="Calibri"/>
              </a:rPr>
              <a:t>Living Spaces</a:t>
            </a:r>
            <a:r>
              <a:rPr lang="en" sz="2000" b="1" dirty="0">
                <a:latin typeface="Calibri"/>
                <a:ea typeface="Calibri"/>
                <a:cs typeface="Calibri"/>
                <a:sym typeface="Calibri"/>
              </a:rPr>
              <a:t>:</a:t>
            </a:r>
            <a:endParaRPr sz="1050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900" b="1" dirty="0">
              <a:latin typeface="Calibri"/>
              <a:ea typeface="Calibri"/>
              <a:cs typeface="Calibri"/>
              <a:sym typeface="Calibri"/>
            </a:endParaRPr>
          </a:p>
          <a:p>
            <a:pPr lvl="0"/>
            <a:r>
              <a:rPr lang="en-US" sz="1500" dirty="0"/>
              <a:t>Living Shapes represents the seamless fusion of 40 years of legacy craftsmanship and contemporary design innovation. Operating out of a modern 20 lakh sq. ft. facility with a workforce of over 10,000 skilled artisans, we deliver high-quality, durable furniture that meets global standards. With a turnover of over 500 crores and 5+ lakh orders fulfilled in the past year alone, our commitment to quality and consistency speaks for itself.</a:t>
            </a:r>
          </a:p>
          <a:p>
            <a:pPr lvl="0"/>
            <a:endParaRPr lang="en-US" sz="1500" dirty="0"/>
          </a:p>
          <a:p>
            <a:pPr lvl="0"/>
            <a:r>
              <a:rPr lang="en-US" sz="1500" dirty="0"/>
              <a:t>Through Living Shapes, we extend this tradition to homes across India—offering premium, ready-to-ship furniture that elevates any space. Our curated collection spans sophisticated living, dining, bedroom, bar, office, and outdoor pieces—each crafted to enrich the individuality of your living environment.</a:t>
            </a:r>
            <a:endParaRPr sz="1500" dirty="0"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 b="1" dirty="0">
                <a:latin typeface="Calibri"/>
                <a:ea typeface="Calibri"/>
                <a:cs typeface="Calibri"/>
                <a:sym typeface="Calibri"/>
              </a:rPr>
              <a:t>Need of the hour :</a:t>
            </a:r>
            <a:endParaRPr sz="1100" dirty="0"/>
          </a:p>
          <a:p>
            <a:pPr marL="215900" lvl="0" indent="-209550" algn="l" rtl="0">
              <a:spcBef>
                <a:spcPts val="0"/>
              </a:spcBef>
              <a:spcAft>
                <a:spcPts val="0"/>
              </a:spcAft>
              <a:buSzPts val="1500"/>
              <a:buFont typeface="Noto Sans Symbols"/>
              <a:buChar char="✔"/>
            </a:pPr>
            <a:r>
              <a:rPr lang="en" sz="1500" b="1" dirty="0">
                <a:latin typeface="Calibri"/>
                <a:ea typeface="Calibri"/>
                <a:cs typeface="Calibri"/>
                <a:sym typeface="Calibri"/>
              </a:rPr>
              <a:t>Improve its digital presence on search engine </a:t>
            </a:r>
            <a:endParaRPr sz="1100" dirty="0"/>
          </a:p>
          <a:p>
            <a:pPr marL="215900" lvl="0" indent="-209550" algn="l" rtl="0">
              <a:spcBef>
                <a:spcPts val="0"/>
              </a:spcBef>
              <a:spcAft>
                <a:spcPts val="0"/>
              </a:spcAft>
              <a:buSzPts val="1500"/>
              <a:buFont typeface="Noto Sans Symbols"/>
              <a:buChar char="✔"/>
            </a:pPr>
            <a:r>
              <a:rPr lang="en" sz="1500" b="1" dirty="0">
                <a:latin typeface="Calibri"/>
                <a:ea typeface="Calibri"/>
                <a:cs typeface="Calibri"/>
                <a:sym typeface="Calibri"/>
              </a:rPr>
              <a:t>Increase organic website traffic</a:t>
            </a:r>
            <a:endParaRPr sz="1100" dirty="0"/>
          </a:p>
          <a:p>
            <a:pPr marL="215900" lvl="0" indent="-209550" algn="l" rtl="0">
              <a:spcBef>
                <a:spcPts val="0"/>
              </a:spcBef>
              <a:spcAft>
                <a:spcPts val="0"/>
              </a:spcAft>
              <a:buSzPts val="1500"/>
              <a:buFont typeface="Noto Sans Symbols"/>
              <a:buChar char="✔"/>
            </a:pPr>
            <a:r>
              <a:rPr lang="en" sz="1500" b="1" dirty="0">
                <a:latin typeface="Calibri"/>
                <a:ea typeface="Calibri"/>
                <a:cs typeface="Calibri"/>
                <a:sym typeface="Calibri"/>
              </a:rPr>
              <a:t>Create compelling content on the website which helps them in reducing bounce rate and increase conversions</a:t>
            </a:r>
            <a:endParaRPr sz="11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8" name="Google Shape;338;p39"/>
          <p:cNvSpPr txBox="1">
            <a:spLocks noGrp="1"/>
          </p:cNvSpPr>
          <p:nvPr>
            <p:ph type="title"/>
          </p:nvPr>
        </p:nvSpPr>
        <p:spPr>
          <a:xfrm>
            <a:off x="285750" y="285750"/>
            <a:ext cx="8554612" cy="5539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/>
              <a:t>Objective </a:t>
            </a:r>
            <a:endParaRPr/>
          </a:p>
        </p:txBody>
      </p:sp>
      <p:sp>
        <p:nvSpPr>
          <p:cNvPr id="339" name="Google Shape;339;p39"/>
          <p:cNvSpPr txBox="1">
            <a:spLocks noGrp="1"/>
          </p:cNvSpPr>
          <p:nvPr>
            <p:ph type="body" idx="1"/>
          </p:nvPr>
        </p:nvSpPr>
        <p:spPr>
          <a:xfrm>
            <a:off x="342900" y="1028700"/>
            <a:ext cx="4114800" cy="34579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342900" lvl="0" indent="-349250" algn="l" rtl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Noto Sans Symbols"/>
              <a:buChar char="✔"/>
            </a:pPr>
            <a:r>
              <a:rPr lang="en" sz="1400" b="1" dirty="0">
                <a:latin typeface="Calibri"/>
                <a:ea typeface="Calibri"/>
                <a:cs typeface="Calibri"/>
                <a:sym typeface="Calibri"/>
              </a:rPr>
              <a:t>Enhance Brand Visibility on Search Engine Ranking Pages – </a:t>
            </a:r>
            <a:r>
              <a:rPr lang="en" sz="1400" dirty="0">
                <a:latin typeface="Calibri"/>
                <a:ea typeface="Calibri"/>
                <a:cs typeface="Calibri"/>
                <a:sym typeface="Calibri"/>
              </a:rPr>
              <a:t>Target various keywords which are having intent as Informational, Navigational  &amp; Commercial/Transactional </a:t>
            </a:r>
            <a:endParaRPr dirty="0"/>
          </a:p>
          <a:p>
            <a:pPr marL="342900" lvl="0" indent="-349250" algn="l" rtl="0">
              <a:lnSpc>
                <a:spcPct val="107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Noto Sans Symbols"/>
              <a:buChar char="✔"/>
            </a:pPr>
            <a:r>
              <a:rPr lang="en" sz="1400" b="1" dirty="0">
                <a:latin typeface="Calibri"/>
                <a:ea typeface="Calibri"/>
                <a:cs typeface="Calibri"/>
                <a:sym typeface="Calibri"/>
              </a:rPr>
              <a:t>Increase organic traffic – </a:t>
            </a:r>
            <a:r>
              <a:rPr lang="en" sz="1400" dirty="0">
                <a:latin typeface="Calibri"/>
                <a:ea typeface="Calibri"/>
                <a:cs typeface="Calibri"/>
                <a:sym typeface="Calibri"/>
              </a:rPr>
              <a:t>As per SEMRush current organic traffic is around 1,400. Increasing in organic traffic more than current.. </a:t>
            </a:r>
            <a:endParaRPr dirty="0"/>
          </a:p>
          <a:p>
            <a:pPr marL="342900" lvl="0" indent="-349250" algn="l" rtl="0">
              <a:lnSpc>
                <a:spcPct val="107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Noto Sans Symbols"/>
              <a:buChar char="✔"/>
            </a:pPr>
            <a:r>
              <a:rPr lang="en" sz="1400" b="1" dirty="0">
                <a:latin typeface="Calibri"/>
                <a:ea typeface="Calibri"/>
                <a:cs typeface="Calibri"/>
                <a:sym typeface="Calibri"/>
              </a:rPr>
              <a:t>Improve Website Authority - </a:t>
            </a:r>
            <a:r>
              <a:rPr lang="en" sz="1400" dirty="0">
                <a:latin typeface="Calibri"/>
                <a:ea typeface="Calibri"/>
                <a:cs typeface="Calibri"/>
                <a:sym typeface="Calibri"/>
              </a:rPr>
              <a:t> Creating good quality relevant strong backlinks which will eventually help us in keywords ranking as well as improve website’s domain authority. </a:t>
            </a:r>
            <a:endParaRPr dirty="0"/>
          </a:p>
          <a:p>
            <a:pPr marL="342900" lvl="0" indent="-349250" algn="l" rtl="0">
              <a:lnSpc>
                <a:spcPct val="107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Noto Sans Symbols"/>
              <a:buChar char="✔"/>
            </a:pPr>
            <a:r>
              <a:rPr lang="en" sz="1400" b="1" dirty="0">
                <a:latin typeface="Calibri"/>
                <a:ea typeface="Calibri"/>
                <a:cs typeface="Calibri"/>
                <a:sym typeface="Calibri"/>
              </a:rPr>
              <a:t>Improve website Page Copies – </a:t>
            </a:r>
            <a:r>
              <a:rPr lang="en" sz="1400" dirty="0">
                <a:latin typeface="Calibri"/>
                <a:ea typeface="Calibri"/>
                <a:cs typeface="Calibri"/>
                <a:sym typeface="Calibri"/>
              </a:rPr>
              <a:t>Create content which resemble with the target audience and helps in reducing bounce rate and improve conversions</a:t>
            </a:r>
            <a:endParaRPr sz="1400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40" name="Google Shape;340;p39" descr="A diagram of a strategy overview&#10;&#10;AI-generated content may be incorrect.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530156" y="800101"/>
            <a:ext cx="4543322" cy="34861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5" name="Google Shape;345;p40"/>
          <p:cNvSpPr txBox="1">
            <a:spLocks noGrp="1"/>
          </p:cNvSpPr>
          <p:nvPr>
            <p:ph type="title"/>
          </p:nvPr>
        </p:nvSpPr>
        <p:spPr>
          <a:xfrm>
            <a:off x="285750" y="1828800"/>
            <a:ext cx="8554612" cy="10156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6600"/>
              <a:t>Website Audit</a:t>
            </a:r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0" name="Google Shape;350;p41"/>
          <p:cNvSpPr txBox="1">
            <a:spLocks noGrp="1"/>
          </p:cNvSpPr>
          <p:nvPr>
            <p:ph type="title"/>
          </p:nvPr>
        </p:nvSpPr>
        <p:spPr>
          <a:xfrm>
            <a:off x="228600" y="204107"/>
            <a:ext cx="8554612" cy="4616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Technical Analysis</a:t>
            </a:r>
            <a:endParaRPr dirty="0"/>
          </a:p>
        </p:txBody>
      </p:sp>
      <p:graphicFrame>
        <p:nvGraphicFramePr>
          <p:cNvPr id="351" name="Google Shape;351;p41"/>
          <p:cNvGraphicFramePr/>
          <p:nvPr>
            <p:extLst>
              <p:ext uri="{D42A27DB-BD31-4B8C-83A1-F6EECF244321}">
                <p14:modId xmlns:p14="http://schemas.microsoft.com/office/powerpoint/2010/main" val="1537079971"/>
              </p:ext>
            </p:extLst>
          </p:nvPr>
        </p:nvGraphicFramePr>
        <p:xfrm>
          <a:off x="228600" y="800100"/>
          <a:ext cx="8686775" cy="3972095"/>
        </p:xfrm>
        <a:graphic>
          <a:graphicData uri="http://schemas.openxmlformats.org/drawingml/2006/table">
            <a:tbl>
              <a:tblPr>
                <a:noFill/>
                <a:tableStyleId>{404845F3-DE45-48F2-B2D5-C57CF05E9B26}</a:tableStyleId>
              </a:tblPr>
              <a:tblGrid>
                <a:gridCol w="2298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413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847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87339">
                <a:tc>
                  <a:txBody>
                    <a:bodyPr/>
                    <a:lstStyle/>
                    <a:p>
                      <a:pPr marL="342900" marR="0" lvl="1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 b="1" u="none" strike="noStrike" cap="none"/>
                        <a:t>Particulars</a:t>
                      </a:r>
                      <a:endParaRPr sz="1100" b="1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5375" marR="5375" marT="5375" marB="5375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marL="342900" marR="0" lvl="1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 b="1" u="none" strike="noStrike" cap="none"/>
                        <a:t>Details</a:t>
                      </a:r>
                      <a:endParaRPr sz="1100" b="1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5375" marR="5375" marT="5375" marB="5375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marL="342900" marR="0" lvl="1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 b="1" u="none" strike="noStrike" cap="none" dirty="0"/>
                        <a:t>Comments</a:t>
                      </a:r>
                      <a:endParaRPr sz="1100" b="1" u="none" strike="noStrike" cap="none" dirty="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5375" marR="5375" marT="5375" marB="5375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1153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 u="none" strike="noStrike" cap="none"/>
                        <a:t>Domain Age</a:t>
                      </a:r>
                      <a:endParaRPr sz="11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5375" marR="5375" marT="5375" marB="5375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strike="noStrike" cap="none" dirty="0"/>
                        <a:t>{{</a:t>
                      </a:r>
                      <a:r>
                        <a:rPr lang="en-US" sz="1100" u="none" strike="noStrike" cap="none" dirty="0" err="1"/>
                        <a:t>DomainAge</a:t>
                      </a:r>
                      <a:r>
                        <a:rPr lang="en-US" sz="1100" u="none" strike="noStrike" cap="none" dirty="0"/>
                        <a:t>}}</a:t>
                      </a:r>
                      <a:endParaRPr sz="1100" u="none" strike="noStrike" cap="none" dirty="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5375" marR="5375" marT="5375" marB="5375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100" u="none" strike="noStrike" cap="none" dirty="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5375" marR="5375" marT="5375" marB="5375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51607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 u="none" strike="noStrike" cap="none"/>
                        <a:t>Domain Expiration Date</a:t>
                      </a:r>
                      <a:endParaRPr sz="11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5375" marR="5375" marT="5375" marB="5375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strike="noStrike" cap="none" dirty="0"/>
                        <a:t>{{</a:t>
                      </a:r>
                      <a:r>
                        <a:rPr lang="en-US" sz="1100" u="none" strike="noStrike" cap="none" dirty="0" err="1"/>
                        <a:t>DomainExpiry</a:t>
                      </a:r>
                      <a:r>
                        <a:rPr lang="en-US" sz="1100" u="none" strike="noStrike" cap="none" dirty="0"/>
                        <a:t>}}</a:t>
                      </a:r>
                      <a:endParaRPr sz="1100" u="none" strike="noStrike" cap="none" dirty="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5375" marR="5375" marT="5375" marB="5375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100" u="none" strike="noStrike" cap="none" dirty="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5375" marR="5375" marT="5375" marB="5375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4448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 u="none" strike="noStrike" cap="none"/>
                        <a:t>Backlinks (SEMRush)</a:t>
                      </a:r>
                      <a:endParaRPr sz="11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5375" marR="5375" marT="5375" marB="5375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 u="none" strike="noStrike" cap="none" dirty="0"/>
                        <a:t>380 Backlinks</a:t>
                      </a:r>
                      <a:endParaRPr sz="1100" u="none" strike="noStrike" cap="none" dirty="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5375" marR="5375" marT="5375" marB="5375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 u="none" strike="noStrike" cap="none" dirty="0"/>
                        <a:t>Highly Need to increase the backlink count to establish authority and increase DA</a:t>
                      </a:r>
                      <a:endParaRPr sz="1100" u="none" strike="noStrike" cap="none" dirty="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5375" marR="5375" marT="5375" marB="5375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16372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 u="none" strike="noStrike" cap="none"/>
                        <a:t>Desktop Score</a:t>
                      </a:r>
                      <a:endParaRPr sz="11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5375" marR="5375" marT="5375" marB="5375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100" u="none" strike="noStrike" cap="none" dirty="0">
                          <a:latin typeface="Arial"/>
                          <a:ea typeface="Arial"/>
                          <a:cs typeface="Arial"/>
                          <a:sym typeface="Arial"/>
                        </a:rPr>
                        <a:t>{{</a:t>
                      </a:r>
                      <a:r>
                        <a:rPr lang="en-IN" sz="1100" u="none" strike="noStrike" cap="none" dirty="0" err="1">
                          <a:latin typeface="Arial"/>
                          <a:ea typeface="Arial"/>
                          <a:cs typeface="Arial"/>
                          <a:sym typeface="Arial"/>
                        </a:rPr>
                        <a:t>DesktopScore</a:t>
                      </a:r>
                      <a:r>
                        <a:rPr lang="en-IN" sz="1100" u="none" strike="noStrike" cap="none" dirty="0">
                          <a:latin typeface="Arial"/>
                          <a:ea typeface="Arial"/>
                          <a:cs typeface="Arial"/>
                          <a:sym typeface="Arial"/>
                        </a:rPr>
                        <a:t>}}</a:t>
                      </a:r>
                      <a:endParaRPr sz="1100" dirty="0"/>
                    </a:p>
                  </a:txBody>
                  <a:tcPr marL="5375" marR="5375" marT="5375" marB="5375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 u="none" strike="noStrike" cap="none" dirty="0"/>
                        <a:t>Highly Need to improve the score of the website on desktop device for a good user experience</a:t>
                      </a:r>
                      <a:endParaRPr sz="1100" u="none" strike="noStrike" cap="none" dirty="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5375" marR="5375" marT="5375" marB="5375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96706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 u="none" strike="noStrike" cap="none"/>
                        <a:t>Mobile Score</a:t>
                      </a:r>
                      <a:endParaRPr sz="11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5375" marR="5375" marT="5375" marB="5375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100" u="none" strike="noStrike" cap="none" dirty="0">
                          <a:latin typeface="Arial"/>
                          <a:ea typeface="Arial"/>
                          <a:cs typeface="Arial"/>
                          <a:sym typeface="Arial"/>
                        </a:rPr>
                        <a:t>{{</a:t>
                      </a:r>
                      <a:r>
                        <a:rPr lang="en-IN" sz="1100" u="none" strike="noStrike" cap="none" dirty="0" err="1">
                          <a:latin typeface="Arial"/>
                          <a:ea typeface="Arial"/>
                          <a:cs typeface="Arial"/>
                          <a:sym typeface="Arial"/>
                        </a:rPr>
                        <a:t>MobileScore</a:t>
                      </a:r>
                      <a:r>
                        <a:rPr lang="en-IN" sz="110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}}</a:t>
                      </a:r>
                      <a:endParaRPr sz="1100" dirty="0"/>
                    </a:p>
                  </a:txBody>
                  <a:tcPr marL="5375" marR="5375" marT="5375" marB="5375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 u="none" strike="noStrike" cap="none" dirty="0"/>
                        <a:t>Need to improve the score of the website on mobile device for a good user experience</a:t>
                      </a:r>
                      <a:endParaRPr sz="1100" u="none" strike="noStrike" cap="none" dirty="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5375" marR="5375" marT="5375" marB="5375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938508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 u="none" strike="noStrike" cap="none"/>
                        <a:t>Core Web Vitals (Desktop)</a:t>
                      </a:r>
                      <a:endParaRPr sz="11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5375" marR="5375" marT="5375" marB="5375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 u="none" strike="noStrike" cap="none" dirty="0"/>
                        <a:t>FCP: 0.8 s</a:t>
                      </a:r>
                      <a:endParaRPr sz="1100" dirty="0"/>
                    </a:p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 u="none" strike="noStrike" cap="none" dirty="0"/>
                        <a:t>LCP: 2.8 s</a:t>
                      </a:r>
                      <a:endParaRPr sz="1100" dirty="0"/>
                    </a:p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 u="none" strike="noStrike" cap="none" dirty="0"/>
                        <a:t>INP: 207</a:t>
                      </a:r>
                      <a:endParaRPr sz="1100" dirty="0"/>
                    </a:p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 u="none" strike="noStrike" cap="none" dirty="0"/>
                        <a:t>CLS: 0</a:t>
                      </a:r>
                      <a:endParaRPr sz="1100" dirty="0"/>
                    </a:p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 u="none" strike="noStrike" cap="none" dirty="0"/>
                        <a:t>Speed Index: 2.5 s</a:t>
                      </a:r>
                      <a:endParaRPr sz="1100" u="none" strike="noStrike" cap="none" dirty="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5375" marR="5375" marT="5375" marB="5375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 u="none" strike="noStrike" cap="none" dirty="0"/>
                        <a:t>Need to </a:t>
                      </a:r>
                      <a:r>
                        <a:rPr lang="en" sz="1100" u="none" strike="noStrike" cap="none" dirty="0" err="1"/>
                        <a:t>optimise</a:t>
                      </a:r>
                      <a:r>
                        <a:rPr lang="en" sz="1100" u="none" strike="noStrike" cap="none" dirty="0"/>
                        <a:t> the website for better performance on desktop device</a:t>
                      </a:r>
                      <a:endParaRPr sz="1100" u="none" strike="noStrike" cap="none" dirty="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5375" marR="5375" marT="5375" marB="5375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938508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 u="none" strike="noStrike" cap="none"/>
                        <a:t>Core Web Vitals (Mobile)</a:t>
                      </a:r>
                      <a:endParaRPr sz="11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5375" marR="5375" marT="5375" marB="5375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 u="none" strike="noStrike" cap="none" dirty="0"/>
                        <a:t>FCP: 3.2 s</a:t>
                      </a:r>
                      <a:endParaRPr sz="1100" dirty="0"/>
                    </a:p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 u="none" strike="noStrike" cap="none" dirty="0"/>
                        <a:t>LCP: 10.4 s</a:t>
                      </a:r>
                      <a:endParaRPr sz="1100" dirty="0"/>
                    </a:p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 u="none" strike="noStrike" cap="none" dirty="0"/>
                        <a:t>INP: 420</a:t>
                      </a:r>
                      <a:endParaRPr sz="1100" dirty="0"/>
                    </a:p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 u="none" strike="noStrike" cap="none" dirty="0"/>
                        <a:t>CLS: 0</a:t>
                      </a:r>
                      <a:endParaRPr sz="1100" dirty="0"/>
                    </a:p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 u="none" strike="noStrike" cap="none" dirty="0"/>
                        <a:t>Speed Index: 4.0 s</a:t>
                      </a:r>
                      <a:endParaRPr sz="1100" u="none" strike="noStrike" cap="none" dirty="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5375" marR="5375" marT="5375" marB="5375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 u="none" strike="noStrike" cap="none" dirty="0"/>
                        <a:t>Need to optimise the website for better performance on mobile device</a:t>
                      </a:r>
                      <a:endParaRPr sz="1100" u="none" strike="noStrike" cap="none" dirty="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5375" marR="5375" marT="5375" marB="5375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36022A-0774-E647-7A95-50CD531B49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F4631F8-957C-096C-C875-F5712F1F9D5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293914" y="1208315"/>
            <a:ext cx="8404792" cy="3200876"/>
          </a:xfrm>
        </p:spPr>
        <p:txBody>
          <a:bodyPr/>
          <a:lstStyle/>
          <a:p>
            <a:r>
              <a:rPr lang="en-IN" sz="1600" dirty="0"/>
              <a:t>Domain Age: {{ $</a:t>
            </a:r>
            <a:r>
              <a:rPr lang="en-IN" sz="1600" dirty="0" err="1"/>
              <a:t>json</a:t>
            </a:r>
            <a:r>
              <a:rPr lang="en-IN" sz="1600" dirty="0"/>
              <a:t>["</a:t>
            </a:r>
            <a:r>
              <a:rPr lang="en-IN" sz="1600" dirty="0" err="1"/>
              <a:t>domainAge</a:t>
            </a:r>
            <a:r>
              <a:rPr lang="en-IN" sz="1600" dirty="0"/>
              <a:t>"] }}</a:t>
            </a:r>
          </a:p>
          <a:p>
            <a:r>
              <a:rPr lang="en-IN" sz="1600" dirty="0"/>
              <a:t>Domain Expiration Date: {{ $</a:t>
            </a:r>
            <a:r>
              <a:rPr lang="en-IN" sz="1600" dirty="0" err="1"/>
              <a:t>json</a:t>
            </a:r>
            <a:r>
              <a:rPr lang="en-IN" sz="1600" dirty="0"/>
              <a:t>["</a:t>
            </a:r>
            <a:r>
              <a:rPr lang="en-IN" sz="1600" dirty="0" err="1"/>
              <a:t>domainExpiry</a:t>
            </a:r>
            <a:r>
              <a:rPr lang="en-IN" sz="1600" dirty="0"/>
              <a:t>"] }}</a:t>
            </a:r>
          </a:p>
          <a:p>
            <a:r>
              <a:rPr lang="en-IN" sz="1600" dirty="0"/>
              <a:t>Backlinks (SEMrush): {{ $</a:t>
            </a:r>
            <a:r>
              <a:rPr lang="en-IN" sz="1600" dirty="0" err="1"/>
              <a:t>json</a:t>
            </a:r>
            <a:r>
              <a:rPr lang="en-IN" sz="1600" dirty="0"/>
              <a:t>["backlinks"] }}</a:t>
            </a:r>
          </a:p>
          <a:p>
            <a:r>
              <a:rPr lang="en-IN" sz="1600" dirty="0"/>
              <a:t>Desktop Score: {{ $</a:t>
            </a:r>
            <a:r>
              <a:rPr lang="en-IN" sz="1600" dirty="0" err="1"/>
              <a:t>json</a:t>
            </a:r>
            <a:r>
              <a:rPr lang="en-IN" sz="1600" dirty="0"/>
              <a:t>["</a:t>
            </a:r>
            <a:r>
              <a:rPr lang="en-IN" sz="1600" dirty="0" err="1"/>
              <a:t>desktopScore</a:t>
            </a:r>
            <a:r>
              <a:rPr lang="en-IN" sz="1600" dirty="0"/>
              <a:t>"] }}</a:t>
            </a:r>
          </a:p>
          <a:p>
            <a:r>
              <a:rPr lang="en-IN" sz="1600" dirty="0"/>
              <a:t>Mobile Score: {{ $</a:t>
            </a:r>
            <a:r>
              <a:rPr lang="en-IN" sz="1600" dirty="0" err="1"/>
              <a:t>json</a:t>
            </a:r>
            <a:r>
              <a:rPr lang="en-IN" sz="1600" dirty="0"/>
              <a:t>["</a:t>
            </a:r>
            <a:r>
              <a:rPr lang="en-IN" sz="1600" dirty="0" err="1"/>
              <a:t>mobileScore</a:t>
            </a:r>
            <a:r>
              <a:rPr lang="en-IN" sz="1600" dirty="0"/>
              <a:t>"] }}</a:t>
            </a:r>
          </a:p>
          <a:p>
            <a:r>
              <a:rPr lang="en-IN" sz="1600" dirty="0"/>
              <a:t>Core Web Vitals (Desktop):</a:t>
            </a:r>
          </a:p>
          <a:p>
            <a:r>
              <a:rPr lang="en-IN" sz="1600" dirty="0"/>
              <a:t>	FCP: {{ $</a:t>
            </a:r>
            <a:r>
              <a:rPr lang="en-IN" sz="1600" dirty="0" err="1"/>
              <a:t>json</a:t>
            </a:r>
            <a:r>
              <a:rPr lang="en-IN" sz="1600" dirty="0"/>
              <a:t>["</a:t>
            </a:r>
            <a:r>
              <a:rPr lang="en-IN" sz="1600" dirty="0" err="1"/>
              <a:t>desktopFCP</a:t>
            </a:r>
            <a:r>
              <a:rPr lang="en-IN" sz="1600" dirty="0"/>
              <a:t>"] }}, </a:t>
            </a:r>
          </a:p>
          <a:p>
            <a:r>
              <a:rPr lang="en-IN" sz="1600" dirty="0"/>
              <a:t>	LCP: {{ $</a:t>
            </a:r>
            <a:r>
              <a:rPr lang="en-IN" sz="1600" dirty="0" err="1"/>
              <a:t>json</a:t>
            </a:r>
            <a:r>
              <a:rPr lang="en-IN" sz="1600" dirty="0"/>
              <a:t>["</a:t>
            </a:r>
            <a:r>
              <a:rPr lang="en-IN" sz="1600" dirty="0" err="1"/>
              <a:t>desktopLCP</a:t>
            </a:r>
            <a:r>
              <a:rPr lang="en-IN" sz="1600" dirty="0"/>
              <a:t>"] }}, </a:t>
            </a:r>
          </a:p>
          <a:p>
            <a:r>
              <a:rPr lang="en-IN" sz="1600" dirty="0"/>
              <a:t>	INP: {{ $</a:t>
            </a:r>
            <a:r>
              <a:rPr lang="en-IN" sz="1600" dirty="0" err="1"/>
              <a:t>json</a:t>
            </a:r>
            <a:r>
              <a:rPr lang="en-IN" sz="1600" dirty="0"/>
              <a:t>["</a:t>
            </a:r>
            <a:r>
              <a:rPr lang="en-IN" sz="1600" dirty="0" err="1"/>
              <a:t>desktopINP</a:t>
            </a:r>
            <a:r>
              <a:rPr lang="en-IN" sz="1600" dirty="0"/>
              <a:t>"] }}</a:t>
            </a:r>
          </a:p>
          <a:p>
            <a:r>
              <a:rPr lang="en-IN" sz="1600" dirty="0"/>
              <a:t>Core Web Vitals (Mobile): </a:t>
            </a:r>
          </a:p>
          <a:p>
            <a:r>
              <a:rPr lang="en-IN" sz="1600" dirty="0"/>
              <a:t>	FCP: {{ $</a:t>
            </a:r>
            <a:r>
              <a:rPr lang="en-IN" sz="1600" dirty="0" err="1"/>
              <a:t>json</a:t>
            </a:r>
            <a:r>
              <a:rPr lang="en-IN" sz="1600" dirty="0"/>
              <a:t>["</a:t>
            </a:r>
            <a:r>
              <a:rPr lang="en-IN" sz="1600" dirty="0" err="1"/>
              <a:t>mobileFCP</a:t>
            </a:r>
            <a:r>
              <a:rPr lang="en-IN" sz="1600" dirty="0"/>
              <a:t>"] }},</a:t>
            </a:r>
          </a:p>
          <a:p>
            <a:r>
              <a:rPr lang="en-IN" sz="1600" dirty="0"/>
              <a:t>	 LCP: {{ $</a:t>
            </a:r>
            <a:r>
              <a:rPr lang="en-IN" sz="1600" dirty="0" err="1"/>
              <a:t>json</a:t>
            </a:r>
            <a:r>
              <a:rPr lang="en-IN" sz="1600" dirty="0"/>
              <a:t>["</a:t>
            </a:r>
            <a:r>
              <a:rPr lang="en-IN" sz="1600" dirty="0" err="1"/>
              <a:t>mobileLCP</a:t>
            </a:r>
            <a:r>
              <a:rPr lang="en-IN" sz="1600" dirty="0"/>
              <a:t>"] }}, </a:t>
            </a:r>
          </a:p>
          <a:p>
            <a:r>
              <a:rPr lang="en-IN" sz="1600" dirty="0"/>
              <a:t>	INP: {{ $</a:t>
            </a:r>
            <a:r>
              <a:rPr lang="en-IN" sz="1600" dirty="0" err="1"/>
              <a:t>json</a:t>
            </a:r>
            <a:r>
              <a:rPr lang="en-IN" sz="1600" dirty="0"/>
              <a:t>["</a:t>
            </a:r>
            <a:r>
              <a:rPr lang="en-IN" sz="1600" dirty="0" err="1"/>
              <a:t>mobileINP</a:t>
            </a:r>
            <a:r>
              <a:rPr lang="en-IN" sz="1600" dirty="0"/>
              <a:t>"] }}</a:t>
            </a:r>
          </a:p>
        </p:txBody>
      </p:sp>
    </p:spTree>
    <p:extLst>
      <p:ext uri="{BB962C8B-B14F-4D97-AF65-F5344CB8AC3E}">
        <p14:creationId xmlns:p14="http://schemas.microsoft.com/office/powerpoint/2010/main" val="310818866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7" name="Google Shape;357;p42"/>
          <p:cNvSpPr txBox="1">
            <a:spLocks noGrp="1"/>
          </p:cNvSpPr>
          <p:nvPr>
            <p:ph type="title"/>
          </p:nvPr>
        </p:nvSpPr>
        <p:spPr>
          <a:xfrm>
            <a:off x="228600" y="228600"/>
            <a:ext cx="8554612" cy="4616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On Page Analysis Overview</a:t>
            </a:r>
            <a:endParaRPr/>
          </a:p>
        </p:txBody>
      </p:sp>
      <p:graphicFrame>
        <p:nvGraphicFramePr>
          <p:cNvPr id="358" name="Google Shape;358;p42"/>
          <p:cNvGraphicFramePr/>
          <p:nvPr>
            <p:extLst>
              <p:ext uri="{D42A27DB-BD31-4B8C-83A1-F6EECF244321}">
                <p14:modId xmlns:p14="http://schemas.microsoft.com/office/powerpoint/2010/main" val="421629683"/>
              </p:ext>
            </p:extLst>
          </p:nvPr>
        </p:nvGraphicFramePr>
        <p:xfrm>
          <a:off x="180400" y="771276"/>
          <a:ext cx="8783200" cy="3784825"/>
        </p:xfrm>
        <a:graphic>
          <a:graphicData uri="http://schemas.openxmlformats.org/drawingml/2006/table">
            <a:tbl>
              <a:tblPr>
                <a:noFill/>
                <a:tableStyleId>{3059031D-76C1-4A71-AF53-F72BF084CF57}</a:tableStyleId>
              </a:tblPr>
              <a:tblGrid>
                <a:gridCol w="47827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716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2288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97805"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Issue Name</a:t>
                      </a:r>
                    </a:p>
                  </a:txBody>
                  <a:tcPr marL="6350" marR="6350" marT="6350" marB="0" anchor="ctr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Issue Type</a:t>
                      </a:r>
                    </a:p>
                  </a:txBody>
                  <a:tcPr marL="6350" marR="6350" marT="6350" marB="0" anchor="ctr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Issue Priority</a:t>
                      </a:r>
                    </a:p>
                  </a:txBody>
                  <a:tcPr marL="6350" marR="6350" marT="6350" marB="0" anchor="ctr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969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000" b="0" i="0" u="none" strike="noStrike">
                          <a:effectLst/>
                          <a:latin typeface="Arial" panose="020B0604020202020204" pitchFamily="34" charset="0"/>
                        </a:rPr>
                        <a:t>H1: Missing</a:t>
                      </a:r>
                    </a:p>
                  </a:txBody>
                  <a:tcPr marL="6350" marR="6350" marT="6350" marB="0" anchor="b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000" b="0" i="0" u="none" strike="noStrike">
                          <a:effectLst/>
                          <a:latin typeface="Arial" panose="020B0604020202020204" pitchFamily="34" charset="0"/>
                        </a:rPr>
                        <a:t>Issue</a:t>
                      </a:r>
                    </a:p>
                  </a:txBody>
                  <a:tcPr marL="6350" marR="6350" marT="6350" marB="0" anchor="b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0" i="0" u="none" strike="noStrike" dirty="0">
                          <a:effectLst/>
                          <a:latin typeface="Arial" panose="020B0604020202020204" pitchFamily="34" charset="0"/>
                        </a:rPr>
                        <a:t>Medium</a:t>
                      </a:r>
                    </a:p>
                  </a:txBody>
                  <a:tcPr marL="6350" marR="6350" marT="6350" marB="0" anchor="b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07733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000" b="0" i="0" u="none" strike="noStrike">
                          <a:effectLst/>
                          <a:latin typeface="Arial" panose="020B0604020202020204" pitchFamily="34" charset="0"/>
                        </a:rPr>
                        <a:t>Images: Over 100 KB</a:t>
                      </a:r>
                    </a:p>
                  </a:txBody>
                  <a:tcPr marL="6350" marR="6350" marT="6350" marB="0" anchor="b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000" b="0" i="0" u="none" strike="noStrike">
                          <a:effectLst/>
                          <a:latin typeface="Arial" panose="020B0604020202020204" pitchFamily="34" charset="0"/>
                        </a:rPr>
                        <a:t>Opportunity</a:t>
                      </a:r>
                    </a:p>
                  </a:txBody>
                  <a:tcPr marL="6350" marR="6350" marT="6350" marB="0" anchor="b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0" i="0" u="none" strike="noStrike" dirty="0">
                          <a:effectLst/>
                          <a:latin typeface="Arial" panose="020B0604020202020204" pitchFamily="34" charset="0"/>
                        </a:rPr>
                        <a:t>Medium</a:t>
                      </a:r>
                    </a:p>
                  </a:txBody>
                  <a:tcPr marL="6350" marR="6350" marT="6350" marB="0" anchor="b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07733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000" b="0" i="0" u="none" strike="noStrike">
                          <a:effectLst/>
                          <a:latin typeface="Arial" panose="020B0604020202020204" pitchFamily="34" charset="0"/>
                        </a:rPr>
                        <a:t>Canonicals: Canonicalised</a:t>
                      </a:r>
                    </a:p>
                  </a:txBody>
                  <a:tcPr marL="6350" marR="6350" marT="6350" marB="0" anchor="b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000" b="0" i="0" u="none" strike="noStrike">
                          <a:effectLst/>
                          <a:latin typeface="Arial" panose="020B0604020202020204" pitchFamily="34" charset="0"/>
                        </a:rPr>
                        <a:t>Warning</a:t>
                      </a:r>
                    </a:p>
                  </a:txBody>
                  <a:tcPr marL="6350" marR="6350" marT="6350" marB="0" anchor="b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0" i="0" u="none" strike="noStrike" dirty="0">
                          <a:effectLst/>
                          <a:latin typeface="Arial" panose="020B0604020202020204" pitchFamily="34" charset="0"/>
                        </a:rPr>
                        <a:t>High</a:t>
                      </a:r>
                    </a:p>
                  </a:txBody>
                  <a:tcPr marL="6350" marR="6350" marT="6350" marB="0" anchor="b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07733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000" b="0" i="0" u="none" strike="noStrike">
                          <a:effectLst/>
                          <a:latin typeface="Arial" panose="020B0604020202020204" pitchFamily="34" charset="0"/>
                        </a:rPr>
                        <a:t>Response Codes: Internal Client Error (4xx)</a:t>
                      </a:r>
                    </a:p>
                  </a:txBody>
                  <a:tcPr marL="6350" marR="6350" marT="6350" marB="0" anchor="b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000" b="0" i="0" u="none" strike="noStrike">
                          <a:effectLst/>
                          <a:latin typeface="Arial" panose="020B0604020202020204" pitchFamily="34" charset="0"/>
                        </a:rPr>
                        <a:t>Issue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0" i="0" u="none" strike="noStrike" dirty="0">
                          <a:effectLst/>
                          <a:latin typeface="Arial" panose="020B0604020202020204" pitchFamily="34" charset="0"/>
                        </a:rPr>
                        <a:t>High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47841715"/>
                  </a:ext>
                </a:extLst>
              </a:tr>
              <a:tr h="307733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000" b="0" i="0" u="none" strike="noStrike">
                          <a:effectLst/>
                          <a:latin typeface="Arial" panose="020B0604020202020204" pitchFamily="34" charset="0"/>
                        </a:rPr>
                        <a:t>Pagination: Pagination URL Not in Anchor Tag</a:t>
                      </a:r>
                    </a:p>
                  </a:txBody>
                  <a:tcPr marL="6350" marR="6350" marT="6350" marB="0" anchor="b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000" b="0" i="0" u="none" strike="noStrike">
                          <a:effectLst/>
                          <a:latin typeface="Arial" panose="020B0604020202020204" pitchFamily="34" charset="0"/>
                        </a:rPr>
                        <a:t>Issue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0" i="0" u="none" strike="noStrike" dirty="0">
                          <a:effectLst/>
                          <a:latin typeface="Arial" panose="020B0604020202020204" pitchFamily="34" charset="0"/>
                        </a:rPr>
                        <a:t>High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08940739"/>
                  </a:ext>
                </a:extLst>
              </a:tr>
              <a:tr h="307733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000" b="0" i="0" u="none" strike="noStrike">
                          <a:effectLst/>
                          <a:latin typeface="Arial" panose="020B0604020202020204" pitchFamily="34" charset="0"/>
                        </a:rPr>
                        <a:t>Response Codes: Internal Blocked by Robots.txt</a:t>
                      </a:r>
                    </a:p>
                  </a:txBody>
                  <a:tcPr marL="6350" marR="6350" marT="6350" marB="0" anchor="b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000" b="0" i="0" u="none" strike="noStrike">
                          <a:effectLst/>
                          <a:latin typeface="Arial" panose="020B0604020202020204" pitchFamily="34" charset="0"/>
                        </a:rPr>
                        <a:t>Warning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0" i="0" u="none" strike="noStrike" dirty="0">
                          <a:effectLst/>
                          <a:latin typeface="Arial" panose="020B0604020202020204" pitchFamily="34" charset="0"/>
                        </a:rPr>
                        <a:t>High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95818180"/>
                  </a:ext>
                </a:extLst>
              </a:tr>
              <a:tr h="307733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000" b="0" i="0" u="none" strike="noStrike">
                          <a:effectLst/>
                          <a:latin typeface="Arial" panose="020B0604020202020204" pitchFamily="34" charset="0"/>
                        </a:rPr>
                        <a:t>Page Titles: Over 561 Pixels</a:t>
                      </a:r>
                    </a:p>
                  </a:txBody>
                  <a:tcPr marL="6350" marR="6350" marT="6350" marB="0" anchor="b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000" b="0" i="0" u="none" strike="noStrike">
                          <a:effectLst/>
                          <a:latin typeface="Arial" panose="020B0604020202020204" pitchFamily="34" charset="0"/>
                        </a:rPr>
                        <a:t>Opportunity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0" i="0" u="none" strike="noStrike" dirty="0">
                          <a:effectLst/>
                          <a:latin typeface="Arial" panose="020B0604020202020204" pitchFamily="34" charset="0"/>
                        </a:rPr>
                        <a:t>Medium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42403266"/>
                  </a:ext>
                </a:extLst>
              </a:tr>
              <a:tr h="307733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000" b="0" i="0" u="none" strike="noStrike">
                          <a:effectLst/>
                          <a:latin typeface="Arial" panose="020B0604020202020204" pitchFamily="34" charset="0"/>
                        </a:rPr>
                        <a:t>Page Titles: Over 60 Characters</a:t>
                      </a:r>
                    </a:p>
                  </a:txBody>
                  <a:tcPr marL="6350" marR="6350" marT="6350" marB="0" anchor="b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000" b="0" i="0" u="none" strike="noStrike">
                          <a:effectLst/>
                          <a:latin typeface="Arial" panose="020B0604020202020204" pitchFamily="34" charset="0"/>
                        </a:rPr>
                        <a:t>Opportunity</a:t>
                      </a:r>
                    </a:p>
                  </a:txBody>
                  <a:tcPr marL="6350" marR="6350" marT="6350" marB="0" anchor="b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0" i="0" u="none" strike="noStrike" dirty="0">
                          <a:effectLst/>
                          <a:latin typeface="Arial" panose="020B0604020202020204" pitchFamily="34" charset="0"/>
                        </a:rPr>
                        <a:t>Medium</a:t>
                      </a:r>
                    </a:p>
                  </a:txBody>
                  <a:tcPr marL="6350" marR="6350" marT="6350" marB="0" anchor="b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07733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000" b="0" i="0" u="none" strike="noStrike">
                          <a:effectLst/>
                          <a:latin typeface="Arial" panose="020B0604020202020204" pitchFamily="34" charset="0"/>
                        </a:rPr>
                        <a:t>Response Codes: Internal No Response</a:t>
                      </a:r>
                    </a:p>
                  </a:txBody>
                  <a:tcPr marL="6350" marR="6350" marT="6350" marB="0" anchor="b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000" b="0" i="0" u="none" strike="noStrike">
                          <a:effectLst/>
                          <a:latin typeface="Arial" panose="020B0604020202020204" pitchFamily="34" charset="0"/>
                        </a:rPr>
                        <a:t>Issue</a:t>
                      </a:r>
                    </a:p>
                  </a:txBody>
                  <a:tcPr marL="6350" marR="6350" marT="6350" marB="0" anchor="b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0" i="0" u="none" strike="noStrike" dirty="0">
                          <a:effectLst/>
                          <a:latin typeface="Arial" panose="020B0604020202020204" pitchFamily="34" charset="0"/>
                        </a:rPr>
                        <a:t>High</a:t>
                      </a:r>
                    </a:p>
                  </a:txBody>
                  <a:tcPr marL="6350" marR="6350" marT="6350" marB="0" anchor="b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07733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000" b="0" i="0" u="none" strike="noStrike">
                          <a:effectLst/>
                          <a:latin typeface="Arial" panose="020B0604020202020204" pitchFamily="34" charset="0"/>
                        </a:rPr>
                        <a:t>Page Titles: Below 30 Characters</a:t>
                      </a:r>
                    </a:p>
                  </a:txBody>
                  <a:tcPr marL="6350" marR="6350" marT="6350" marB="0" anchor="b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000" b="0" i="0" u="none" strike="noStrike" dirty="0">
                          <a:effectLst/>
                          <a:latin typeface="Arial" panose="020B0604020202020204" pitchFamily="34" charset="0"/>
                        </a:rPr>
                        <a:t>Opportunity</a:t>
                      </a:r>
                    </a:p>
                  </a:txBody>
                  <a:tcPr marL="6350" marR="6350" marT="6350" marB="0" anchor="b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0" i="0" u="none" strike="noStrike" dirty="0">
                          <a:effectLst/>
                          <a:latin typeface="Arial" panose="020B0604020202020204" pitchFamily="34" charset="0"/>
                        </a:rPr>
                        <a:t>Medium</a:t>
                      </a:r>
                    </a:p>
                  </a:txBody>
                  <a:tcPr marL="6350" marR="6350" marT="6350" marB="0" anchor="b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07733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000" b="0" i="0" u="none" strike="noStrike">
                          <a:effectLst/>
                          <a:latin typeface="Arial" panose="020B0604020202020204" pitchFamily="34" charset="0"/>
                        </a:rPr>
                        <a:t>Canonicals: Non-Indexable Canonical</a:t>
                      </a:r>
                    </a:p>
                  </a:txBody>
                  <a:tcPr marL="6350" marR="6350" marT="6350" marB="0" anchor="b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000" b="0" i="0" u="none" strike="noStrike">
                          <a:effectLst/>
                          <a:latin typeface="Arial" panose="020B0604020202020204" pitchFamily="34" charset="0"/>
                        </a:rPr>
                        <a:t>Issue</a:t>
                      </a:r>
                    </a:p>
                  </a:txBody>
                  <a:tcPr marL="6350" marR="6350" marT="6350" marB="0" anchor="b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0" i="0" u="none" strike="noStrike" dirty="0">
                          <a:effectLst/>
                          <a:latin typeface="Arial" panose="020B0604020202020204" pitchFamily="34" charset="0"/>
                        </a:rPr>
                        <a:t>High</a:t>
                      </a:r>
                    </a:p>
                  </a:txBody>
                  <a:tcPr marL="6350" marR="6350" marT="6350" marB="0" anchor="b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Google Shape;358;p42">
            <a:extLst>
              <a:ext uri="{FF2B5EF4-FFF2-40B4-BE49-F238E27FC236}">
                <a16:creationId xmlns:a16="http://schemas.microsoft.com/office/drawing/2014/main" id="{863BFDA7-09C5-9884-713C-6AE1D96985A2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526167332"/>
              </p:ext>
            </p:extLst>
          </p:nvPr>
        </p:nvGraphicFramePr>
        <p:xfrm>
          <a:off x="180400" y="544939"/>
          <a:ext cx="8783200" cy="2861626"/>
        </p:xfrm>
        <a:graphic>
          <a:graphicData uri="http://schemas.openxmlformats.org/drawingml/2006/table">
            <a:tbl>
              <a:tblPr>
                <a:noFill/>
                <a:tableStyleId>{3059031D-76C1-4A71-AF53-F72BF084CF57}</a:tableStyleId>
              </a:tblPr>
              <a:tblGrid>
                <a:gridCol w="47827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97185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02864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97805"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Issue Name</a:t>
                      </a:r>
                    </a:p>
                  </a:txBody>
                  <a:tcPr marL="6350" marR="6350" marT="6350" marB="0" anchor="ctr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Issue Type</a:t>
                      </a:r>
                    </a:p>
                  </a:txBody>
                  <a:tcPr marL="6350" marR="6350" marT="6350" marB="0" anchor="ctr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Issue Priority</a:t>
                      </a:r>
                    </a:p>
                  </a:txBody>
                  <a:tcPr marL="6350" marR="6350" marT="6350" marB="0" anchor="ctr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969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000" b="0" i="0" u="none" strike="noStrike" dirty="0">
                          <a:effectLst/>
                          <a:latin typeface="Arial" panose="020B0604020202020204" pitchFamily="34" charset="0"/>
                        </a:rPr>
                        <a:t>Schema Mark Up in Product and Blogs pages: Missing</a:t>
                      </a:r>
                    </a:p>
                  </a:txBody>
                  <a:tcPr marL="6350" marR="6350" marT="6350" marB="0" anchor="b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000" b="0" i="0" u="none" strike="noStrike" dirty="0">
                          <a:effectLst/>
                          <a:latin typeface="Arial" panose="020B0604020202020204" pitchFamily="34" charset="0"/>
                        </a:rPr>
                        <a:t>Opportunity</a:t>
                      </a:r>
                    </a:p>
                  </a:txBody>
                  <a:tcPr marL="6350" marR="6350" marT="6350" marB="0" anchor="b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0" i="0" u="none" strike="noStrike" dirty="0">
                          <a:effectLst/>
                          <a:latin typeface="Arial" panose="020B0604020202020204" pitchFamily="34" charset="0"/>
                        </a:rPr>
                        <a:t>Medium</a:t>
                      </a:r>
                    </a:p>
                  </a:txBody>
                  <a:tcPr marL="6350" marR="6350" marT="6350" marB="0" anchor="ctr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07733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050" b="0" i="0" u="none" strike="noStrike" cap="none" dirty="0">
                          <a:solidFill>
                            <a:srgbClr val="000000"/>
                          </a:solidFill>
                          <a:effectLst/>
                          <a:latin typeface="Arial"/>
                          <a:ea typeface="Arial"/>
                          <a:cs typeface="Arial"/>
                          <a:sym typeface="Arial"/>
                        </a:rPr>
                        <a:t>Domain Authority Issues: lacking authoritative backlink profile</a:t>
                      </a:r>
                      <a:endParaRPr lang="en-US" sz="7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350" marR="6350" marT="6350" marB="0" anchor="b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000" b="0" i="0" u="none" strike="noStrike" dirty="0">
                          <a:effectLst/>
                          <a:latin typeface="Arial" panose="020B0604020202020204" pitchFamily="34" charset="0"/>
                        </a:rPr>
                        <a:t>Issue</a:t>
                      </a:r>
                    </a:p>
                  </a:txBody>
                  <a:tcPr marL="6350" marR="6350" marT="6350" marB="0" anchor="b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0" i="0" u="none" strike="noStrike" dirty="0">
                          <a:effectLst/>
                          <a:latin typeface="Arial" panose="020B0604020202020204" pitchFamily="34" charset="0"/>
                        </a:rPr>
                        <a:t>High</a:t>
                      </a:r>
                    </a:p>
                  </a:txBody>
                  <a:tcPr marL="6350" marR="6350" marT="6350" marB="0" anchor="ctr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07733"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IN" sz="1050" b="0" i="0" u="none" strike="noStrike" cap="none" dirty="0">
                          <a:solidFill>
                            <a:srgbClr val="000000"/>
                          </a:solidFill>
                          <a:effectLst/>
                          <a:latin typeface="Arial"/>
                          <a:ea typeface="Arial"/>
                          <a:cs typeface="Arial"/>
                          <a:sym typeface="Arial"/>
                        </a:rPr>
                        <a:t>Unoptimized meta descriptions across product pages</a:t>
                      </a:r>
                    </a:p>
                  </a:txBody>
                  <a:tcPr marL="6350" marR="6350" marT="6350" marB="0" anchor="b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000" b="0" i="0" u="none" strike="noStrike" dirty="0">
                          <a:effectLst/>
                          <a:latin typeface="Arial" panose="020B0604020202020204" pitchFamily="34" charset="0"/>
                        </a:rPr>
                        <a:t>Warning</a:t>
                      </a:r>
                    </a:p>
                  </a:txBody>
                  <a:tcPr marL="6350" marR="6350" marT="6350" marB="0" anchor="b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0" i="0" u="none" strike="noStrike" dirty="0">
                          <a:effectLst/>
                          <a:latin typeface="Arial" panose="020B0604020202020204" pitchFamily="34" charset="0"/>
                        </a:rPr>
                        <a:t>High</a:t>
                      </a:r>
                    </a:p>
                  </a:txBody>
                  <a:tcPr marL="6350" marR="6350" marT="6350" marB="0" anchor="ctr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07733">
                <a:tc>
                  <a:txBody>
                    <a:bodyPr/>
                    <a:lstStyle/>
                    <a:p>
                      <a:r>
                        <a:rPr lang="en-IN" sz="1050" b="0" i="0" u="none" strike="noStrike" cap="none" dirty="0">
                          <a:solidFill>
                            <a:srgbClr val="000000"/>
                          </a:solidFill>
                          <a:effectLst/>
                          <a:latin typeface="Arial"/>
                          <a:ea typeface="Arial"/>
                          <a:cs typeface="Arial"/>
                          <a:sym typeface="Arial"/>
                        </a:rPr>
                        <a:t>Basic title tag optimization without location targeting</a:t>
                      </a:r>
                    </a:p>
                  </a:txBody>
                  <a:tcPr marL="6350" marR="6350" marT="6350" marB="0" anchor="b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000" b="0" i="0" u="none" strike="noStrike" dirty="0">
                          <a:effectLst/>
                          <a:latin typeface="Arial" panose="020B0604020202020204" pitchFamily="34" charset="0"/>
                        </a:rPr>
                        <a:t>Issue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0" i="0" u="none" strike="noStrike" dirty="0">
                          <a:effectLst/>
                          <a:latin typeface="Arial" panose="020B0604020202020204" pitchFamily="34" charset="0"/>
                        </a:rPr>
                        <a:t>High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47841715"/>
                  </a:ext>
                </a:extLst>
              </a:tr>
              <a:tr h="307733"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IN" sz="1050" b="0" i="0" u="none" strike="noStrike" cap="none" dirty="0">
                          <a:solidFill>
                            <a:srgbClr val="000000"/>
                          </a:solidFill>
                          <a:effectLst/>
                          <a:latin typeface="Arial"/>
                          <a:ea typeface="Arial"/>
                          <a:cs typeface="Arial"/>
                          <a:sym typeface="Arial"/>
                        </a:rPr>
                        <a:t>Minimal blog content for industry leadership</a:t>
                      </a:r>
                    </a:p>
                  </a:txBody>
                  <a:tcPr marL="6350" marR="6350" marT="6350" marB="0" anchor="b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000" b="0" i="0" u="none" strike="noStrike">
                          <a:effectLst/>
                          <a:latin typeface="Arial" panose="020B0604020202020204" pitchFamily="34" charset="0"/>
                        </a:rPr>
                        <a:t>Issue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0" i="0" u="none" strike="noStrike" dirty="0">
                          <a:effectLst/>
                          <a:latin typeface="Arial" panose="020B0604020202020204" pitchFamily="34" charset="0"/>
                        </a:rPr>
                        <a:t>High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08940739"/>
                  </a:ext>
                </a:extLst>
              </a:tr>
              <a:tr h="307733"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IN" sz="1050" b="0" i="0" u="none" strike="noStrike" cap="none">
                          <a:solidFill>
                            <a:srgbClr val="000000"/>
                          </a:solidFill>
                          <a:effectLst/>
                          <a:latin typeface="Arial"/>
                          <a:ea typeface="Arial"/>
                          <a:cs typeface="Arial"/>
                          <a:sym typeface="Arial"/>
                        </a:rPr>
                        <a:t>Lack of furniture buying guides and design inspiration content</a:t>
                      </a:r>
                      <a:endParaRPr lang="en-IN" sz="1050" b="0" i="0" u="none" strike="noStrike" cap="none" dirty="0">
                        <a:solidFill>
                          <a:srgbClr val="000000"/>
                        </a:solidFill>
                        <a:effectLst/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6350" marR="6350" marT="6350" marB="0" anchor="b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000" b="0" i="0" u="none" strike="noStrike" dirty="0">
                          <a:effectLst/>
                          <a:latin typeface="Arial" panose="020B0604020202020204" pitchFamily="34" charset="0"/>
                        </a:rPr>
                        <a:t>Opportunity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0" i="0" u="none" strike="noStrike" dirty="0">
                          <a:effectLst/>
                          <a:latin typeface="Arial" panose="020B0604020202020204" pitchFamily="34" charset="0"/>
                        </a:rPr>
                        <a:t>Medium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95818180"/>
                  </a:ext>
                </a:extLst>
              </a:tr>
              <a:tr h="307733"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IN" sz="1050" b="0" i="0" u="none" strike="noStrike" cap="none" dirty="0">
                          <a:solidFill>
                            <a:srgbClr val="000000"/>
                          </a:solidFill>
                          <a:effectLst/>
                          <a:latin typeface="Arial"/>
                          <a:ea typeface="Arial"/>
                          <a:cs typeface="Arial"/>
                          <a:sym typeface="Arial"/>
                        </a:rPr>
                        <a:t>No verified Google My Business presence</a:t>
                      </a:r>
                    </a:p>
                  </a:txBody>
                  <a:tcPr marL="6350" marR="6350" marT="6350" marB="0" anchor="b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000" b="0" i="0" u="none" strike="noStrike" dirty="0">
                          <a:effectLst/>
                          <a:latin typeface="Arial" panose="020B0604020202020204" pitchFamily="34" charset="0"/>
                        </a:rPr>
                        <a:t>Opportunity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0" i="0" u="none" strike="noStrike" dirty="0">
                          <a:effectLst/>
                          <a:latin typeface="Arial" panose="020B0604020202020204" pitchFamily="34" charset="0"/>
                        </a:rPr>
                        <a:t>Medium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42403266"/>
                  </a:ext>
                </a:extLst>
              </a:tr>
              <a:tr h="307733"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IN" sz="1050" b="0" i="0" u="none" strike="noStrike" cap="none" dirty="0">
                          <a:solidFill>
                            <a:srgbClr val="000000"/>
                          </a:solidFill>
                          <a:effectLst/>
                          <a:latin typeface="Arial"/>
                          <a:ea typeface="Arial"/>
                          <a:cs typeface="Arial"/>
                          <a:sym typeface="Arial"/>
                        </a:rPr>
                        <a:t>Lack of local keyword targeting for regional searches</a:t>
                      </a:r>
                    </a:p>
                  </a:txBody>
                  <a:tcPr marL="6350" marR="6350" marT="6350" marB="0" anchor="b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000" b="0" i="0" u="none" strike="noStrike">
                          <a:effectLst/>
                          <a:latin typeface="Arial" panose="020B0604020202020204" pitchFamily="34" charset="0"/>
                        </a:rPr>
                        <a:t>Opportunity</a:t>
                      </a:r>
                    </a:p>
                  </a:txBody>
                  <a:tcPr marL="6350" marR="6350" marT="6350" marB="0" anchor="b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0" i="0" u="none" strike="noStrike" dirty="0">
                          <a:effectLst/>
                          <a:latin typeface="Arial" panose="020B0604020202020204" pitchFamily="34" charset="0"/>
                        </a:rPr>
                        <a:t>Medium</a:t>
                      </a:r>
                    </a:p>
                  </a:txBody>
                  <a:tcPr marL="6350" marR="6350" marT="6350" marB="0" anchor="ctr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3777082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3" name="Google Shape;363;p43"/>
          <p:cNvSpPr txBox="1">
            <a:spLocks noGrp="1"/>
          </p:cNvSpPr>
          <p:nvPr>
            <p:ph type="title"/>
          </p:nvPr>
        </p:nvSpPr>
        <p:spPr>
          <a:xfrm>
            <a:off x="228600" y="228600"/>
            <a:ext cx="8554612" cy="4616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OFF Page Analysis Overview</a:t>
            </a:r>
            <a:endParaRPr/>
          </a:p>
        </p:txBody>
      </p:sp>
      <p:graphicFrame>
        <p:nvGraphicFramePr>
          <p:cNvPr id="364" name="Google Shape;364;p43"/>
          <p:cNvGraphicFramePr/>
          <p:nvPr>
            <p:extLst>
              <p:ext uri="{D42A27DB-BD31-4B8C-83A1-F6EECF244321}">
                <p14:modId xmlns:p14="http://schemas.microsoft.com/office/powerpoint/2010/main" val="403152048"/>
              </p:ext>
            </p:extLst>
          </p:nvPr>
        </p:nvGraphicFramePr>
        <p:xfrm>
          <a:off x="228600" y="857250"/>
          <a:ext cx="8515325" cy="3760411"/>
        </p:xfrm>
        <a:graphic>
          <a:graphicData uri="http://schemas.openxmlformats.org/drawingml/2006/table">
            <a:tbl>
              <a:tblPr>
                <a:noFill/>
                <a:tableStyleId>{3059031D-76C1-4A71-AF53-F72BF084CF57}</a:tableStyleId>
              </a:tblPr>
              <a:tblGrid>
                <a:gridCol w="32887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40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4861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4945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 b="1" u="none" strike="noStrike" cap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Particulars</a:t>
                      </a:r>
                      <a:endParaRPr sz="12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6750" marR="6750" marT="6750" marB="6750" anchor="ctr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 b="1" u="none" strike="noStrike" cap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Details</a:t>
                      </a:r>
                      <a:endParaRPr sz="12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6750" marR="6750" marT="6750" marB="6750" anchor="ctr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 b="1" u="none" strike="noStrike" cap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Comments</a:t>
                      </a:r>
                      <a:endParaRPr sz="12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6750" marR="6750" marT="6750" marB="6750" anchor="ctr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8212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Total Backlinks</a:t>
                      </a:r>
                      <a:endParaRPr sz="1100"/>
                    </a:p>
                  </a:txBody>
                  <a:tcPr marL="6750" marR="6750" marT="6750" marB="6750" anchor="ctr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 u="none" strike="noStrike" cap="none" dirty="0">
                          <a:latin typeface="Arial"/>
                          <a:ea typeface="Arial"/>
                          <a:cs typeface="Arial"/>
                          <a:sym typeface="Arial"/>
                        </a:rPr>
                        <a:t>380</a:t>
                      </a:r>
                      <a:endParaRPr sz="1100" dirty="0"/>
                    </a:p>
                  </a:txBody>
                  <a:tcPr marL="6750" marR="6750" marT="6750" marB="6750" anchor="ctr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Need to increase the backlink count to establish authority and increase DA</a:t>
                      </a:r>
                      <a:endParaRPr sz="1100"/>
                    </a:p>
                  </a:txBody>
                  <a:tcPr marL="6750" marR="6750" marT="6750" marB="6750" anchor="ctr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1075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Domain Authority (DA) / Authority Score (AS)</a:t>
                      </a:r>
                      <a:endParaRPr sz="1100"/>
                    </a:p>
                  </a:txBody>
                  <a:tcPr marL="6750" marR="6750" marT="6750" marB="6750" anchor="ctr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 u="none" strike="noStrike" cap="none" dirty="0">
                          <a:latin typeface="Arial"/>
                          <a:ea typeface="Arial"/>
                          <a:cs typeface="Arial"/>
                          <a:sym typeface="Arial"/>
                        </a:rPr>
                        <a:t>12 / 12</a:t>
                      </a:r>
                      <a:endParaRPr sz="1100" dirty="0"/>
                    </a:p>
                  </a:txBody>
                  <a:tcPr marL="6750" marR="6750" marT="6750" marB="6750" anchor="ctr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Need to post more blogs and increase backlink count to establish authority and increase DA</a:t>
                      </a:r>
                      <a:endParaRPr sz="1100"/>
                    </a:p>
                  </a:txBody>
                  <a:tcPr marL="6750" marR="6750" marT="6750" marB="6750" anchor="ctr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1435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Referring Domains</a:t>
                      </a:r>
                      <a:endParaRPr sz="1100"/>
                    </a:p>
                  </a:txBody>
                  <a:tcPr marL="6750" marR="6750" marT="6750" marB="6750" anchor="ctr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 u="none" strike="noStrike" cap="none" dirty="0">
                          <a:latin typeface="Arial"/>
                          <a:ea typeface="Arial"/>
                          <a:cs typeface="Arial"/>
                          <a:sym typeface="Arial"/>
                        </a:rPr>
                        <a:t>97</a:t>
                      </a:r>
                      <a:endParaRPr sz="1100" dirty="0"/>
                    </a:p>
                  </a:txBody>
                  <a:tcPr marL="6750" marR="6750" marT="6750" marB="6750" anchor="ctr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Need to increase the referring domains to signal Google that more sites are referring to our website</a:t>
                      </a:r>
                      <a:endParaRPr sz="1100"/>
                    </a:p>
                  </a:txBody>
                  <a:tcPr marL="6750" marR="6750" marT="6750" marB="6750" anchor="ctr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3665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Anchor Text Distribution</a:t>
                      </a:r>
                      <a:endParaRPr sz="1100"/>
                    </a:p>
                  </a:txBody>
                  <a:tcPr marL="6750" marR="6750" marT="6750" marB="6750" anchor="ctr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 u="none" strike="noStrike" cap="none" dirty="0">
                          <a:latin typeface="Arial"/>
                          <a:ea typeface="Arial"/>
                          <a:cs typeface="Arial"/>
                          <a:sym typeface="Arial"/>
                        </a:rPr>
                        <a:t>104</a:t>
                      </a:r>
                      <a:endParaRPr sz="1100" dirty="0"/>
                    </a:p>
                  </a:txBody>
                  <a:tcPr marL="6750" marR="6750" marT="6750" marB="6750" anchor="ctr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To be verified by Lead</a:t>
                      </a:r>
                      <a:endParaRPr sz="1100"/>
                    </a:p>
                  </a:txBody>
                  <a:tcPr marL="6750" marR="6750" marT="6750" marB="6750" anchor="ctr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3007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Toxic Backlinks</a:t>
                      </a:r>
                      <a:endParaRPr sz="1100"/>
                    </a:p>
                  </a:txBody>
                  <a:tcPr marL="6750" marR="6750" marT="6750" marB="6750" anchor="ctr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 u="none" strike="noStrike" cap="none" dirty="0">
                          <a:latin typeface="Arial"/>
                          <a:ea typeface="Arial"/>
                          <a:cs typeface="Arial"/>
                          <a:sym typeface="Arial"/>
                        </a:rPr>
                        <a:t>4</a:t>
                      </a:r>
                      <a:endParaRPr sz="1100" dirty="0"/>
                    </a:p>
                  </a:txBody>
                  <a:tcPr marL="6750" marR="6750" marT="6750" marB="6750" anchor="ctr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N/A</a:t>
                      </a:r>
                      <a:endParaRPr sz="1100"/>
                    </a:p>
                  </a:txBody>
                  <a:tcPr marL="6750" marR="6750" marT="6750" marB="6750" anchor="ctr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7036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Link Diversity</a:t>
                      </a:r>
                      <a:endParaRPr sz="1100"/>
                    </a:p>
                  </a:txBody>
                  <a:tcPr marL="6750" marR="6750" marT="6750" marB="6750" anchor="ctr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 u="none" strike="noStrike" cap="none" dirty="0">
                          <a:latin typeface="Arial"/>
                          <a:ea typeface="Arial"/>
                          <a:cs typeface="Arial"/>
                          <a:sym typeface="Arial"/>
                        </a:rPr>
                        <a:t>Text 80% - 304</a:t>
                      </a:r>
                      <a:endParaRPr sz="1100" dirty="0"/>
                    </a:p>
                    <a:p>
                      <a:pPr marL="0" marR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 u="none" strike="noStrike" cap="none" dirty="0">
                          <a:latin typeface="Arial"/>
                          <a:ea typeface="Arial"/>
                          <a:cs typeface="Arial"/>
                          <a:sym typeface="Arial"/>
                        </a:rPr>
                        <a:t>Image 20% - 76 </a:t>
                      </a:r>
                      <a:endParaRPr sz="1100" dirty="0"/>
                    </a:p>
                    <a:p>
                      <a:pPr marL="0" marR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 u="none" strike="noStrike" cap="none" dirty="0">
                          <a:latin typeface="Arial"/>
                          <a:ea typeface="Arial"/>
                          <a:cs typeface="Arial"/>
                          <a:sym typeface="Arial"/>
                        </a:rPr>
                        <a:t>Frame 0% - 0</a:t>
                      </a:r>
                      <a:endParaRPr sz="1100" dirty="0"/>
                    </a:p>
                    <a:p>
                      <a:pPr marL="0" marR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 u="none" strike="noStrike" cap="none" dirty="0">
                          <a:latin typeface="Arial"/>
                          <a:ea typeface="Arial"/>
                          <a:cs typeface="Arial"/>
                          <a:sym typeface="Arial"/>
                        </a:rPr>
                        <a:t>Form 0% - 0</a:t>
                      </a:r>
                      <a:endParaRPr sz="1100" dirty="0"/>
                    </a:p>
                  </a:txBody>
                  <a:tcPr marL="6750" marR="6750" marT="6750" marB="6750" anchor="ctr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 u="none" strike="noStrike" cap="none" dirty="0">
                          <a:latin typeface="Arial"/>
                          <a:ea typeface="Arial"/>
                          <a:cs typeface="Arial"/>
                          <a:sym typeface="Arial"/>
                        </a:rPr>
                        <a:t>Looks good</a:t>
                      </a:r>
                      <a:endParaRPr sz="1100" dirty="0"/>
                    </a:p>
                  </a:txBody>
                  <a:tcPr marL="6750" marR="6750" marT="6750" marB="6750" anchor="ctr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6875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Do-follow V/s No-follow ratio</a:t>
                      </a:r>
                      <a:endParaRPr sz="1100"/>
                    </a:p>
                  </a:txBody>
                  <a:tcPr marL="6750" marR="6750" marT="6750" marB="6750" anchor="ctr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 u="none" strike="noStrike" cap="none" dirty="0">
                          <a:latin typeface="Arial"/>
                          <a:ea typeface="Arial"/>
                          <a:cs typeface="Arial"/>
                          <a:sym typeface="Arial"/>
                        </a:rPr>
                        <a:t>1.18:1</a:t>
                      </a:r>
                      <a:endParaRPr sz="1100" dirty="0"/>
                    </a:p>
                  </a:txBody>
                  <a:tcPr marL="6750" marR="6750" marT="6750" marB="6750" anchor="ctr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 u="none" strike="noStrike" cap="none" dirty="0">
                          <a:latin typeface="Arial"/>
                          <a:ea typeface="Arial"/>
                          <a:cs typeface="Arial"/>
                          <a:sym typeface="Arial"/>
                        </a:rPr>
                        <a:t>The ratio looks good</a:t>
                      </a:r>
                      <a:endParaRPr sz="1100" dirty="0"/>
                    </a:p>
                  </a:txBody>
                  <a:tcPr marL="6750" marR="6750" marT="6750" marB="6750" anchor="ctr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9" name="Google Shape;369;p44"/>
          <p:cNvSpPr txBox="1">
            <a:spLocks noGrp="1"/>
          </p:cNvSpPr>
          <p:nvPr>
            <p:ph type="title"/>
          </p:nvPr>
        </p:nvSpPr>
        <p:spPr>
          <a:xfrm>
            <a:off x="685800" y="1828800"/>
            <a:ext cx="7772400" cy="10156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6600"/>
              <a:t>Competitor Analysis</a:t>
            </a:r>
            <a:endParaRPr sz="450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4" name="Google Shape;374;p45"/>
          <p:cNvSpPr txBox="1">
            <a:spLocks noGrp="1"/>
          </p:cNvSpPr>
          <p:nvPr>
            <p:ph type="title"/>
          </p:nvPr>
        </p:nvSpPr>
        <p:spPr>
          <a:xfrm>
            <a:off x="457200" y="228600"/>
            <a:ext cx="8172450" cy="5539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Competitor’s</a:t>
            </a:r>
            <a:r>
              <a:rPr lang="en" sz="3600"/>
              <a:t> Analysis – Website </a:t>
            </a:r>
            <a:endParaRPr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C8114DC8-CD2C-4769-9CD6-9A63095F3E6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199" y="840314"/>
            <a:ext cx="8172450" cy="1934691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15065E4B-0D0B-BA8B-1DE8-092ECECA1DD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2848741"/>
            <a:ext cx="2842591" cy="1825956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5095F1CA-9E96-18E9-E185-69BF4C4ADFE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363402" y="2848739"/>
            <a:ext cx="5258274" cy="1825956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1" name="Google Shape;391;p47"/>
          <p:cNvSpPr txBox="1">
            <a:spLocks noGrp="1"/>
          </p:cNvSpPr>
          <p:nvPr>
            <p:ph type="title"/>
          </p:nvPr>
        </p:nvSpPr>
        <p:spPr>
          <a:xfrm>
            <a:off x="342900" y="1657350"/>
            <a:ext cx="8554612" cy="203132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6600"/>
              <a:t>Here’s Our Recommendation</a:t>
            </a:r>
            <a:endParaRPr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6" name="Google Shape;396;p48"/>
          <p:cNvSpPr txBox="1"/>
          <p:nvPr/>
        </p:nvSpPr>
        <p:spPr>
          <a:xfrm>
            <a:off x="650161" y="685800"/>
            <a:ext cx="7914782" cy="32454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5400"/>
              <a:buFont typeface="Arial"/>
              <a:buNone/>
            </a:pPr>
            <a:r>
              <a:rPr lang="en" sz="5400" b="1" i="0" strike="noStrike" cap="none"/>
              <a:t>Search Engine Optimisation</a:t>
            </a:r>
            <a:endParaRPr sz="5400" b="1" i="0" strike="noStrike" cap="none"/>
          </a:p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C000"/>
              </a:buClr>
              <a:buSzPts val="5400"/>
              <a:buFont typeface="Arial"/>
              <a:buNone/>
            </a:pPr>
            <a:r>
              <a:rPr lang="en" sz="5400" b="1">
                <a:solidFill>
                  <a:srgbClr val="FFC000"/>
                </a:solidFill>
              </a:rPr>
              <a:t>Recommendations</a:t>
            </a:r>
            <a:endParaRPr sz="1100"/>
          </a:p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500"/>
              <a:buFont typeface="Arial"/>
              <a:buNone/>
            </a:pPr>
            <a:endParaRPr sz="1500" b="1" i="0" u="sng" strike="noStrike" cap="none">
              <a:solidFill>
                <a:schemeClr val="lt1"/>
              </a:solidFill>
            </a:endParaRPr>
          </a:p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500"/>
              <a:buFont typeface="Arial"/>
              <a:buNone/>
            </a:pPr>
            <a:r>
              <a:rPr lang="en" sz="1500" b="1" i="0" u="sng" strike="noStrike" cap="none"/>
              <a:t>Suggested – No of Keywords – </a:t>
            </a:r>
            <a:r>
              <a:rPr lang="en" sz="2700" b="1" u="sng">
                <a:solidFill>
                  <a:srgbClr val="FFC000"/>
                </a:solidFill>
              </a:rPr>
              <a:t>2</a:t>
            </a:r>
            <a:r>
              <a:rPr lang="en" sz="2700" b="1" i="0" u="sng" strike="noStrike" cap="none">
                <a:solidFill>
                  <a:srgbClr val="FFC000"/>
                </a:solidFill>
              </a:rPr>
              <a:t>5</a:t>
            </a:r>
            <a:r>
              <a:rPr lang="en" sz="2700" b="1" u="sng">
                <a:solidFill>
                  <a:srgbClr val="FFC000"/>
                </a:solidFill>
              </a:rPr>
              <a:t> Keywords</a:t>
            </a:r>
            <a:endParaRPr sz="2700" b="1" u="sng">
              <a:solidFill>
                <a:srgbClr val="FFC000"/>
              </a:solidFill>
            </a:endParaRPr>
          </a:p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C000"/>
              </a:buClr>
              <a:buSzPts val="1500"/>
              <a:buFont typeface="Arial"/>
              <a:buNone/>
            </a:pPr>
            <a:r>
              <a:rPr lang="en" sz="1500" b="1" u="sng">
                <a:solidFill>
                  <a:srgbClr val="FFC000"/>
                </a:solidFill>
              </a:rPr>
              <a:t> </a:t>
            </a:r>
            <a:endParaRPr sz="1500" b="1" i="0" u="sng" strike="noStrike" cap="none">
              <a:solidFill>
                <a:srgbClr val="FFC000"/>
              </a:solidFill>
            </a:endParaRPr>
          </a:p>
          <a:p>
            <a:pPr marL="215900" marR="0" lvl="0" indent="-2159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oto Sans Symbols"/>
              <a:buChar char="✔"/>
            </a:pPr>
            <a:r>
              <a:rPr lang="en" sz="1200" i="0" strike="noStrike" cap="none"/>
              <a:t>Targeting </a:t>
            </a:r>
            <a:r>
              <a:rPr lang="en" sz="1200"/>
              <a:t>2</a:t>
            </a:r>
            <a:r>
              <a:rPr lang="en" sz="1200" i="0" strike="noStrike" cap="none"/>
              <a:t>5 keywords which will further cover a keywords universe of </a:t>
            </a:r>
            <a:r>
              <a:rPr lang="en" sz="1200"/>
              <a:t>200+ contextually. </a:t>
            </a:r>
            <a:endParaRPr sz="1200" i="0" strike="noStrike" cap="none"/>
          </a:p>
          <a:p>
            <a:pPr marL="215900" marR="0" lvl="0" indent="-2159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oto Sans Symbols"/>
              <a:buChar char="✔"/>
            </a:pPr>
            <a:r>
              <a:rPr lang="en" sz="1200"/>
              <a:t>These keywords will be a combination of awareness, navigational &amp; transactional</a:t>
            </a:r>
            <a:endParaRPr sz="1100"/>
          </a:p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200"/>
          </a:p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200" b="1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1" name="Google Shape;401;p49"/>
          <p:cNvSpPr txBox="1"/>
          <p:nvPr/>
        </p:nvSpPr>
        <p:spPr>
          <a:xfrm>
            <a:off x="685801" y="464531"/>
            <a:ext cx="7543800" cy="4223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 b="1">
                <a:solidFill>
                  <a:srgbClr val="FFC000"/>
                </a:solidFill>
                <a:latin typeface="Cambria"/>
                <a:ea typeface="Cambria"/>
                <a:cs typeface="Cambria"/>
                <a:sym typeface="Cambria"/>
              </a:rPr>
              <a:t>Cornerstone SEO Strategy </a:t>
            </a:r>
            <a:endParaRPr sz="1100"/>
          </a:p>
        </p:txBody>
      </p:sp>
      <p:sp>
        <p:nvSpPr>
          <p:cNvPr id="402" name="Google Shape;402;p49"/>
          <p:cNvSpPr txBox="1"/>
          <p:nvPr/>
        </p:nvSpPr>
        <p:spPr>
          <a:xfrm>
            <a:off x="555993" y="1054567"/>
            <a:ext cx="8032014" cy="35163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dirty="0"/>
              <a:t>We will start by conducting a comprehensive SEO audit of the website to identify and address all existing issues.</a:t>
            </a:r>
            <a:br>
              <a:rPr lang="en-IN" dirty="0"/>
            </a:br>
            <a:br>
              <a:rPr lang="en-IN" dirty="0"/>
            </a:br>
            <a:r>
              <a:rPr lang="en-IN" dirty="0"/>
              <a:t>Following this, we will focus on 25 carefully selected keywords to initiate the optimization process.</a:t>
            </a:r>
            <a:br>
              <a:rPr lang="en-IN" dirty="0"/>
            </a:br>
            <a:br>
              <a:rPr lang="en-IN" dirty="0"/>
            </a:br>
            <a:r>
              <a:rPr lang="en-IN" b="1" dirty="0"/>
              <a:t>Our next steps will include:</a:t>
            </a:r>
            <a:br>
              <a:rPr lang="en-IN" dirty="0"/>
            </a:br>
            <a:r>
              <a:rPr lang="en-IN" dirty="0"/>
              <a:t>• Creating a keyword mapping strategy aligned with the most relevant pages on the website.</a:t>
            </a:r>
            <a:br>
              <a:rPr lang="en-IN" dirty="0"/>
            </a:br>
            <a:r>
              <a:rPr lang="en-IN" dirty="0"/>
              <a:t>• Developing high-quality content for off-page relevant to the finalized keywords.</a:t>
            </a:r>
            <a:br>
              <a:rPr lang="en-IN" dirty="0"/>
            </a:br>
            <a:r>
              <a:rPr lang="en-IN" dirty="0"/>
              <a:t>• Improving website speed, specially on desktop performance.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dirty="0"/>
              <a:t>• Start fixing technical errors in the website to improve website health. </a:t>
            </a:r>
            <a:br>
              <a:rPr lang="en-IN" dirty="0"/>
            </a:br>
            <a:r>
              <a:rPr lang="en-IN" dirty="0"/>
              <a:t>• Establishing a strong link-building strategy, prioritizing the acquisition of high-quality do-follow backlinks, as the website currently lacks any.</a:t>
            </a:r>
            <a:br>
              <a:rPr lang="en-IN" dirty="0"/>
            </a:br>
            <a:r>
              <a:rPr lang="en-IN" dirty="0"/>
              <a:t>• Enhancing on-page content across all target pages—including the homepage—to boost user engagement.</a:t>
            </a:r>
            <a:br>
              <a:rPr lang="en-IN" dirty="0"/>
            </a:br>
            <a:r>
              <a:rPr lang="en-IN" dirty="0"/>
              <a:t>• Launching and regularly updating a blog section with engaging, niche-relevant content to attract and retain organic traffic.</a:t>
            </a:r>
            <a:endParaRPr sz="1100" dirty="0">
              <a:latin typeface="Cambria"/>
              <a:ea typeface="Cambria"/>
              <a:cs typeface="Cambria"/>
              <a:sym typeface="Cambria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7" name="Google Shape;407;p50"/>
          <p:cNvSpPr txBox="1">
            <a:spLocks noGrp="1"/>
          </p:cNvSpPr>
          <p:nvPr>
            <p:ph type="title"/>
          </p:nvPr>
        </p:nvSpPr>
        <p:spPr>
          <a:xfrm>
            <a:off x="228600" y="109835"/>
            <a:ext cx="8470106" cy="4616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Keywords Suggestion</a:t>
            </a:r>
            <a:endParaRPr/>
          </a:p>
        </p:txBody>
      </p:sp>
      <p:graphicFrame>
        <p:nvGraphicFramePr>
          <p:cNvPr id="408" name="Google Shape;408;p50"/>
          <p:cNvGraphicFramePr/>
          <p:nvPr>
            <p:extLst>
              <p:ext uri="{D42A27DB-BD31-4B8C-83A1-F6EECF244321}">
                <p14:modId xmlns:p14="http://schemas.microsoft.com/office/powerpoint/2010/main" val="425411403"/>
              </p:ext>
            </p:extLst>
          </p:nvPr>
        </p:nvGraphicFramePr>
        <p:xfrm>
          <a:off x="228600" y="628650"/>
          <a:ext cx="8686775" cy="4030779"/>
        </p:xfrm>
        <a:graphic>
          <a:graphicData uri="http://schemas.openxmlformats.org/drawingml/2006/table">
            <a:tbl>
              <a:tblPr>
                <a:noFill/>
                <a:tableStyleId>{404845F3-DE45-48F2-B2D5-C57CF05E9B26}</a:tableStyleId>
              </a:tblPr>
              <a:tblGrid>
                <a:gridCol w="28760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804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739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432681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32374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24758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 b="1" u="none" strike="noStrike" cap="none" dirty="0"/>
                        <a:t>Keywords</a:t>
                      </a:r>
                      <a:endParaRPr sz="900" b="1" u="none" strike="noStrike" cap="none" dirty="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3650" marR="3650" marT="3650" marB="365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 b="1" u="none" strike="noStrike" cap="none"/>
                        <a:t>Search Volume</a:t>
                      </a:r>
                      <a:endParaRPr sz="900" b="1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3650" marR="3650" marT="3650" marB="365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 b="1" u="none" strike="noStrike" cap="none"/>
                        <a:t>Keyword Difficulty</a:t>
                      </a:r>
                      <a:endParaRPr sz="900" b="1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3650" marR="3650" marT="3650" marB="365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 b="1" u="none" strike="noStrike" cap="none"/>
                        <a:t>Keyword Intent</a:t>
                      </a:r>
                      <a:endParaRPr sz="900" b="1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3650" marR="3650" marT="3650" marB="365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 b="1" u="none" strike="noStrike" cap="none" dirty="0"/>
                        <a:t>Position Type</a:t>
                      </a:r>
                      <a:endParaRPr sz="900" b="1" u="none" strike="noStrike" cap="none" dirty="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3650" marR="3650" marT="3650" marB="365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29892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200" b="0" i="0" u="none" strike="noStrike" dirty="0">
                          <a:effectLst/>
                          <a:latin typeface="Verdana" panose="020B0604030504040204" pitchFamily="34" charset="0"/>
                        </a:rPr>
                        <a:t>modern office table</a:t>
                      </a:r>
                    </a:p>
                  </a:txBody>
                  <a:tcPr marL="6350" marR="6350" marT="6350" marB="0" anchor="b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b="0" i="0" u="none" strike="noStrike" dirty="0">
                          <a:effectLst/>
                          <a:latin typeface="Verdana" panose="020B0604030504040204" pitchFamily="34" charset="0"/>
                        </a:rPr>
                        <a:t>2400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b="0" i="0" u="none" strike="noStrike">
                          <a:effectLst/>
                          <a:latin typeface="Verdana" panose="020B0604030504040204" pitchFamily="34" charset="0"/>
                        </a:rPr>
                        <a:t>15</a:t>
                      </a:r>
                    </a:p>
                  </a:txBody>
                  <a:tcPr marL="6350" marR="6350" marT="6350" marB="0" anchor="b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200" b="0" i="0" u="none" strike="noStrike" dirty="0">
                          <a:effectLst/>
                          <a:latin typeface="Verdana" panose="020B0604030504040204" pitchFamily="34" charset="0"/>
                        </a:rPr>
                        <a:t>Commercial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 b="0" i="0" u="none" strike="noStrike" cap="none" dirty="0">
                          <a:solidFill>
                            <a:srgbClr val="000000"/>
                          </a:solidFill>
                          <a:latin typeface="Verdana" panose="020B0604030504040204" pitchFamily="34" charset="0"/>
                          <a:ea typeface="Verdana" panose="020B0604030504040204" pitchFamily="34" charset="0"/>
                          <a:cs typeface="Arial"/>
                          <a:sym typeface="Arial"/>
                        </a:rPr>
                        <a:t>To be verified by Lead</a:t>
                      </a:r>
                      <a:endParaRPr sz="1200" u="none" strike="noStrike" cap="none" dirty="0"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 marL="19050" marR="19050" marT="19050" marB="19050" anchor="b">
                    <a:lnL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29892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200" b="0" i="0" u="none" strike="noStrike">
                          <a:effectLst/>
                          <a:latin typeface="Verdana" panose="020B0604030504040204" pitchFamily="34" charset="0"/>
                        </a:rPr>
                        <a:t>2 seater sofa for bedroom</a:t>
                      </a:r>
                    </a:p>
                  </a:txBody>
                  <a:tcPr marL="6350" marR="6350" marT="6350" marB="0" anchor="b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b="0" i="0" u="none" strike="noStrike">
                          <a:effectLst/>
                          <a:latin typeface="Verdana" panose="020B0604030504040204" pitchFamily="34" charset="0"/>
                        </a:rPr>
                        <a:t>590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b="0" i="0" u="none" strike="noStrike">
                          <a:effectLst/>
                          <a:latin typeface="Verdana" panose="020B0604030504040204" pitchFamily="34" charset="0"/>
                        </a:rPr>
                        <a:t>18</a:t>
                      </a:r>
                    </a:p>
                  </a:txBody>
                  <a:tcPr marL="6350" marR="6350" marT="6350" marB="0" anchor="b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200" b="0" i="0" u="none" strike="noStrike" dirty="0">
                          <a:effectLst/>
                          <a:latin typeface="Verdana" panose="020B0604030504040204" pitchFamily="34" charset="0"/>
                        </a:rPr>
                        <a:t>Commercial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 b="0" i="0" u="none" strike="noStrike" cap="none" dirty="0">
                          <a:solidFill>
                            <a:srgbClr val="000000"/>
                          </a:solidFill>
                          <a:latin typeface="Verdana" panose="020B0604030504040204" pitchFamily="34" charset="0"/>
                          <a:ea typeface="Verdana" panose="020B0604030504040204" pitchFamily="34" charset="0"/>
                          <a:cs typeface="Arial"/>
                          <a:sym typeface="Arial"/>
                        </a:rPr>
                        <a:t>To be verified by Lead</a:t>
                      </a:r>
                      <a:endParaRPr sz="1200" u="none" strike="noStrike" cap="none" dirty="0"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 marL="19050" marR="19050" marT="19050" marB="19050" anchor="b">
                    <a:lnL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29892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200" b="0" i="0" u="none" strike="noStrike">
                          <a:effectLst/>
                          <a:latin typeface="Verdana" panose="020B0604030504040204" pitchFamily="34" charset="0"/>
                        </a:rPr>
                        <a:t>floor lamps online india</a:t>
                      </a:r>
                    </a:p>
                  </a:txBody>
                  <a:tcPr marL="6350" marR="6350" marT="6350" marB="0" anchor="b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b="0" i="0" u="none" strike="noStrike">
                          <a:effectLst/>
                          <a:latin typeface="Verdana" panose="020B0604030504040204" pitchFamily="34" charset="0"/>
                        </a:rPr>
                        <a:t>320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b="0" i="0" u="none" strike="noStrike">
                          <a:effectLst/>
                          <a:latin typeface="Verdana" panose="020B0604030504040204" pitchFamily="34" charset="0"/>
                        </a:rPr>
                        <a:t>18</a:t>
                      </a:r>
                    </a:p>
                  </a:txBody>
                  <a:tcPr marL="6350" marR="6350" marT="6350" marB="0" anchor="b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200" b="0" i="0" u="none" strike="noStrike">
                          <a:effectLst/>
                          <a:latin typeface="Verdana" panose="020B0604030504040204" pitchFamily="34" charset="0"/>
                        </a:rPr>
                        <a:t>Transactional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 b="0" i="0" u="none" strike="noStrike" cap="none" dirty="0">
                          <a:solidFill>
                            <a:srgbClr val="000000"/>
                          </a:solidFill>
                          <a:latin typeface="Verdana" panose="020B0604030504040204" pitchFamily="34" charset="0"/>
                          <a:ea typeface="Verdana" panose="020B0604030504040204" pitchFamily="34" charset="0"/>
                          <a:cs typeface="Arial"/>
                          <a:sym typeface="Arial"/>
                        </a:rPr>
                        <a:t>To be verified by Lead</a:t>
                      </a:r>
                      <a:endParaRPr sz="1200" u="none" strike="noStrike" cap="none" dirty="0"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 marL="19050" marR="19050" marT="19050" marB="19050" anchor="b">
                    <a:lnL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51037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200" b="0" i="0" u="none" strike="noStrike">
                          <a:effectLst/>
                          <a:latin typeface="Verdana" panose="020B0604030504040204" pitchFamily="34" charset="0"/>
                        </a:rPr>
                        <a:t>3 and 2 seater sofa</a:t>
                      </a:r>
                    </a:p>
                  </a:txBody>
                  <a:tcPr marL="6350" marR="6350" marT="6350" marB="0" anchor="b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b="0" i="0" u="none" strike="noStrike">
                          <a:effectLst/>
                          <a:latin typeface="Verdana" panose="020B0604030504040204" pitchFamily="34" charset="0"/>
                        </a:rPr>
                        <a:t>880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b="0" i="0" u="none" strike="noStrike">
                          <a:effectLst/>
                          <a:latin typeface="Verdana" panose="020B0604030504040204" pitchFamily="34" charset="0"/>
                        </a:rPr>
                        <a:t>15</a:t>
                      </a:r>
                    </a:p>
                  </a:txBody>
                  <a:tcPr marL="6350" marR="6350" marT="6350" marB="0" anchor="b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200" b="0" i="0" u="none" strike="noStrike">
                          <a:effectLst/>
                          <a:latin typeface="Verdana" panose="020B0604030504040204" pitchFamily="34" charset="0"/>
                        </a:rPr>
                        <a:t>Commercial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 b="0" i="0" u="none" strike="noStrike" cap="none" dirty="0">
                          <a:solidFill>
                            <a:srgbClr val="000000"/>
                          </a:solidFill>
                          <a:latin typeface="Verdana" panose="020B0604030504040204" pitchFamily="34" charset="0"/>
                          <a:ea typeface="Verdana" panose="020B0604030504040204" pitchFamily="34" charset="0"/>
                          <a:cs typeface="Arial"/>
                          <a:sym typeface="Arial"/>
                        </a:rPr>
                        <a:t>To be verified by Lead</a:t>
                      </a:r>
                      <a:endParaRPr sz="1200" u="none" strike="noStrike" cap="none" dirty="0"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 marL="19050" marR="19050" marT="19050" marB="19050" anchor="b">
                    <a:lnL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29892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200" b="0" i="0" u="none" strike="noStrike">
                          <a:effectLst/>
                          <a:latin typeface="Verdana" panose="020B0604030504040204" pitchFamily="34" charset="0"/>
                        </a:rPr>
                        <a:t>office table chair</a:t>
                      </a:r>
                    </a:p>
                  </a:txBody>
                  <a:tcPr marL="6350" marR="6350" marT="6350" marB="0" anchor="b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b="0" i="0" u="none" strike="noStrike">
                          <a:effectLst/>
                          <a:latin typeface="Verdana" panose="020B0604030504040204" pitchFamily="34" charset="0"/>
                        </a:rPr>
                        <a:t>9900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b="0" i="0" u="none" strike="noStrike">
                          <a:effectLst/>
                          <a:latin typeface="Verdana" panose="020B0604030504040204" pitchFamily="34" charset="0"/>
                        </a:rPr>
                        <a:t>19</a:t>
                      </a:r>
                    </a:p>
                  </a:txBody>
                  <a:tcPr marL="6350" marR="6350" marT="6350" marB="0" anchor="b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200" b="0" i="0" u="none" strike="noStrike">
                          <a:effectLst/>
                          <a:latin typeface="Verdana" panose="020B0604030504040204" pitchFamily="34" charset="0"/>
                        </a:rPr>
                        <a:t>Commercial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 b="0" i="0" u="none" strike="noStrike" cap="none" dirty="0">
                          <a:solidFill>
                            <a:srgbClr val="000000"/>
                          </a:solidFill>
                          <a:latin typeface="Verdana" panose="020B0604030504040204" pitchFamily="34" charset="0"/>
                          <a:ea typeface="Verdana" panose="020B0604030504040204" pitchFamily="34" charset="0"/>
                          <a:cs typeface="Arial"/>
                          <a:sym typeface="Arial"/>
                        </a:rPr>
                        <a:t>To be verified by Lead</a:t>
                      </a:r>
                      <a:endParaRPr sz="1200" u="none" strike="noStrike" cap="none" dirty="0"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 marL="19050" marR="19050" marT="19050" marB="19050" anchor="b">
                    <a:lnL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06445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200" b="0" i="0" u="none" strike="noStrike">
                          <a:effectLst/>
                          <a:latin typeface="Verdana" panose="020B0604030504040204" pitchFamily="34" charset="0"/>
                        </a:rPr>
                        <a:t>modern coffee table</a:t>
                      </a:r>
                    </a:p>
                  </a:txBody>
                  <a:tcPr marL="6350" marR="6350" marT="6350" marB="0" anchor="b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b="0" i="0" u="none" strike="noStrike">
                          <a:effectLst/>
                          <a:latin typeface="Verdana" panose="020B0604030504040204" pitchFamily="34" charset="0"/>
                        </a:rPr>
                        <a:t>1000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b="0" i="0" u="none" strike="noStrike">
                          <a:effectLst/>
                          <a:latin typeface="Verdana" panose="020B0604030504040204" pitchFamily="34" charset="0"/>
                        </a:rPr>
                        <a:t>19</a:t>
                      </a:r>
                    </a:p>
                  </a:txBody>
                  <a:tcPr marL="6350" marR="6350" marT="6350" marB="0" anchor="b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200" b="0" i="0" u="none" strike="noStrike">
                          <a:effectLst/>
                          <a:latin typeface="Verdana" panose="020B0604030504040204" pitchFamily="34" charset="0"/>
                        </a:rPr>
                        <a:t>Transactional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 b="0" i="0" u="none" strike="noStrike" cap="none" dirty="0">
                          <a:solidFill>
                            <a:srgbClr val="000000"/>
                          </a:solidFill>
                          <a:latin typeface="Verdana" panose="020B0604030504040204" pitchFamily="34" charset="0"/>
                          <a:ea typeface="Verdana" panose="020B0604030504040204" pitchFamily="34" charset="0"/>
                          <a:cs typeface="Arial"/>
                          <a:sym typeface="Arial"/>
                        </a:rPr>
                        <a:t>To be verified by Lead</a:t>
                      </a:r>
                      <a:endParaRPr sz="1200" u="none" strike="noStrike" cap="none" dirty="0"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 marL="19050" marR="19050" marT="19050" marB="19050" anchor="b">
                    <a:lnL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29892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200" b="0" i="0" u="none" strike="noStrike">
                          <a:effectLst/>
                          <a:latin typeface="Verdana" panose="020B0604030504040204" pitchFamily="34" charset="0"/>
                        </a:rPr>
                        <a:t>modern floor lamps</a:t>
                      </a:r>
                    </a:p>
                  </a:txBody>
                  <a:tcPr marL="6350" marR="6350" marT="6350" marB="0" anchor="b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b="0" i="0" u="none" strike="noStrike">
                          <a:effectLst/>
                          <a:latin typeface="Verdana" panose="020B0604030504040204" pitchFamily="34" charset="0"/>
                        </a:rPr>
                        <a:t>480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b="0" i="0" u="none" strike="noStrike">
                          <a:effectLst/>
                          <a:latin typeface="Verdana" panose="020B0604030504040204" pitchFamily="34" charset="0"/>
                        </a:rPr>
                        <a:t>19</a:t>
                      </a:r>
                    </a:p>
                  </a:txBody>
                  <a:tcPr marL="6350" marR="6350" marT="6350" marB="0" anchor="b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200" b="0" i="0" u="none" strike="noStrike">
                          <a:effectLst/>
                          <a:latin typeface="Verdana" panose="020B0604030504040204" pitchFamily="34" charset="0"/>
                        </a:rPr>
                        <a:t>Transactional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 b="0" i="0" u="none" strike="noStrike" cap="none" dirty="0">
                          <a:solidFill>
                            <a:srgbClr val="000000"/>
                          </a:solidFill>
                          <a:latin typeface="Verdana" panose="020B0604030504040204" pitchFamily="34" charset="0"/>
                          <a:ea typeface="Verdana" panose="020B0604030504040204" pitchFamily="34" charset="0"/>
                          <a:cs typeface="Arial"/>
                          <a:sym typeface="Arial"/>
                        </a:rPr>
                        <a:t>To be verified by Lead</a:t>
                      </a:r>
                      <a:endParaRPr sz="1200" u="none" strike="noStrike" cap="none" dirty="0"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 marL="19050" marR="19050" marT="19050" marB="19050" anchor="b">
                    <a:lnL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29892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200" b="0" i="0" u="none" strike="noStrike">
                          <a:effectLst/>
                          <a:latin typeface="Verdana" panose="020B0604030504040204" pitchFamily="34" charset="0"/>
                        </a:rPr>
                        <a:t>2 seater fabric sofa</a:t>
                      </a:r>
                    </a:p>
                  </a:txBody>
                  <a:tcPr marL="6350" marR="6350" marT="6350" marB="0" anchor="b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b="0" i="0" u="none" strike="noStrike">
                          <a:effectLst/>
                          <a:latin typeface="Verdana" panose="020B0604030504040204" pitchFamily="34" charset="0"/>
                        </a:rPr>
                        <a:t>210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b="0" i="0" u="none" strike="noStrike">
                          <a:effectLst/>
                          <a:latin typeface="Verdana" panose="020B0604030504040204" pitchFamily="34" charset="0"/>
                        </a:rPr>
                        <a:t>21</a:t>
                      </a:r>
                    </a:p>
                  </a:txBody>
                  <a:tcPr marL="6350" marR="6350" marT="6350" marB="0" anchor="b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200" b="0" i="0" u="none" strike="noStrike">
                          <a:effectLst/>
                          <a:latin typeface="Verdana" panose="020B0604030504040204" pitchFamily="34" charset="0"/>
                        </a:rPr>
                        <a:t>Commercial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 b="0" i="0" u="none" strike="noStrike" cap="none" dirty="0">
                          <a:solidFill>
                            <a:srgbClr val="000000"/>
                          </a:solidFill>
                          <a:latin typeface="Verdana" panose="020B0604030504040204" pitchFamily="34" charset="0"/>
                          <a:ea typeface="Verdana" panose="020B0604030504040204" pitchFamily="34" charset="0"/>
                          <a:cs typeface="Arial"/>
                          <a:sym typeface="Arial"/>
                        </a:rPr>
                        <a:t>To be verified by Lead</a:t>
                      </a:r>
                      <a:endParaRPr sz="1200" u="none" strike="noStrike" cap="none" dirty="0"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 marL="19050" marR="19050" marT="19050" marB="19050" anchor="b">
                    <a:lnL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54248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200" b="0" i="0" u="none" strike="noStrike">
                          <a:effectLst/>
                          <a:latin typeface="Verdana" panose="020B0604030504040204" pitchFamily="34" charset="0"/>
                        </a:rPr>
                        <a:t>modern 3 seater sofa</a:t>
                      </a:r>
                    </a:p>
                  </a:txBody>
                  <a:tcPr marL="6350" marR="6350" marT="6350" marB="0" anchor="b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b="0" i="0" u="none" strike="noStrike">
                          <a:effectLst/>
                          <a:latin typeface="Verdana" panose="020B0604030504040204" pitchFamily="34" charset="0"/>
                        </a:rPr>
                        <a:t>480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b="0" i="0" u="none" strike="noStrike">
                          <a:effectLst/>
                          <a:latin typeface="Verdana" panose="020B0604030504040204" pitchFamily="34" charset="0"/>
                        </a:rPr>
                        <a:t>21</a:t>
                      </a:r>
                    </a:p>
                  </a:txBody>
                  <a:tcPr marL="6350" marR="6350" marT="6350" marB="0" anchor="b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200" b="0" i="0" u="none" strike="noStrike" dirty="0">
                          <a:effectLst/>
                          <a:latin typeface="Verdana" panose="020B0604030504040204" pitchFamily="34" charset="0"/>
                        </a:rPr>
                        <a:t>Transactional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 b="0" i="0" u="none" strike="noStrike" cap="none" dirty="0">
                          <a:solidFill>
                            <a:srgbClr val="000000"/>
                          </a:solidFill>
                          <a:latin typeface="Verdana" panose="020B0604030504040204" pitchFamily="34" charset="0"/>
                          <a:ea typeface="Verdana" panose="020B0604030504040204" pitchFamily="34" charset="0"/>
                          <a:cs typeface="Arial"/>
                          <a:sym typeface="Arial"/>
                        </a:rPr>
                        <a:t>To be verified by Lead</a:t>
                      </a:r>
                      <a:endParaRPr sz="1200" u="none" strike="noStrike" cap="none" dirty="0"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 marL="19050" marR="19050" marT="19050" marB="19050" anchor="b">
                    <a:lnL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19984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200" b="0" i="0" u="none" strike="noStrike">
                          <a:effectLst/>
                          <a:latin typeface="Verdana" panose="020B0604030504040204" pitchFamily="34" charset="0"/>
                        </a:rPr>
                        <a:t>office furniture sofa</a:t>
                      </a:r>
                    </a:p>
                  </a:txBody>
                  <a:tcPr marL="6350" marR="6350" marT="6350" marB="0" anchor="b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b="0" i="0" u="none" strike="noStrike">
                          <a:effectLst/>
                          <a:latin typeface="Verdana" panose="020B0604030504040204" pitchFamily="34" charset="0"/>
                        </a:rPr>
                        <a:t>140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b="0" i="0" u="none" strike="noStrike">
                          <a:effectLst/>
                          <a:latin typeface="Verdana" panose="020B0604030504040204" pitchFamily="34" charset="0"/>
                        </a:rPr>
                        <a:t>21</a:t>
                      </a:r>
                    </a:p>
                  </a:txBody>
                  <a:tcPr marL="6350" marR="6350" marT="6350" marB="0" anchor="b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200" b="0" i="0" u="none" strike="noStrike">
                          <a:effectLst/>
                          <a:latin typeface="Verdana" panose="020B0604030504040204" pitchFamily="34" charset="0"/>
                        </a:rPr>
                        <a:t>Transactional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 b="0" i="0" u="none" strike="noStrike" cap="none" dirty="0">
                          <a:solidFill>
                            <a:srgbClr val="000000"/>
                          </a:solidFill>
                          <a:latin typeface="Verdana" panose="020B0604030504040204" pitchFamily="34" charset="0"/>
                          <a:ea typeface="Verdana" panose="020B0604030504040204" pitchFamily="34" charset="0"/>
                          <a:cs typeface="Arial"/>
                          <a:sym typeface="Arial"/>
                        </a:rPr>
                        <a:t>To be verified by Lead</a:t>
                      </a:r>
                      <a:endParaRPr sz="1200" u="none" strike="noStrike" cap="none" dirty="0"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 marL="19050" marR="19050" marT="19050" marB="19050" anchor="b">
                    <a:lnL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29892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200" b="0" i="0" u="none" strike="noStrike">
                          <a:effectLst/>
                          <a:latin typeface="Verdana" panose="020B0604030504040204" pitchFamily="34" charset="0"/>
                        </a:rPr>
                        <a:t>office table</a:t>
                      </a:r>
                    </a:p>
                  </a:txBody>
                  <a:tcPr marL="6350" marR="6350" marT="6350" marB="0" anchor="b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b="0" i="0" u="none" strike="noStrike" dirty="0">
                          <a:effectLst/>
                          <a:latin typeface="Verdana" panose="020B0604030504040204" pitchFamily="34" charset="0"/>
                        </a:rPr>
                        <a:t>74000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b="0" i="0" u="none" strike="noStrike">
                          <a:effectLst/>
                          <a:latin typeface="Verdana" panose="020B0604030504040204" pitchFamily="34" charset="0"/>
                        </a:rPr>
                        <a:t>21</a:t>
                      </a:r>
                    </a:p>
                  </a:txBody>
                  <a:tcPr marL="6350" marR="6350" marT="6350" marB="0" anchor="b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200" b="0" i="0" u="none" strike="noStrike">
                          <a:effectLst/>
                          <a:latin typeface="Verdana" panose="020B0604030504040204" pitchFamily="34" charset="0"/>
                        </a:rPr>
                        <a:t>Commercial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 b="0" i="0" u="none" strike="noStrike" cap="none" dirty="0">
                          <a:solidFill>
                            <a:srgbClr val="000000"/>
                          </a:solidFill>
                          <a:latin typeface="Verdana" panose="020B0604030504040204" pitchFamily="34" charset="0"/>
                          <a:ea typeface="Verdana" panose="020B0604030504040204" pitchFamily="34" charset="0"/>
                          <a:cs typeface="Arial"/>
                          <a:sym typeface="Arial"/>
                        </a:rPr>
                        <a:t>To be verified by Lead</a:t>
                      </a:r>
                      <a:endParaRPr sz="1200" u="none" strike="noStrike" cap="none" dirty="0"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 marL="19050" marR="19050" marT="19050" marB="19050" anchor="b">
                    <a:lnL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229892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200" b="0" i="0" u="none" strike="noStrike">
                          <a:effectLst/>
                          <a:latin typeface="Verdana" panose="020B0604030504040204" pitchFamily="34" charset="0"/>
                        </a:rPr>
                        <a:t>table vase</a:t>
                      </a:r>
                    </a:p>
                  </a:txBody>
                  <a:tcPr marL="6350" marR="6350" marT="6350" marB="0" anchor="b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b="0" i="0" u="none" strike="noStrike">
                          <a:effectLst/>
                          <a:latin typeface="Verdana" panose="020B0604030504040204" pitchFamily="34" charset="0"/>
                        </a:rPr>
                        <a:t>590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b="0" i="0" u="none" strike="noStrike">
                          <a:effectLst/>
                          <a:latin typeface="Verdana" panose="020B0604030504040204" pitchFamily="34" charset="0"/>
                        </a:rPr>
                        <a:t>21</a:t>
                      </a:r>
                    </a:p>
                  </a:txBody>
                  <a:tcPr marL="6350" marR="6350" marT="6350" marB="0" anchor="b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200" b="0" i="0" u="none" strike="noStrike" dirty="0">
                          <a:effectLst/>
                          <a:latin typeface="Verdana" panose="020B0604030504040204" pitchFamily="34" charset="0"/>
                        </a:rPr>
                        <a:t>Transactional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 b="0" i="0" u="none" strike="noStrike" cap="none" dirty="0">
                          <a:solidFill>
                            <a:srgbClr val="000000"/>
                          </a:solidFill>
                          <a:latin typeface="Verdana" panose="020B0604030504040204" pitchFamily="34" charset="0"/>
                          <a:ea typeface="Verdana" panose="020B0604030504040204" pitchFamily="34" charset="0"/>
                          <a:cs typeface="Arial"/>
                          <a:sym typeface="Arial"/>
                        </a:rPr>
                        <a:t>To be verified by Lead</a:t>
                      </a:r>
                      <a:endParaRPr sz="1200" u="none" strike="noStrike" cap="none" dirty="0"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 marL="19050" marR="19050" marT="19050" marB="19050" anchor="b">
                    <a:lnL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212689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200" b="0" i="0" u="none" strike="noStrike">
                          <a:effectLst/>
                          <a:latin typeface="Verdana" panose="020B0604030504040204" pitchFamily="34" charset="0"/>
                        </a:rPr>
                        <a:t>3 seater luxury sofa</a:t>
                      </a:r>
                    </a:p>
                  </a:txBody>
                  <a:tcPr marL="6350" marR="6350" marT="6350" marB="0" anchor="b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b="0" i="0" u="none" strike="noStrike">
                          <a:effectLst/>
                          <a:latin typeface="Verdana" panose="020B0604030504040204" pitchFamily="34" charset="0"/>
                        </a:rPr>
                        <a:t>390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b="0" i="0" u="none" strike="noStrike">
                          <a:effectLst/>
                          <a:latin typeface="Verdana" panose="020B0604030504040204" pitchFamily="34" charset="0"/>
                        </a:rPr>
                        <a:t>22</a:t>
                      </a:r>
                    </a:p>
                  </a:txBody>
                  <a:tcPr marL="6350" marR="6350" marT="6350" marB="0" anchor="b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200" b="0" i="0" u="none" strike="noStrike" dirty="0">
                          <a:effectLst/>
                          <a:latin typeface="Verdana" panose="020B0604030504040204" pitchFamily="34" charset="0"/>
                        </a:rPr>
                        <a:t>Transactional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 b="0" i="0" u="none" strike="noStrike" cap="none" dirty="0">
                          <a:solidFill>
                            <a:srgbClr val="000000"/>
                          </a:solidFill>
                          <a:latin typeface="Verdana" panose="020B0604030504040204" pitchFamily="34" charset="0"/>
                          <a:ea typeface="Verdana" panose="020B0604030504040204" pitchFamily="34" charset="0"/>
                          <a:cs typeface="Arial"/>
                          <a:sym typeface="Arial"/>
                        </a:rPr>
                        <a:t>To be verified by Lead</a:t>
                      </a:r>
                      <a:endParaRPr sz="1200" u="none" strike="noStrike" cap="none" dirty="0"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 marL="19050" marR="19050" marT="19050" marB="19050" anchor="b">
                    <a:lnL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229892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200" b="0" i="0" u="none" strike="noStrike">
                          <a:effectLst/>
                          <a:latin typeface="Verdana" panose="020B0604030504040204" pitchFamily="34" charset="0"/>
                        </a:rPr>
                        <a:t>lighting floor lamps</a:t>
                      </a:r>
                    </a:p>
                  </a:txBody>
                  <a:tcPr marL="6350" marR="6350" marT="6350" marB="0" anchor="b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b="0" i="0" u="none" strike="noStrike">
                          <a:effectLst/>
                          <a:latin typeface="Verdana" panose="020B0604030504040204" pitchFamily="34" charset="0"/>
                        </a:rPr>
                        <a:t>320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b="0" i="0" u="none" strike="noStrike">
                          <a:effectLst/>
                          <a:latin typeface="Verdana" panose="020B0604030504040204" pitchFamily="34" charset="0"/>
                        </a:rPr>
                        <a:t>22</a:t>
                      </a:r>
                    </a:p>
                  </a:txBody>
                  <a:tcPr marL="6350" marR="6350" marT="6350" marB="0" anchor="b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200" b="0" i="0" u="none" strike="noStrike">
                          <a:effectLst/>
                          <a:latin typeface="Verdana" panose="020B0604030504040204" pitchFamily="34" charset="0"/>
                        </a:rPr>
                        <a:t>Transactional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 b="0" i="0" u="none" strike="noStrike" cap="none" dirty="0">
                          <a:solidFill>
                            <a:srgbClr val="000000"/>
                          </a:solidFill>
                          <a:latin typeface="Verdana" panose="020B0604030504040204" pitchFamily="34" charset="0"/>
                          <a:ea typeface="Verdana" panose="020B0604030504040204" pitchFamily="34" charset="0"/>
                          <a:cs typeface="Arial"/>
                          <a:sym typeface="Arial"/>
                        </a:rPr>
                        <a:t>To be verified by Lead</a:t>
                      </a:r>
                      <a:endParaRPr sz="1200" u="none" strike="noStrike" cap="none" dirty="0"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 marL="19050" marR="19050" marT="19050" marB="19050" anchor="b">
                    <a:lnL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229892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200" b="0" i="0" u="none" strike="noStrike">
                          <a:effectLst/>
                          <a:latin typeface="Verdana" panose="020B0604030504040204" pitchFamily="34" charset="0"/>
                        </a:rPr>
                        <a:t>arm chair online</a:t>
                      </a:r>
                    </a:p>
                  </a:txBody>
                  <a:tcPr marL="6350" marR="6350" marT="6350" marB="0" anchor="b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b="0" i="0" u="none" strike="noStrike">
                          <a:effectLst/>
                          <a:latin typeface="Verdana" panose="020B0604030504040204" pitchFamily="34" charset="0"/>
                        </a:rPr>
                        <a:t>320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b="0" i="0" u="none" strike="noStrike">
                          <a:effectLst/>
                          <a:latin typeface="Verdana" panose="020B0604030504040204" pitchFamily="34" charset="0"/>
                        </a:rPr>
                        <a:t>22</a:t>
                      </a:r>
                    </a:p>
                  </a:txBody>
                  <a:tcPr marL="6350" marR="6350" marT="6350" marB="0" anchor="b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200" b="0" i="0" u="none" strike="noStrike">
                          <a:effectLst/>
                          <a:latin typeface="Verdana" panose="020B0604030504040204" pitchFamily="34" charset="0"/>
                        </a:rPr>
                        <a:t>Commercial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 b="0" i="0" u="none" strike="noStrike" cap="none" dirty="0">
                          <a:solidFill>
                            <a:srgbClr val="000000"/>
                          </a:solidFill>
                          <a:latin typeface="Verdana" panose="020B0604030504040204" pitchFamily="34" charset="0"/>
                          <a:ea typeface="Verdana" panose="020B0604030504040204" pitchFamily="34" charset="0"/>
                          <a:cs typeface="Arial"/>
                          <a:sym typeface="Arial"/>
                        </a:rPr>
                        <a:t>To be verified by Lead</a:t>
                      </a:r>
                      <a:endParaRPr sz="1200" u="none" strike="noStrike" cap="none" dirty="0"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 marL="19050" marR="19050" marT="19050" marB="19050" anchor="b">
                    <a:lnL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  <a:tr h="238876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200" b="0" i="0" u="none" strike="noStrike" dirty="0">
                          <a:effectLst/>
                          <a:latin typeface="Verdana" panose="020B0604030504040204" pitchFamily="34" charset="0"/>
                        </a:rPr>
                        <a:t>office table and chair</a:t>
                      </a:r>
                    </a:p>
                  </a:txBody>
                  <a:tcPr marL="6350" marR="6350" marT="6350" marB="0" anchor="b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b="0" i="0" u="none" strike="noStrike">
                          <a:effectLst/>
                          <a:latin typeface="Verdana" panose="020B0604030504040204" pitchFamily="34" charset="0"/>
                        </a:rPr>
                        <a:t>9900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b="0" i="0" u="none" strike="noStrike" dirty="0">
                          <a:effectLst/>
                          <a:latin typeface="Verdana" panose="020B0604030504040204" pitchFamily="34" charset="0"/>
                        </a:rPr>
                        <a:t>23</a:t>
                      </a:r>
                    </a:p>
                  </a:txBody>
                  <a:tcPr marL="6350" marR="6350" marT="6350" marB="0" anchor="b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200" b="0" i="0" u="none" strike="noStrike" dirty="0">
                          <a:effectLst/>
                          <a:latin typeface="Verdana" panose="020B0604030504040204" pitchFamily="34" charset="0"/>
                        </a:rPr>
                        <a:t>Commercial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 b="0" i="0" u="none" strike="noStrike" cap="none" dirty="0">
                          <a:solidFill>
                            <a:srgbClr val="000000"/>
                          </a:solidFill>
                          <a:latin typeface="Verdana" panose="020B0604030504040204" pitchFamily="34" charset="0"/>
                          <a:ea typeface="Verdana" panose="020B0604030504040204" pitchFamily="34" charset="0"/>
                          <a:cs typeface="Arial"/>
                          <a:sym typeface="Arial"/>
                        </a:rPr>
                        <a:t>To be verified by Lead</a:t>
                      </a:r>
                      <a:endParaRPr sz="1200" u="none" strike="noStrike" cap="none" dirty="0"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 marL="19050" marR="19050" marT="19050" marB="19050" anchor="b">
                    <a:lnL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6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06">
          <a:extLst>
            <a:ext uri="{FF2B5EF4-FFF2-40B4-BE49-F238E27FC236}">
              <a16:creationId xmlns:a16="http://schemas.microsoft.com/office/drawing/2014/main" id="{8EFAD6DB-D552-23C8-A511-2ABA3F05F3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7" name="Google Shape;407;p50">
            <a:extLst>
              <a:ext uri="{FF2B5EF4-FFF2-40B4-BE49-F238E27FC236}">
                <a16:creationId xmlns:a16="http://schemas.microsoft.com/office/drawing/2014/main" id="{B152522F-3A52-E217-7F73-E1DD263190AB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28600" y="109835"/>
            <a:ext cx="8470106" cy="4616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Keywords Suggestion</a:t>
            </a:r>
            <a:endParaRPr/>
          </a:p>
        </p:txBody>
      </p:sp>
      <p:graphicFrame>
        <p:nvGraphicFramePr>
          <p:cNvPr id="408" name="Google Shape;408;p50">
            <a:extLst>
              <a:ext uri="{FF2B5EF4-FFF2-40B4-BE49-F238E27FC236}">
                <a16:creationId xmlns:a16="http://schemas.microsoft.com/office/drawing/2014/main" id="{A72AEBD3-9473-04E8-E533-E56F6FEB6730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632977406"/>
              </p:ext>
            </p:extLst>
          </p:nvPr>
        </p:nvGraphicFramePr>
        <p:xfrm>
          <a:off x="228600" y="628650"/>
          <a:ext cx="8686775" cy="2318027"/>
        </p:xfrm>
        <a:graphic>
          <a:graphicData uri="http://schemas.openxmlformats.org/drawingml/2006/table">
            <a:tbl>
              <a:tblPr>
                <a:noFill/>
                <a:tableStyleId>{404845F3-DE45-48F2-B2D5-C57CF05E9B26}</a:tableStyleId>
              </a:tblPr>
              <a:tblGrid>
                <a:gridCol w="28760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804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739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432681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32374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06702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 b="1" u="none" strike="noStrike" cap="none" dirty="0"/>
                        <a:t>Keywords</a:t>
                      </a:r>
                      <a:endParaRPr sz="900" b="1" u="none" strike="noStrike" cap="none" dirty="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3650" marR="3650" marT="3650" marB="365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 b="1" u="none" strike="noStrike" cap="none"/>
                        <a:t>Search Volume</a:t>
                      </a:r>
                      <a:endParaRPr sz="900" b="1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3650" marR="3650" marT="3650" marB="365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 b="1" u="none" strike="noStrike" cap="none"/>
                        <a:t>Keyword Difficulty</a:t>
                      </a:r>
                      <a:endParaRPr sz="900" b="1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3650" marR="3650" marT="3650" marB="365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 b="1" u="none" strike="noStrike" cap="none"/>
                        <a:t>Keyword Intent</a:t>
                      </a:r>
                      <a:endParaRPr sz="900" b="1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3650" marR="3650" marT="3650" marB="365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 b="1" u="none" strike="noStrike" cap="none" dirty="0"/>
                        <a:t>Position Type</a:t>
                      </a:r>
                      <a:endParaRPr sz="900" b="1" u="none" strike="noStrike" cap="none" dirty="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3650" marR="3650" marT="3650" marB="365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17111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200" b="0" i="0" u="none" strike="noStrike" dirty="0">
                          <a:effectLst/>
                          <a:latin typeface="Verdana" panose="020B0604030504040204" pitchFamily="34" charset="0"/>
                        </a:rPr>
                        <a:t>modern coffee table India</a:t>
                      </a:r>
                    </a:p>
                  </a:txBody>
                  <a:tcPr marL="6350" marR="6350" marT="6350" marB="0" anchor="b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b="0" i="0" u="none" strike="noStrike" dirty="0">
                          <a:effectLst/>
                          <a:latin typeface="Verdana" panose="020B0604030504040204" pitchFamily="34" charset="0"/>
                        </a:rPr>
                        <a:t>210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b="0" i="0" u="none" strike="noStrike">
                          <a:effectLst/>
                          <a:latin typeface="Verdana" panose="020B0604030504040204" pitchFamily="34" charset="0"/>
                        </a:rPr>
                        <a:t>23</a:t>
                      </a:r>
                    </a:p>
                  </a:txBody>
                  <a:tcPr marL="6350" marR="6350" marT="6350" marB="0" anchor="b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b="0" i="0" u="none" strike="noStrike" dirty="0">
                          <a:effectLst/>
                          <a:latin typeface="Verdana" panose="020B0604030504040204" pitchFamily="34" charset="0"/>
                        </a:rPr>
                        <a:t>Transactional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 b="0" i="0" u="none" strike="noStrike" cap="none" dirty="0">
                          <a:solidFill>
                            <a:srgbClr val="000000"/>
                          </a:solidFill>
                          <a:latin typeface="Verdana" panose="020B0604030504040204" pitchFamily="34" charset="0"/>
                          <a:ea typeface="Verdana" panose="020B0604030504040204" pitchFamily="34" charset="0"/>
                          <a:cs typeface="Arial"/>
                          <a:sym typeface="Arial"/>
                        </a:rPr>
                        <a:t>To be verified by Lead</a:t>
                      </a:r>
                      <a:endParaRPr sz="1200" u="none" strike="noStrike" cap="none" dirty="0"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 marL="19050" marR="19050" marT="19050" marB="19050" anchor="b">
                    <a:lnL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17111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200" b="0" i="0" u="none" strike="noStrike">
                          <a:effectLst/>
                          <a:latin typeface="Verdana" panose="020B0604030504040204" pitchFamily="34" charset="0"/>
                        </a:rPr>
                        <a:t>wooden office table</a:t>
                      </a:r>
                    </a:p>
                  </a:txBody>
                  <a:tcPr marL="6350" marR="6350" marT="6350" marB="0" anchor="b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b="0" i="0" u="none" strike="noStrike">
                          <a:effectLst/>
                          <a:latin typeface="Verdana" panose="020B0604030504040204" pitchFamily="34" charset="0"/>
                        </a:rPr>
                        <a:t>2900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b="0" i="0" u="none" strike="noStrike" dirty="0">
                          <a:effectLst/>
                          <a:latin typeface="Verdana" panose="020B0604030504040204" pitchFamily="34" charset="0"/>
                        </a:rPr>
                        <a:t>25</a:t>
                      </a:r>
                    </a:p>
                  </a:txBody>
                  <a:tcPr marL="6350" marR="6350" marT="6350" marB="0" anchor="b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b="0" i="0" u="none" strike="noStrike">
                          <a:effectLst/>
                          <a:latin typeface="Verdana" panose="020B0604030504040204" pitchFamily="34" charset="0"/>
                        </a:rPr>
                        <a:t>Commercial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 b="0" i="0" u="none" strike="noStrike" cap="none" dirty="0">
                          <a:solidFill>
                            <a:srgbClr val="000000"/>
                          </a:solidFill>
                          <a:latin typeface="Verdana" panose="020B0604030504040204" pitchFamily="34" charset="0"/>
                          <a:ea typeface="Verdana" panose="020B0604030504040204" pitchFamily="34" charset="0"/>
                          <a:cs typeface="Arial"/>
                          <a:sym typeface="Arial"/>
                        </a:rPr>
                        <a:t>To be verified by Lead</a:t>
                      </a:r>
                      <a:endParaRPr sz="1200" u="none" strike="noStrike" cap="none" dirty="0"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 marL="19050" marR="19050" marT="19050" marB="19050" anchor="b">
                    <a:lnL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17111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200" b="0" i="0" u="none" strike="noStrike">
                          <a:effectLst/>
                          <a:latin typeface="Verdana" panose="020B0604030504040204" pitchFamily="34" charset="0"/>
                        </a:rPr>
                        <a:t>buy floor lamp</a:t>
                      </a:r>
                    </a:p>
                  </a:txBody>
                  <a:tcPr marL="6350" marR="6350" marT="6350" marB="0" anchor="b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b="0" i="0" u="none" strike="noStrike">
                          <a:effectLst/>
                          <a:latin typeface="Verdana" panose="020B0604030504040204" pitchFamily="34" charset="0"/>
                        </a:rPr>
                        <a:t>260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b="0" i="0" u="none" strike="noStrike">
                          <a:effectLst/>
                          <a:latin typeface="Verdana" panose="020B0604030504040204" pitchFamily="34" charset="0"/>
                        </a:rPr>
                        <a:t>25</a:t>
                      </a:r>
                    </a:p>
                  </a:txBody>
                  <a:tcPr marL="6350" marR="6350" marT="6350" marB="0" anchor="b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b="0" i="0" u="none" strike="noStrike">
                          <a:effectLst/>
                          <a:latin typeface="Verdana" panose="020B0604030504040204" pitchFamily="34" charset="0"/>
                        </a:rPr>
                        <a:t>Transactional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 b="0" i="0" u="none" strike="noStrike" cap="none" dirty="0">
                          <a:solidFill>
                            <a:srgbClr val="000000"/>
                          </a:solidFill>
                          <a:latin typeface="Verdana" panose="020B0604030504040204" pitchFamily="34" charset="0"/>
                          <a:ea typeface="Verdana" panose="020B0604030504040204" pitchFamily="34" charset="0"/>
                          <a:cs typeface="Arial"/>
                          <a:sym typeface="Arial"/>
                        </a:rPr>
                        <a:t>To be verified by Lead</a:t>
                      </a:r>
                      <a:endParaRPr sz="1200" u="none" strike="noStrike" cap="none" dirty="0"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 marL="19050" marR="19050" marT="19050" marB="19050" anchor="b">
                    <a:lnL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3708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200" b="0" i="0" u="none" strike="noStrike">
                          <a:effectLst/>
                          <a:latin typeface="Verdana" panose="020B0604030504040204" pitchFamily="34" charset="0"/>
                        </a:rPr>
                        <a:t>arm chairs</a:t>
                      </a:r>
                    </a:p>
                  </a:txBody>
                  <a:tcPr marL="6350" marR="6350" marT="6350" marB="0" anchor="b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b="0" i="0" u="none" strike="noStrike" dirty="0">
                          <a:effectLst/>
                          <a:latin typeface="Verdana" panose="020B0604030504040204" pitchFamily="34" charset="0"/>
                        </a:rPr>
                        <a:t>880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b="0" i="0" u="none" strike="noStrike" dirty="0">
                          <a:effectLst/>
                          <a:latin typeface="Verdana" panose="020B0604030504040204" pitchFamily="34" charset="0"/>
                        </a:rPr>
                        <a:t>25</a:t>
                      </a:r>
                    </a:p>
                  </a:txBody>
                  <a:tcPr marL="6350" marR="6350" marT="6350" marB="0" anchor="b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b="0" i="0" u="none" strike="noStrike">
                          <a:effectLst/>
                          <a:latin typeface="Verdana" panose="020B0604030504040204" pitchFamily="34" charset="0"/>
                        </a:rPr>
                        <a:t>Transactional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 b="0" i="0" u="none" strike="noStrike" cap="none" dirty="0">
                          <a:solidFill>
                            <a:srgbClr val="000000"/>
                          </a:solidFill>
                          <a:latin typeface="Verdana" panose="020B0604030504040204" pitchFamily="34" charset="0"/>
                          <a:ea typeface="Verdana" panose="020B0604030504040204" pitchFamily="34" charset="0"/>
                          <a:cs typeface="Arial"/>
                          <a:sym typeface="Arial"/>
                        </a:rPr>
                        <a:t>To be verified by Lead</a:t>
                      </a:r>
                      <a:endParaRPr sz="1200" u="none" strike="noStrike" cap="none" dirty="0"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 marL="19050" marR="19050" marT="19050" marB="19050" anchor="b">
                    <a:lnL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17111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200" b="0" i="0" u="none" strike="noStrike">
                          <a:effectLst/>
                          <a:latin typeface="Verdana" panose="020B0604030504040204" pitchFamily="34" charset="0"/>
                        </a:rPr>
                        <a:t>floor lamps for living room modern</a:t>
                      </a:r>
                    </a:p>
                  </a:txBody>
                  <a:tcPr marL="6350" marR="6350" marT="6350" marB="0" anchor="b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b="0" i="0" u="none" strike="noStrike">
                          <a:effectLst/>
                          <a:latin typeface="Verdana" panose="020B0604030504040204" pitchFamily="34" charset="0"/>
                        </a:rPr>
                        <a:t>1300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b="0" i="0" u="none" strike="noStrike">
                          <a:effectLst/>
                          <a:latin typeface="Verdana" panose="020B0604030504040204" pitchFamily="34" charset="0"/>
                        </a:rPr>
                        <a:t>26</a:t>
                      </a:r>
                    </a:p>
                  </a:txBody>
                  <a:tcPr marL="6350" marR="6350" marT="6350" marB="0" anchor="b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b="0" i="0" u="none" strike="noStrike" dirty="0">
                          <a:effectLst/>
                          <a:latin typeface="Verdana" panose="020B0604030504040204" pitchFamily="34" charset="0"/>
                        </a:rPr>
                        <a:t>Transactional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 b="0" i="0" u="none" strike="noStrike" cap="none" dirty="0">
                          <a:solidFill>
                            <a:srgbClr val="000000"/>
                          </a:solidFill>
                          <a:latin typeface="Verdana" panose="020B0604030504040204" pitchFamily="34" charset="0"/>
                          <a:ea typeface="Verdana" panose="020B0604030504040204" pitchFamily="34" charset="0"/>
                          <a:cs typeface="Arial"/>
                          <a:sym typeface="Arial"/>
                        </a:rPr>
                        <a:t>To be verified by Lead</a:t>
                      </a:r>
                      <a:endParaRPr sz="1200" u="none" strike="noStrike" cap="none" dirty="0"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 marL="19050" marR="19050" marT="19050" marB="19050" anchor="b">
                    <a:lnL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94967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200" b="0" i="0" u="none" strike="noStrike">
                          <a:effectLst/>
                          <a:latin typeface="Verdana" panose="020B0604030504040204" pitchFamily="34" charset="0"/>
                        </a:rPr>
                        <a:t>floor lamps online</a:t>
                      </a:r>
                    </a:p>
                  </a:txBody>
                  <a:tcPr marL="6350" marR="6350" marT="6350" marB="0" anchor="b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b="0" i="0" u="none" strike="noStrike">
                          <a:effectLst/>
                          <a:latin typeface="Verdana" panose="020B0604030504040204" pitchFamily="34" charset="0"/>
                        </a:rPr>
                        <a:t>1300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b="0" i="0" u="none" strike="noStrike">
                          <a:effectLst/>
                          <a:latin typeface="Verdana" panose="020B0604030504040204" pitchFamily="34" charset="0"/>
                        </a:rPr>
                        <a:t>27</a:t>
                      </a:r>
                    </a:p>
                  </a:txBody>
                  <a:tcPr marL="6350" marR="6350" marT="6350" marB="0" anchor="b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b="0" i="0" u="none" strike="noStrike" dirty="0">
                          <a:effectLst/>
                          <a:latin typeface="Verdana" panose="020B0604030504040204" pitchFamily="34" charset="0"/>
                        </a:rPr>
                        <a:t>Transactional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 b="0" i="0" u="none" strike="noStrike" cap="none" dirty="0">
                          <a:solidFill>
                            <a:srgbClr val="000000"/>
                          </a:solidFill>
                          <a:latin typeface="Verdana" panose="020B0604030504040204" pitchFamily="34" charset="0"/>
                          <a:ea typeface="Verdana" panose="020B0604030504040204" pitchFamily="34" charset="0"/>
                          <a:cs typeface="Arial"/>
                          <a:sym typeface="Arial"/>
                        </a:rPr>
                        <a:t>To be verified by Lead</a:t>
                      </a:r>
                      <a:endParaRPr sz="1200" u="none" strike="noStrike" cap="none" dirty="0"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 marL="19050" marR="19050" marT="19050" marB="19050" anchor="b">
                    <a:lnL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17111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200" b="0" i="0" u="none" strike="noStrike">
                          <a:effectLst/>
                          <a:latin typeface="Verdana" panose="020B0604030504040204" pitchFamily="34" charset="0"/>
                        </a:rPr>
                        <a:t>leather bed</a:t>
                      </a:r>
                    </a:p>
                  </a:txBody>
                  <a:tcPr marL="6350" marR="6350" marT="6350" marB="0" anchor="b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b="0" i="0" u="none" strike="noStrike">
                          <a:effectLst/>
                          <a:latin typeface="Verdana" panose="020B0604030504040204" pitchFamily="34" charset="0"/>
                        </a:rPr>
                        <a:t>1300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b="0" i="0" u="none" strike="noStrike">
                          <a:effectLst/>
                          <a:latin typeface="Verdana" panose="020B0604030504040204" pitchFamily="34" charset="0"/>
                        </a:rPr>
                        <a:t>27</a:t>
                      </a:r>
                    </a:p>
                  </a:txBody>
                  <a:tcPr marL="6350" marR="6350" marT="6350" marB="0" anchor="b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b="0" i="0" u="none" strike="noStrike" dirty="0">
                          <a:effectLst/>
                          <a:latin typeface="Verdana" panose="020B0604030504040204" pitchFamily="34" charset="0"/>
                        </a:rPr>
                        <a:t>Transactional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 b="0" i="0" u="none" strike="noStrike" cap="none" dirty="0">
                          <a:solidFill>
                            <a:srgbClr val="000000"/>
                          </a:solidFill>
                          <a:latin typeface="Verdana" panose="020B0604030504040204" pitchFamily="34" charset="0"/>
                          <a:ea typeface="Verdana" panose="020B0604030504040204" pitchFamily="34" charset="0"/>
                          <a:cs typeface="Arial"/>
                          <a:sym typeface="Arial"/>
                        </a:rPr>
                        <a:t>To be verified by Lead</a:t>
                      </a:r>
                      <a:endParaRPr sz="1200" u="none" strike="noStrike" cap="none" dirty="0"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 marL="19050" marR="19050" marT="19050" marB="19050" anchor="b">
                    <a:lnL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17111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200" b="0" i="0" u="none" strike="noStrike">
                          <a:effectLst/>
                          <a:latin typeface="Verdana" panose="020B0604030504040204" pitchFamily="34" charset="0"/>
                        </a:rPr>
                        <a:t>upholstered bed</a:t>
                      </a:r>
                    </a:p>
                  </a:txBody>
                  <a:tcPr marL="6350" marR="6350" marT="6350" marB="0" anchor="b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b="0" i="0" u="none" strike="noStrike">
                          <a:effectLst/>
                          <a:latin typeface="Verdana" panose="020B0604030504040204" pitchFamily="34" charset="0"/>
                        </a:rPr>
                        <a:t>5400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b="0" i="0" u="none" strike="noStrike">
                          <a:effectLst/>
                          <a:latin typeface="Verdana" panose="020B0604030504040204" pitchFamily="34" charset="0"/>
                        </a:rPr>
                        <a:t>29</a:t>
                      </a:r>
                    </a:p>
                  </a:txBody>
                  <a:tcPr marL="6350" marR="6350" marT="6350" marB="0" anchor="b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b="0" i="0" u="none" strike="noStrike" dirty="0">
                          <a:effectLst/>
                          <a:latin typeface="Verdana" panose="020B0604030504040204" pitchFamily="34" charset="0"/>
                        </a:rPr>
                        <a:t>Informational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 b="0" i="0" u="none" strike="noStrike" cap="none" dirty="0">
                          <a:solidFill>
                            <a:srgbClr val="000000"/>
                          </a:solidFill>
                          <a:latin typeface="Verdana" panose="020B0604030504040204" pitchFamily="34" charset="0"/>
                          <a:ea typeface="Verdana" panose="020B0604030504040204" pitchFamily="34" charset="0"/>
                          <a:cs typeface="Arial"/>
                          <a:sym typeface="Arial"/>
                        </a:rPr>
                        <a:t>To be verified by Lead</a:t>
                      </a:r>
                      <a:endParaRPr sz="1200" u="none" strike="noStrike" cap="none" dirty="0"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 marL="19050" marR="19050" marT="19050" marB="19050" anchor="b">
                    <a:lnL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27385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200" b="0" i="0" u="none" strike="noStrike" dirty="0">
                          <a:effectLst/>
                          <a:latin typeface="Verdana" panose="020B0604030504040204" pitchFamily="34" charset="0"/>
                        </a:rPr>
                        <a:t>stylish coffee table</a:t>
                      </a:r>
                    </a:p>
                  </a:txBody>
                  <a:tcPr marL="6350" marR="6350" marT="6350" marB="0" anchor="b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b="0" i="0" u="none" strike="noStrike">
                          <a:effectLst/>
                          <a:latin typeface="Verdana" panose="020B0604030504040204" pitchFamily="34" charset="0"/>
                        </a:rPr>
                        <a:t>170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b="0" i="0" u="none" strike="noStrike" dirty="0">
                          <a:effectLst/>
                          <a:latin typeface="Verdana" panose="020B0604030504040204" pitchFamily="34" charset="0"/>
                        </a:rPr>
                        <a:t>30</a:t>
                      </a:r>
                    </a:p>
                  </a:txBody>
                  <a:tcPr marL="6350" marR="6350" marT="6350" marB="0" anchor="b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b="0" i="0" u="none" strike="noStrike" dirty="0">
                          <a:effectLst/>
                          <a:latin typeface="Verdana" panose="020B0604030504040204" pitchFamily="34" charset="0"/>
                        </a:rPr>
                        <a:t>Transactional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 b="0" i="0" u="none" strike="noStrike" cap="none" dirty="0">
                          <a:solidFill>
                            <a:srgbClr val="000000"/>
                          </a:solidFill>
                          <a:latin typeface="Verdana" panose="020B0604030504040204" pitchFamily="34" charset="0"/>
                          <a:ea typeface="Verdana" panose="020B0604030504040204" pitchFamily="34" charset="0"/>
                          <a:cs typeface="Arial"/>
                          <a:sym typeface="Arial"/>
                        </a:rPr>
                        <a:t>To be verified by Lead</a:t>
                      </a:r>
                      <a:endParaRPr sz="1200" u="none" strike="noStrike" cap="none" dirty="0"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 marL="19050" marR="19050" marT="19050" marB="19050" anchor="b">
                    <a:lnL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859668980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3" name="Google Shape;413;p51"/>
          <p:cNvSpPr txBox="1">
            <a:spLocks noGrp="1"/>
          </p:cNvSpPr>
          <p:nvPr>
            <p:ph type="title" idx="4294967295"/>
          </p:nvPr>
        </p:nvSpPr>
        <p:spPr>
          <a:xfrm>
            <a:off x="342900" y="285749"/>
            <a:ext cx="3771900" cy="4135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 b="1" i="0" u="sng" strike="noStrike" cap="none">
                <a:solidFill>
                  <a:srgbClr val="FFC000"/>
                </a:solidFill>
                <a:latin typeface="Calibri"/>
                <a:ea typeface="Calibri"/>
                <a:cs typeface="Calibri"/>
                <a:sym typeface="Calibri"/>
              </a:rPr>
              <a:t>Monthly Deliverables </a:t>
            </a:r>
            <a:endParaRPr/>
          </a:p>
        </p:txBody>
      </p:sp>
      <p:sp>
        <p:nvSpPr>
          <p:cNvPr id="414" name="Google Shape;414;p51"/>
          <p:cNvSpPr txBox="1">
            <a:spLocks noGrp="1"/>
          </p:cNvSpPr>
          <p:nvPr>
            <p:ph type="sldNum" idx="4294967295"/>
          </p:nvPr>
        </p:nvSpPr>
        <p:spPr>
          <a:xfrm>
            <a:off x="8556784" y="4749851"/>
            <a:ext cx="548775" cy="393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25400" lvl="0" indent="-2540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27</a:t>
            </a:fld>
            <a:endParaRPr/>
          </a:p>
        </p:txBody>
      </p:sp>
      <p:graphicFrame>
        <p:nvGraphicFramePr>
          <p:cNvPr id="415" name="Google Shape;415;p51"/>
          <p:cNvGraphicFramePr/>
          <p:nvPr/>
        </p:nvGraphicFramePr>
        <p:xfrm>
          <a:off x="342900" y="877140"/>
          <a:ext cx="8575325" cy="3732720"/>
        </p:xfrm>
        <a:graphic>
          <a:graphicData uri="http://schemas.openxmlformats.org/drawingml/2006/table">
            <a:tbl>
              <a:tblPr>
                <a:noFill/>
                <a:tableStyleId>{3059031D-76C1-4A71-AF53-F72BF084CF57}</a:tableStyleId>
              </a:tblPr>
              <a:tblGrid>
                <a:gridCol w="74174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578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59400">
                <a:tc gridSpan="2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400" b="1" i="0" u="none" strike="noStrike" cap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SEO PACKAGE</a:t>
                      </a:r>
                      <a:endParaRPr sz="1100"/>
                    </a:p>
                  </a:txBody>
                  <a:tcPr marL="4400" marR="4400" marT="4400" marB="0" anchor="b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C000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46125">
                <a:tc rowSpan="2"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400" b="0" i="0" u="none" strike="noStrike" cap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Deliverables (Monthly except Research &amp; Analysis which are one time activity)</a:t>
                      </a:r>
                      <a:endParaRPr sz="1100"/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400" b="0" i="0" u="none" strike="noStrike" cap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 </a:t>
                      </a:r>
                      <a:endParaRPr sz="1100"/>
                    </a:p>
                  </a:txBody>
                  <a:tcPr marL="4400" marR="4400" marT="4400" marB="0" anchor="b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 b="0" i="0" u="none" strike="noStrike" cap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Numbers of Keywords</a:t>
                      </a:r>
                      <a:endParaRPr sz="1100"/>
                    </a:p>
                  </a:txBody>
                  <a:tcPr marL="4400" marR="4400" marT="4400" marB="0" anchor="b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24725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 b="0" i="0" u="none" strike="noStrike" cap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25</a:t>
                      </a:r>
                      <a:endParaRPr sz="1100"/>
                    </a:p>
                  </a:txBody>
                  <a:tcPr marL="4400" marR="4400" marT="4400" marB="0" anchor="b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24725">
                <a:tc gridSpan="2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 b="0" i="0" u="none" strike="noStrike" cap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Research &amp; Analysis / SEO set-up</a:t>
                      </a:r>
                      <a:endParaRPr sz="1100"/>
                    </a:p>
                  </a:txBody>
                  <a:tcPr marL="4400" marR="4400" marT="4400" marB="0" anchor="b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C000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2472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 b="0" i="0" u="none" strike="noStrike" cap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On-Page Analysis and Suggestions</a:t>
                      </a:r>
                      <a:endParaRPr sz="1100"/>
                    </a:p>
                  </a:txBody>
                  <a:tcPr marL="4400" marR="4400" marT="4400" marB="0" anchor="b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 b="0" i="0" u="none" strike="noStrike" cap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Yes</a:t>
                      </a:r>
                      <a:endParaRPr sz="1100"/>
                    </a:p>
                  </a:txBody>
                  <a:tcPr marL="4400" marR="4400" marT="4400" marB="0" anchor="b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2472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 b="0" i="0" u="none" strike="noStrike" cap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Back-links Analysis (past link-building activities, disavow)</a:t>
                      </a:r>
                      <a:endParaRPr sz="1100"/>
                    </a:p>
                  </a:txBody>
                  <a:tcPr marL="4400" marR="4400" marT="4400" marB="0" anchor="b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 b="0" i="0" u="none" strike="noStrike" cap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Yes</a:t>
                      </a:r>
                      <a:endParaRPr sz="1100"/>
                    </a:p>
                  </a:txBody>
                  <a:tcPr marL="4400" marR="4400" marT="4400" marB="0" anchor="b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2472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 b="0" i="0" u="none" strike="noStrike" cap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Duplicate Content Analysis</a:t>
                      </a:r>
                      <a:endParaRPr sz="1100"/>
                    </a:p>
                  </a:txBody>
                  <a:tcPr marL="4400" marR="4400" marT="4400" marB="0" anchor="b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 b="0" i="0" u="none" strike="noStrike" cap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Yes</a:t>
                      </a:r>
                      <a:endParaRPr sz="1100"/>
                    </a:p>
                  </a:txBody>
                  <a:tcPr marL="4400" marR="4400" marT="4400" marB="0" anchor="b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12472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 b="0" i="0" u="none" strike="noStrike" cap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Content Analysis for Targeted Keywords</a:t>
                      </a:r>
                      <a:endParaRPr sz="1100"/>
                    </a:p>
                  </a:txBody>
                  <a:tcPr marL="4400" marR="4400" marT="4400" marB="0" anchor="b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 b="0" i="0" u="none" strike="noStrike" cap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Yes</a:t>
                      </a:r>
                      <a:endParaRPr sz="1100"/>
                    </a:p>
                  </a:txBody>
                  <a:tcPr marL="4400" marR="4400" marT="4400" marB="0" anchor="b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12472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 b="0" i="0" u="none" strike="noStrike" cap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Competitor Analysis (As per Justwords Standard Format)</a:t>
                      </a:r>
                      <a:endParaRPr sz="1100"/>
                    </a:p>
                  </a:txBody>
                  <a:tcPr marL="4400" marR="4400" marT="4400" marB="0" anchor="b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 b="0" i="0" u="none" strike="noStrike" cap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Yes</a:t>
                      </a:r>
                      <a:endParaRPr sz="1100"/>
                    </a:p>
                  </a:txBody>
                  <a:tcPr marL="4400" marR="4400" marT="4400" marB="0" anchor="b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12472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 b="0" i="0" u="none" strike="noStrike" cap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Keywords research (One Time at the starting and bi-annually)</a:t>
                      </a:r>
                      <a:endParaRPr sz="1100"/>
                    </a:p>
                  </a:txBody>
                  <a:tcPr marL="4400" marR="4400" marT="4400" marB="0" anchor="b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 b="0" i="0" u="none" strike="noStrike" cap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Yes</a:t>
                      </a:r>
                      <a:endParaRPr sz="1100"/>
                    </a:p>
                  </a:txBody>
                  <a:tcPr marL="4400" marR="4400" marT="4400" marB="0" anchor="b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12472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 b="0" i="0" u="none" strike="noStrike" cap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Website Audit Report (As per Justwords Standard Format)</a:t>
                      </a:r>
                      <a:endParaRPr sz="1100"/>
                    </a:p>
                  </a:txBody>
                  <a:tcPr marL="4400" marR="4400" marT="4400" marB="0" anchor="b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 b="0" i="0" u="none" strike="noStrike" cap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Yes</a:t>
                      </a:r>
                      <a:endParaRPr sz="1100"/>
                    </a:p>
                  </a:txBody>
                  <a:tcPr marL="4400" marR="4400" marT="4400" marB="0" anchor="b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124725">
                <a:tc gridSpan="2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 b="0" i="0" u="none" strike="noStrike" cap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On Page Audit &amp; Optimization</a:t>
                      </a:r>
                      <a:endParaRPr sz="1100"/>
                    </a:p>
                  </a:txBody>
                  <a:tcPr marL="4400" marR="4400" marT="4400" marB="0" anchor="b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C000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12472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 b="0" i="0" u="none" strike="noStrike" cap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Meta Tags Optimization(Title &amp; Description) - max nos of pages per month as per requirement</a:t>
                      </a:r>
                      <a:endParaRPr sz="1100"/>
                    </a:p>
                  </a:txBody>
                  <a:tcPr marL="4400" marR="4400" marT="4400" marB="0" anchor="b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 b="0" i="0" u="none" strike="noStrike" cap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30</a:t>
                      </a:r>
                      <a:endParaRPr sz="1100"/>
                    </a:p>
                  </a:txBody>
                  <a:tcPr marL="4400" marR="4400" marT="4400" marB="0" anchor="b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12472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 b="0" i="0" u="none" strike="noStrike" cap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Content Optimization with headings, keywords &amp; interlinking - max nos. of pages per month as per requirement</a:t>
                      </a:r>
                      <a:endParaRPr sz="1100"/>
                    </a:p>
                  </a:txBody>
                  <a:tcPr marL="4400" marR="4400" marT="4400" marB="0" anchor="b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 b="0" i="0" u="none" strike="noStrike" cap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15</a:t>
                      </a:r>
                      <a:endParaRPr sz="1100"/>
                    </a:p>
                  </a:txBody>
                  <a:tcPr marL="4400" marR="4400" marT="4400" marB="0" anchor="b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12472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 b="0" i="0" u="none" strike="noStrike" cap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Anchor Text Optimization (If required) -- max nos. of pages per month</a:t>
                      </a:r>
                      <a:endParaRPr sz="1100"/>
                    </a:p>
                  </a:txBody>
                  <a:tcPr marL="4400" marR="4400" marT="4400" marB="0" anchor="b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 b="0" i="0" u="none" strike="noStrike" cap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15</a:t>
                      </a:r>
                      <a:endParaRPr sz="1100"/>
                    </a:p>
                  </a:txBody>
                  <a:tcPr marL="4400" marR="4400" marT="4400" marB="0" anchor="b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12472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 b="0" i="0" u="none" strike="noStrike" cap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Heading Tag Optimization - max nos. of pages per month</a:t>
                      </a:r>
                      <a:endParaRPr sz="1100"/>
                    </a:p>
                  </a:txBody>
                  <a:tcPr marL="4400" marR="4400" marT="4400" marB="0" anchor="b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 b="0" i="0" u="none" strike="noStrike" cap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15</a:t>
                      </a:r>
                      <a:endParaRPr sz="1100"/>
                    </a:p>
                  </a:txBody>
                  <a:tcPr marL="4400" marR="4400" marT="4400" marB="0" anchor="b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  <a:tr h="12472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 b="0" i="0" u="none" strike="noStrike" cap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Image Optimization (If Required) - max nos. of images per month</a:t>
                      </a:r>
                      <a:endParaRPr sz="1100"/>
                    </a:p>
                  </a:txBody>
                  <a:tcPr marL="4400" marR="4400" marT="4400" marB="0" anchor="b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 b="0" i="0" u="none" strike="noStrike" cap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15</a:t>
                      </a:r>
                      <a:endParaRPr sz="1100"/>
                    </a:p>
                  </a:txBody>
                  <a:tcPr marL="4400" marR="4400" marT="4400" marB="0" anchor="b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6"/>
                  </a:ext>
                </a:extLst>
              </a:tr>
              <a:tr h="12472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 b="0" i="0" u="none" strike="noStrike" cap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Optimization of Robots.txt &amp; Google Bot Crawl (If Required)</a:t>
                      </a:r>
                      <a:endParaRPr sz="1100"/>
                    </a:p>
                  </a:txBody>
                  <a:tcPr marL="4400" marR="4400" marT="4400" marB="0" anchor="b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 b="0" i="0" u="none" strike="noStrike" cap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Yes</a:t>
                      </a:r>
                      <a:endParaRPr sz="1100"/>
                    </a:p>
                  </a:txBody>
                  <a:tcPr marL="4400" marR="4400" marT="4400" marB="0" anchor="b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7"/>
                  </a:ext>
                </a:extLst>
              </a:tr>
              <a:tr h="12472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 b="0" i="0" u="none" strike="noStrike" cap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Creation and registration of sitemap.xml</a:t>
                      </a:r>
                      <a:endParaRPr sz="1100"/>
                    </a:p>
                  </a:txBody>
                  <a:tcPr marL="4400" marR="4400" marT="4400" marB="0" anchor="b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 b="0" i="0" u="none" strike="noStrike" cap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Yes</a:t>
                      </a:r>
                      <a:endParaRPr sz="1100"/>
                    </a:p>
                  </a:txBody>
                  <a:tcPr marL="4400" marR="4400" marT="4400" marB="0" anchor="b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8"/>
                  </a:ext>
                </a:extLst>
              </a:tr>
              <a:tr h="12472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 b="0" i="0" u="none" strike="noStrike" cap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Google Analytics &amp; Search Console Setup (Goal Set up)</a:t>
                      </a:r>
                      <a:endParaRPr sz="1100"/>
                    </a:p>
                  </a:txBody>
                  <a:tcPr marL="4400" marR="4400" marT="4400" marB="0" anchor="b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 b="0" i="0" u="none" strike="noStrike" cap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Yes</a:t>
                      </a:r>
                      <a:endParaRPr sz="1100"/>
                    </a:p>
                  </a:txBody>
                  <a:tcPr marL="4400" marR="4400" marT="4400" marB="0" anchor="b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9"/>
                  </a:ext>
                </a:extLst>
              </a:tr>
              <a:tr h="12472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 b="0" i="0" u="none" strike="noStrike" cap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Keywords Mapping</a:t>
                      </a:r>
                      <a:endParaRPr sz="1100"/>
                    </a:p>
                  </a:txBody>
                  <a:tcPr marL="4400" marR="4400" marT="4400" marB="0" anchor="b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 b="0" i="0" u="none" strike="noStrike" cap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Yes</a:t>
                      </a:r>
                      <a:endParaRPr sz="1100"/>
                    </a:p>
                  </a:txBody>
                  <a:tcPr marL="4400" marR="4400" marT="4400" marB="0" anchor="b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20"/>
                  </a:ext>
                </a:extLst>
              </a:tr>
              <a:tr h="12472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 b="0" i="0" u="none" strike="noStrike" cap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Sharing of Baseline Analytics Report (Starting point of Traffic/Leads, Keyword Rank, DA/DR, Spam Score, Referring Domain, Backlinks)</a:t>
                      </a:r>
                      <a:endParaRPr sz="1100"/>
                    </a:p>
                  </a:txBody>
                  <a:tcPr marL="4400" marR="4400" marT="4400" marB="0" anchor="b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 b="0" i="0" u="none" strike="noStrike" cap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Yes</a:t>
                      </a:r>
                      <a:endParaRPr sz="1100"/>
                    </a:p>
                  </a:txBody>
                  <a:tcPr marL="4400" marR="4400" marT="4400" marB="0" anchor="b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21"/>
                  </a:ext>
                </a:extLst>
              </a:tr>
              <a:tr h="12472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 b="0" i="0" u="none" strike="noStrike" cap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Website Speed and Page Load Optimization suggestions along with report</a:t>
                      </a:r>
                      <a:endParaRPr sz="1100"/>
                    </a:p>
                  </a:txBody>
                  <a:tcPr marL="4400" marR="4400" marT="4400" marB="0" anchor="b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 b="0" i="0" u="none" strike="noStrike" cap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Yes</a:t>
                      </a:r>
                      <a:endParaRPr sz="1100"/>
                    </a:p>
                  </a:txBody>
                  <a:tcPr marL="4400" marR="4400" marT="4400" marB="0" anchor="b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22"/>
                  </a:ext>
                </a:extLst>
              </a:tr>
              <a:tr h="12472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 b="0" i="0" u="none" strike="noStrike" cap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Mobile Optimization Suggestion along with report</a:t>
                      </a:r>
                      <a:endParaRPr sz="1100"/>
                    </a:p>
                  </a:txBody>
                  <a:tcPr marL="4400" marR="4400" marT="4400" marB="0" anchor="b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 b="0" i="0" u="none" strike="noStrike" cap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Yes</a:t>
                      </a:r>
                      <a:endParaRPr sz="1100"/>
                    </a:p>
                  </a:txBody>
                  <a:tcPr marL="4400" marR="4400" marT="4400" marB="0" anchor="b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23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0" name="Google Shape;420;p52"/>
          <p:cNvSpPr txBox="1">
            <a:spLocks noGrp="1"/>
          </p:cNvSpPr>
          <p:nvPr>
            <p:ph type="sldNum" idx="4294967295"/>
          </p:nvPr>
        </p:nvSpPr>
        <p:spPr>
          <a:xfrm>
            <a:off x="8556784" y="4749851"/>
            <a:ext cx="548775" cy="393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25400" lvl="0" indent="-2540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28</a:t>
            </a:fld>
            <a:endParaRPr/>
          </a:p>
        </p:txBody>
      </p:sp>
      <p:graphicFrame>
        <p:nvGraphicFramePr>
          <p:cNvPr id="421" name="Google Shape;421;p52"/>
          <p:cNvGraphicFramePr/>
          <p:nvPr/>
        </p:nvGraphicFramePr>
        <p:xfrm>
          <a:off x="178130" y="474441"/>
          <a:ext cx="8851550" cy="3983280"/>
        </p:xfrm>
        <a:graphic>
          <a:graphicData uri="http://schemas.openxmlformats.org/drawingml/2006/table">
            <a:tbl>
              <a:tblPr>
                <a:noFill/>
                <a:tableStyleId>{3059031D-76C1-4A71-AF53-F72BF084CF57}</a:tableStyleId>
              </a:tblPr>
              <a:tblGrid>
                <a:gridCol w="75206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309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275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 b="0" i="0" u="none" strike="noStrike" cap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Internal Linking Restructuring &amp; Optimization - max nos. of pages per month</a:t>
                      </a:r>
                      <a:endParaRPr sz="1100"/>
                    </a:p>
                  </a:txBody>
                  <a:tcPr marL="5100" marR="5100" marT="5100" marB="0" anchor="b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 b="0" i="0" u="none" strike="noStrike" cap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15</a:t>
                      </a:r>
                      <a:endParaRPr sz="1100"/>
                    </a:p>
                  </a:txBody>
                  <a:tcPr marL="5100" marR="5100" marT="5100" marB="0" anchor="b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275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 b="0" i="0" u="none" strike="noStrike" cap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Redirection (Check &amp; Implement)</a:t>
                      </a:r>
                      <a:endParaRPr sz="1100"/>
                    </a:p>
                  </a:txBody>
                  <a:tcPr marL="5100" marR="5100" marT="5100" marB="0" anchor="b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 b="0" i="0" u="none" strike="noStrike" cap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Yes</a:t>
                      </a:r>
                      <a:endParaRPr sz="1100"/>
                    </a:p>
                  </a:txBody>
                  <a:tcPr marL="5100" marR="5100" marT="5100" marB="0" anchor="b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275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 b="0" i="0" u="none" strike="noStrike" cap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Canonical Issues (Check &amp; Implement)</a:t>
                      </a:r>
                      <a:endParaRPr sz="1100"/>
                    </a:p>
                  </a:txBody>
                  <a:tcPr marL="5100" marR="5100" marT="5100" marB="0" anchor="b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 b="0" i="0" u="none" strike="noStrike" cap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Yes</a:t>
                      </a:r>
                      <a:endParaRPr sz="1100"/>
                    </a:p>
                  </a:txBody>
                  <a:tcPr marL="5100" marR="5100" marT="5100" marB="0" anchor="b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275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 b="0" i="0" u="none" strike="noStrike" cap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SEO Friendly URL analysis and Rewriting (Check &amp; Implement)</a:t>
                      </a:r>
                      <a:endParaRPr sz="1100"/>
                    </a:p>
                  </a:txBody>
                  <a:tcPr marL="5100" marR="5100" marT="5100" marB="0" anchor="b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 b="0" i="0" u="none" strike="noStrike" cap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Yes</a:t>
                      </a:r>
                      <a:endParaRPr sz="1100"/>
                    </a:p>
                  </a:txBody>
                  <a:tcPr marL="5100" marR="5100" marT="5100" marB="0" anchor="b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275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 b="0" i="0" u="none" strike="noStrike" cap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Breadcrumb Navigation (Analysis &amp; Suggestions)</a:t>
                      </a:r>
                      <a:endParaRPr sz="1100"/>
                    </a:p>
                  </a:txBody>
                  <a:tcPr marL="5100" marR="5100" marT="5100" marB="0" anchor="b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 b="0" i="0" u="none" strike="noStrike" cap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Yes</a:t>
                      </a:r>
                      <a:endParaRPr sz="1100"/>
                    </a:p>
                  </a:txBody>
                  <a:tcPr marL="5100" marR="5100" marT="5100" marB="0" anchor="b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275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 b="0" i="0" u="none" strike="noStrike" cap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Fix W3C Mark-up &amp; CSS Validation Errors (suggestions)</a:t>
                      </a:r>
                      <a:endParaRPr sz="1100"/>
                    </a:p>
                  </a:txBody>
                  <a:tcPr marL="5100" marR="5100" marT="5100" marB="0" anchor="b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 b="0" i="0" u="none" strike="noStrike" cap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Yes</a:t>
                      </a:r>
                      <a:endParaRPr sz="1100"/>
                    </a:p>
                  </a:txBody>
                  <a:tcPr marL="5100" marR="5100" marT="5100" marB="0" anchor="b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275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 b="0" i="0" u="none" strike="noStrike" cap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Server Response code analysis</a:t>
                      </a:r>
                      <a:endParaRPr sz="1100"/>
                    </a:p>
                  </a:txBody>
                  <a:tcPr marL="5100" marR="5100" marT="5100" marB="0" anchor="b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 b="0" i="0" u="none" strike="noStrike" cap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Yes</a:t>
                      </a:r>
                      <a:endParaRPr sz="1100"/>
                    </a:p>
                  </a:txBody>
                  <a:tcPr marL="5100" marR="5100" marT="5100" marB="0" anchor="b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1275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 b="0" i="0" u="none" strike="noStrike" cap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Schema mark-up/Google Data highlights (All important schema) [To be completed maximum within the 1st quarter]</a:t>
                      </a:r>
                      <a:endParaRPr sz="1100"/>
                    </a:p>
                  </a:txBody>
                  <a:tcPr marL="5100" marR="5100" marT="5100" marB="0" anchor="b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 b="0" i="0" u="none" strike="noStrike" cap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Yes</a:t>
                      </a:r>
                      <a:endParaRPr sz="1100"/>
                    </a:p>
                  </a:txBody>
                  <a:tcPr marL="5100" marR="5100" marT="5100" marB="0" anchor="b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1275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 b="0" i="0" u="none" strike="noStrike" cap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Fix Crawl Errors &amp; Broken Links [To be completed maximum within the 1st quarter]</a:t>
                      </a:r>
                      <a:endParaRPr sz="1100"/>
                    </a:p>
                  </a:txBody>
                  <a:tcPr marL="5100" marR="5100" marT="5100" marB="0" anchor="b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 b="0" i="0" u="none" strike="noStrike" cap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Yes</a:t>
                      </a:r>
                      <a:endParaRPr sz="1100"/>
                    </a:p>
                  </a:txBody>
                  <a:tcPr marL="5100" marR="5100" marT="5100" marB="0" anchor="b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1275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 b="0" i="0" u="none" strike="noStrike" cap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Creations of Blog Publishing schedule/Content Calendar</a:t>
                      </a:r>
                      <a:endParaRPr sz="1100"/>
                    </a:p>
                  </a:txBody>
                  <a:tcPr marL="5100" marR="5100" marT="5100" marB="0" anchor="b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 b="0" i="0" u="none" strike="noStrike" cap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Yes</a:t>
                      </a:r>
                      <a:endParaRPr sz="1100"/>
                    </a:p>
                  </a:txBody>
                  <a:tcPr marL="5100" marR="5100" marT="5100" marB="0" anchor="b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118650">
                <a:tc gridSpan="2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 b="0" i="0" u="none" strike="noStrike" cap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Content Research &amp; Development</a:t>
                      </a:r>
                      <a:endParaRPr sz="1100"/>
                    </a:p>
                  </a:txBody>
                  <a:tcPr marL="5100" marR="5100" marT="5100" marB="0" anchor="b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C000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1275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 b="0" i="0" u="none" strike="noStrike" cap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Website Blog Topics Research per month</a:t>
                      </a:r>
                      <a:endParaRPr sz="1100"/>
                    </a:p>
                  </a:txBody>
                  <a:tcPr marL="5100" marR="5100" marT="5100" marB="0" anchor="b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 b="0" i="0" u="none" strike="noStrike" cap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Yes</a:t>
                      </a:r>
                      <a:endParaRPr sz="1100"/>
                    </a:p>
                  </a:txBody>
                  <a:tcPr marL="5100" marR="5100" marT="5100" marB="0" anchor="b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1275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 b="0" i="0" u="none" strike="noStrike" cap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Website Blogs Creation (Will be charged extra based on requirement)</a:t>
                      </a:r>
                      <a:endParaRPr sz="1100"/>
                    </a:p>
                  </a:txBody>
                  <a:tcPr marL="5100" marR="5100" marT="5100" marB="0" anchor="b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 b="0" i="0" u="none" strike="noStrike" cap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Yes</a:t>
                      </a:r>
                      <a:endParaRPr sz="1100"/>
                    </a:p>
                  </a:txBody>
                  <a:tcPr marL="5100" marR="5100" marT="5100" marB="0" anchor="b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1275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 b="0" i="0" u="none" strike="noStrike" cap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Content Creation for Free Guest Post and other Offpage Requirements (Blogs/Articles/Q &amp; A) - Max nos. of content pieces</a:t>
                      </a:r>
                      <a:endParaRPr sz="1100"/>
                    </a:p>
                  </a:txBody>
                  <a:tcPr marL="5100" marR="5100" marT="5100" marB="0" anchor="b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 b="0" i="0" u="none" strike="noStrike" cap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10</a:t>
                      </a:r>
                      <a:endParaRPr sz="1100"/>
                    </a:p>
                  </a:txBody>
                  <a:tcPr marL="5100" marR="5100" marT="5100" marB="0" anchor="b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118650">
                <a:tc gridSpan="2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 b="0" i="0" u="none" strike="noStrike" cap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Off Page (Link Building Activities)</a:t>
                      </a:r>
                      <a:endParaRPr sz="1100"/>
                    </a:p>
                  </a:txBody>
                  <a:tcPr marL="5100" marR="5100" marT="5100" marB="0" anchor="b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C000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1275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 b="0" i="0" u="none" strike="noStrike" cap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Manual Search Engine Submission</a:t>
                      </a:r>
                      <a:endParaRPr sz="1100"/>
                    </a:p>
                  </a:txBody>
                  <a:tcPr marL="5100" marR="5100" marT="5100" marB="0" anchor="b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 b="0" i="0" u="none" strike="noStrike" cap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Yes</a:t>
                      </a:r>
                      <a:endParaRPr sz="1100"/>
                    </a:p>
                  </a:txBody>
                  <a:tcPr marL="5100" marR="5100" marT="5100" marB="0" anchor="b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  <a:tr h="1275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 b="0" i="0" u="none" strike="noStrike" cap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Free Guest Posting (Creation &amp; Distribution) – web 2.0</a:t>
                      </a:r>
                      <a:endParaRPr sz="1100"/>
                    </a:p>
                  </a:txBody>
                  <a:tcPr marL="5100" marR="5100" marT="5100" marB="0" anchor="b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 b="0" i="0" u="none" strike="noStrike" cap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5</a:t>
                      </a:r>
                      <a:endParaRPr sz="1100"/>
                    </a:p>
                  </a:txBody>
                  <a:tcPr marL="5100" marR="5100" marT="5100" marB="0" anchor="b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6"/>
                  </a:ext>
                </a:extLst>
              </a:tr>
              <a:tr h="1275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 b="0" i="0" u="none" strike="noStrike" cap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Article Submission (content creation + distribution) (Offpage)</a:t>
                      </a:r>
                      <a:endParaRPr sz="1100"/>
                    </a:p>
                  </a:txBody>
                  <a:tcPr marL="5100" marR="5100" marT="5100" marB="0" anchor="b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 b="0" i="0" u="none" strike="noStrike" cap="none" dirty="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4</a:t>
                      </a:r>
                      <a:endParaRPr sz="1100" dirty="0"/>
                    </a:p>
                  </a:txBody>
                  <a:tcPr marL="5100" marR="5100" marT="5100" marB="0" anchor="b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7"/>
                  </a:ext>
                </a:extLst>
              </a:tr>
              <a:tr h="1275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 b="0" i="0" u="none" strike="noStrike" cap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Q/A Sites Participation (Quora)</a:t>
                      </a:r>
                      <a:endParaRPr sz="1100"/>
                    </a:p>
                  </a:txBody>
                  <a:tcPr marL="5100" marR="5100" marT="5100" marB="0" anchor="b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 b="0" i="0" u="none" strike="noStrike" cap="none" dirty="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</a:t>
                      </a:r>
                      <a:endParaRPr sz="1100" dirty="0"/>
                    </a:p>
                  </a:txBody>
                  <a:tcPr marL="5100" marR="5100" marT="5100" marB="0" anchor="b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8"/>
                  </a:ext>
                </a:extLst>
              </a:tr>
              <a:tr h="1275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 b="0" i="0" u="none" strike="noStrike" cap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Creation of Accounts in Social Media Platforms for SEO Purpose</a:t>
                      </a:r>
                      <a:endParaRPr sz="1100"/>
                    </a:p>
                  </a:txBody>
                  <a:tcPr marL="5100" marR="5100" marT="5100" marB="0" anchor="b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 b="0" i="0" u="none" strike="noStrike" cap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Yes</a:t>
                      </a:r>
                      <a:endParaRPr sz="1100"/>
                    </a:p>
                  </a:txBody>
                  <a:tcPr marL="5100" marR="5100" marT="5100" marB="0" anchor="b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9"/>
                  </a:ext>
                </a:extLst>
              </a:tr>
              <a:tr h="1275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 b="0" i="0" u="none" strike="noStrike" cap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Suggestion and Execution of Website Blogs &amp; Webpages in Social Media</a:t>
                      </a:r>
                      <a:endParaRPr sz="1100"/>
                    </a:p>
                  </a:txBody>
                  <a:tcPr marL="5100" marR="5100" marT="5100" marB="0" anchor="b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 b="0" i="0" u="none" strike="noStrike" cap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Yes</a:t>
                      </a:r>
                      <a:endParaRPr sz="1100"/>
                    </a:p>
                  </a:txBody>
                  <a:tcPr marL="5100" marR="5100" marT="5100" marB="0" anchor="b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20"/>
                  </a:ext>
                </a:extLst>
              </a:tr>
              <a:tr h="1275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 b="0" i="0" u="none" strike="noStrike" cap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Website Blogs Social Bookmarking/Syndication</a:t>
                      </a:r>
                      <a:endParaRPr sz="1100"/>
                    </a:p>
                  </a:txBody>
                  <a:tcPr marL="5100" marR="5100" marT="5100" marB="0" anchor="b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 b="0" i="0" u="none" strike="noStrike" cap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Yes</a:t>
                      </a:r>
                      <a:endParaRPr sz="1100"/>
                    </a:p>
                  </a:txBody>
                  <a:tcPr marL="5100" marR="5100" marT="5100" marB="0" anchor="b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21"/>
                  </a:ext>
                </a:extLst>
              </a:tr>
              <a:tr h="1275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 b="0" i="0" u="none" strike="noStrike" cap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Business Listing - Max nos.</a:t>
                      </a:r>
                      <a:endParaRPr sz="1100"/>
                    </a:p>
                  </a:txBody>
                  <a:tcPr marL="5100" marR="5100" marT="5100" marB="0" anchor="b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 b="0" i="0" u="none" strike="noStrike" cap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4</a:t>
                      </a:r>
                      <a:endParaRPr sz="1100"/>
                    </a:p>
                  </a:txBody>
                  <a:tcPr marL="5100" marR="5100" marT="5100" marB="0" anchor="b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22"/>
                  </a:ext>
                </a:extLst>
              </a:tr>
              <a:tr h="118650">
                <a:tc gridSpan="2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 b="0" i="0" u="none" strike="noStrike" cap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Analytics Set-up and Reporting</a:t>
                      </a:r>
                      <a:endParaRPr sz="1100"/>
                    </a:p>
                  </a:txBody>
                  <a:tcPr marL="5100" marR="5100" marT="5100" marB="0" anchor="b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C000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23"/>
                  </a:ext>
                </a:extLst>
              </a:tr>
              <a:tr h="1275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 b="0" i="0" u="none" strike="noStrike" cap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Google Analytics Report</a:t>
                      </a:r>
                      <a:endParaRPr sz="1100"/>
                    </a:p>
                  </a:txBody>
                  <a:tcPr marL="5100" marR="5100" marT="5100" marB="0" anchor="b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 b="0" i="0" u="none" strike="noStrike" cap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Yes</a:t>
                      </a:r>
                      <a:endParaRPr sz="1100"/>
                    </a:p>
                  </a:txBody>
                  <a:tcPr marL="5100" marR="5100" marT="5100" marB="0" anchor="b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24"/>
                  </a:ext>
                </a:extLst>
              </a:tr>
              <a:tr h="1275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 b="0" i="0" u="none" strike="noStrike" cap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Google Keywords Ranking Report</a:t>
                      </a:r>
                      <a:endParaRPr sz="1100"/>
                    </a:p>
                  </a:txBody>
                  <a:tcPr marL="5100" marR="5100" marT="5100" marB="0" anchor="b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 b="0" i="0" u="none" strike="noStrike" cap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Yes</a:t>
                      </a:r>
                      <a:endParaRPr sz="1100"/>
                    </a:p>
                  </a:txBody>
                  <a:tcPr marL="5100" marR="5100" marT="5100" marB="0" anchor="b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25"/>
                  </a:ext>
                </a:extLst>
              </a:tr>
              <a:tr h="1275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 b="0" i="0" u="none" strike="noStrike" cap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SEO activity &amp; Back-links Work Report</a:t>
                      </a:r>
                      <a:endParaRPr sz="1100"/>
                    </a:p>
                  </a:txBody>
                  <a:tcPr marL="5100" marR="5100" marT="5100" marB="0" anchor="b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 b="0" i="0" u="none" strike="noStrike" cap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Yes</a:t>
                      </a:r>
                      <a:endParaRPr sz="1100"/>
                    </a:p>
                  </a:txBody>
                  <a:tcPr marL="5100" marR="5100" marT="5100" marB="0" anchor="b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26"/>
                  </a:ext>
                </a:extLst>
              </a:tr>
              <a:tr h="1275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 b="0" i="0" u="none" strike="noStrike" cap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Monthly Consulting (with our SEO expert)</a:t>
                      </a:r>
                      <a:endParaRPr sz="1100"/>
                    </a:p>
                  </a:txBody>
                  <a:tcPr marL="5100" marR="5100" marT="5100" marB="0" anchor="b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 b="0" i="0" u="none" strike="noStrike" cap="none" dirty="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No</a:t>
                      </a:r>
                      <a:endParaRPr sz="1100" dirty="0"/>
                    </a:p>
                  </a:txBody>
                  <a:tcPr marL="5100" marR="5100" marT="5100" marB="0" anchor="b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27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6" name="Google Shape;426;p53"/>
          <p:cNvSpPr txBox="1"/>
          <p:nvPr/>
        </p:nvSpPr>
        <p:spPr>
          <a:xfrm>
            <a:off x="236755" y="368555"/>
            <a:ext cx="8627129" cy="4223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 b="1">
                <a:solidFill>
                  <a:srgbClr val="FFC000"/>
                </a:solidFill>
                <a:latin typeface="Cambria"/>
                <a:ea typeface="Cambria"/>
                <a:cs typeface="Cambria"/>
                <a:sym typeface="Cambria"/>
              </a:rPr>
              <a:t>Tools We Use In Our Project to Bring Success</a:t>
            </a:r>
            <a:endParaRPr sz="1100"/>
          </a:p>
        </p:txBody>
      </p:sp>
      <p:graphicFrame>
        <p:nvGraphicFramePr>
          <p:cNvPr id="427" name="Google Shape;427;p53"/>
          <p:cNvGraphicFramePr/>
          <p:nvPr/>
        </p:nvGraphicFramePr>
        <p:xfrm>
          <a:off x="457200" y="1028700"/>
          <a:ext cx="8343900" cy="3428875"/>
        </p:xfrm>
        <a:graphic>
          <a:graphicData uri="http://schemas.openxmlformats.org/drawingml/2006/table">
            <a:tbl>
              <a:tblPr>
                <a:noFill/>
                <a:tableStyleId>{3059031D-76C1-4A71-AF53-F72BF084CF57}</a:tableStyleId>
              </a:tblPr>
              <a:tblGrid>
                <a:gridCol w="4035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2902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6500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17575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 b="1" i="0" u="none" strike="noStrike" cap="non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sl no</a:t>
                      </a:r>
                      <a:endParaRPr sz="1100"/>
                    </a:p>
                  </a:txBody>
                  <a:tcPr marL="9525" marR="9525" marT="9525" marB="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 b="1" i="0" u="none" strike="noStrike" cap="non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Purpose</a:t>
                      </a:r>
                      <a:endParaRPr sz="1100"/>
                    </a:p>
                  </a:txBody>
                  <a:tcPr marL="9525" marR="9525" marT="9525" marB="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 b="1" i="0" u="none" strike="noStrike" cap="non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Tools</a:t>
                      </a:r>
                      <a:endParaRPr sz="1100"/>
                    </a:p>
                  </a:txBody>
                  <a:tcPr marL="9525" marR="9525" marT="9525" marB="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74325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 b="0" i="0" u="none" strike="noStrike" cap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</a:t>
                      </a:r>
                      <a:endParaRPr sz="1100"/>
                    </a:p>
                  </a:txBody>
                  <a:tcPr marL="9525" marR="9525" marT="9525" marB="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 b="0" i="0" u="none" strike="noStrike" cap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Website Technical Audit</a:t>
                      </a:r>
                      <a:endParaRPr sz="1100"/>
                    </a:p>
                  </a:txBody>
                  <a:tcPr marL="9525" marR="9525" marT="9525" marB="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 b="0" i="0" u="none" strike="noStrike" cap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Screaming Frog, Page Speed Insights, SEMRUSH, Google Search Console, W3C Validator </a:t>
                      </a:r>
                      <a:endParaRPr sz="1100"/>
                    </a:p>
                  </a:txBody>
                  <a:tcPr marL="9525" marR="9525" marT="9525" marB="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74325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 b="0" i="0" u="none" strike="noStrike" cap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</a:t>
                      </a:r>
                      <a:endParaRPr sz="1100"/>
                    </a:p>
                  </a:txBody>
                  <a:tcPr marL="9525" marR="9525" marT="9525" marB="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 b="0" i="0" u="none" strike="noStrike" cap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Website Traffic Analysis &amp; Tracking</a:t>
                      </a:r>
                      <a:endParaRPr sz="1100"/>
                    </a:p>
                  </a:txBody>
                  <a:tcPr marL="9525" marR="9525" marT="9525" marB="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 b="0" i="0" u="none" strike="noStrike" cap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Google Analytics, Google Search Console, Google Tag Manager</a:t>
                      </a:r>
                      <a:endParaRPr sz="1100"/>
                    </a:p>
                  </a:txBody>
                  <a:tcPr marL="9525" marR="9525" marT="9525" marB="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4280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 b="0" i="0" u="none" strike="noStrike" cap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3</a:t>
                      </a:r>
                      <a:endParaRPr sz="1100"/>
                    </a:p>
                  </a:txBody>
                  <a:tcPr marL="9525" marR="9525" marT="9525" marB="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 b="0" i="0" u="none" strike="noStrike" cap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Keywords Research</a:t>
                      </a:r>
                      <a:endParaRPr sz="1100"/>
                    </a:p>
                  </a:txBody>
                  <a:tcPr marL="9525" marR="9525" marT="9525" marB="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 b="0" i="0" u="none" strike="noStrike" cap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Google Keywords Planner, Google Trends, SEMRush</a:t>
                      </a:r>
                      <a:endParaRPr sz="1100"/>
                    </a:p>
                  </a:txBody>
                  <a:tcPr marL="9525" marR="9525" marT="9525" marB="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4280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 b="0" i="0" u="none" strike="noStrike" cap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4</a:t>
                      </a:r>
                      <a:endParaRPr sz="1100"/>
                    </a:p>
                  </a:txBody>
                  <a:tcPr marL="9525" marR="9525" marT="9525" marB="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 b="0" i="0" u="none" strike="noStrike" cap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Topic Research</a:t>
                      </a:r>
                      <a:endParaRPr sz="1100"/>
                    </a:p>
                  </a:txBody>
                  <a:tcPr marL="9525" marR="9525" marT="9525" marB="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 b="0" i="0" u="none" strike="noStrike" cap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SEMRush, Answer the Public, Google Queries, Google Trends</a:t>
                      </a:r>
                      <a:endParaRPr sz="1100"/>
                    </a:p>
                  </a:txBody>
                  <a:tcPr marL="9525" marR="9525" marT="9525" marB="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74325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 b="0" i="0" u="none" strike="noStrike" cap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4</a:t>
                      </a:r>
                      <a:endParaRPr sz="1100"/>
                    </a:p>
                  </a:txBody>
                  <a:tcPr marL="9525" marR="9525" marT="9525" marB="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 b="0" i="0" u="none" strike="noStrike" cap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Keywords Tracking &amp; Competitor Analysis</a:t>
                      </a:r>
                      <a:endParaRPr sz="1100"/>
                    </a:p>
                  </a:txBody>
                  <a:tcPr marL="9525" marR="9525" marT="9525" marB="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 b="0" i="0" u="none" strike="noStrike" cap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SEMRush</a:t>
                      </a:r>
                      <a:endParaRPr sz="1100"/>
                    </a:p>
                  </a:txBody>
                  <a:tcPr marL="9525" marR="9525" marT="9525" marB="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74325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 b="0" i="0" u="none" strike="noStrike" cap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4</a:t>
                      </a:r>
                      <a:endParaRPr sz="1100"/>
                    </a:p>
                  </a:txBody>
                  <a:tcPr marL="9525" marR="9525" marT="9525" marB="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 b="0" i="0" u="none" strike="noStrike" cap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User Behavior &amp; Heatmap Tracking</a:t>
                      </a:r>
                      <a:endParaRPr sz="1100"/>
                    </a:p>
                  </a:txBody>
                  <a:tcPr marL="9525" marR="9525" marT="9525" marB="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 b="0" i="0" u="none" strike="noStrike" cap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Hotjar</a:t>
                      </a:r>
                      <a:endParaRPr sz="1300" b="0" i="0" u="none" strike="noStrike" cap="non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525" marR="9525" marT="9525" marB="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4280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 b="0" i="0" u="none" strike="noStrike" cap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5</a:t>
                      </a:r>
                      <a:endParaRPr sz="1100"/>
                    </a:p>
                  </a:txBody>
                  <a:tcPr marL="9525" marR="9525" marT="9525" marB="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 b="0" i="0" u="none" strike="noStrike" cap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Monthly Report Creation</a:t>
                      </a:r>
                      <a:endParaRPr sz="1100"/>
                    </a:p>
                  </a:txBody>
                  <a:tcPr marL="9525" marR="9525" marT="9525" marB="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 b="0" i="0" u="none" strike="noStrike" cap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Google Looker Studio</a:t>
                      </a:r>
                      <a:endParaRPr sz="1100"/>
                    </a:p>
                  </a:txBody>
                  <a:tcPr marL="9525" marR="9525" marT="9525" marB="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4280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 b="0" i="0" u="none" strike="noStrike" cap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6</a:t>
                      </a:r>
                      <a:endParaRPr sz="1100"/>
                    </a:p>
                  </a:txBody>
                  <a:tcPr marL="9525" marR="9525" marT="9525" marB="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 b="0" i="0" u="none" strike="noStrike" cap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Project Management Tool </a:t>
                      </a:r>
                      <a:endParaRPr sz="1100"/>
                    </a:p>
                  </a:txBody>
                  <a:tcPr marL="9525" marR="9525" marT="9525" marB="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 b="0" i="0" u="none" strike="noStrike" cap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Bitrix 24 &amp; Asana</a:t>
                      </a:r>
                      <a:endParaRPr sz="1300" b="0" i="0" u="none" strike="noStrike" cap="non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525" marR="9525" marT="9525" marB="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4280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 b="0" i="0" u="none" strike="noStrike" cap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7</a:t>
                      </a:r>
                      <a:endParaRPr sz="1100"/>
                    </a:p>
                  </a:txBody>
                  <a:tcPr marL="9525" marR="9525" marT="9525" marB="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 b="0" i="0" u="none" strike="noStrike" cap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Content Quality Checks</a:t>
                      </a:r>
                      <a:endParaRPr sz="1100"/>
                    </a:p>
                  </a:txBody>
                  <a:tcPr marL="9525" marR="9525" marT="9525" marB="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 b="0" i="0" u="none" strike="noStrike" cap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CopyScape &amp; Zero GPT</a:t>
                      </a:r>
                      <a:endParaRPr sz="1300" b="0" i="0" u="none" strike="noStrike" cap="non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525" marR="9525" marT="9525" marB="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2" name="Google Shape;612;p71"/>
          <p:cNvSpPr txBox="1">
            <a:spLocks noGrp="1"/>
          </p:cNvSpPr>
          <p:nvPr>
            <p:ph type="title"/>
          </p:nvPr>
        </p:nvSpPr>
        <p:spPr>
          <a:xfrm>
            <a:off x="623888" y="686558"/>
            <a:ext cx="7886700" cy="21395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4500"/>
              <a:buNone/>
            </a:pPr>
            <a:r>
              <a:rPr lang="en" b="1"/>
              <a:t>Investment Summary</a:t>
            </a:r>
            <a:endParaRPr b="1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7" name="Google Shape;617;p72"/>
          <p:cNvSpPr/>
          <p:nvPr/>
        </p:nvSpPr>
        <p:spPr>
          <a:xfrm>
            <a:off x="-1" y="12683"/>
            <a:ext cx="9144000" cy="782684"/>
          </a:xfrm>
          <a:prstGeom prst="rect">
            <a:avLst/>
          </a:prstGeom>
          <a:solidFill>
            <a:srgbClr val="FDD947"/>
          </a:solidFill>
          <a:ln>
            <a:noFill/>
          </a:ln>
        </p:spPr>
        <p:txBody>
          <a:bodyPr spcFirstLastPara="1" wrap="square" lIns="91425" tIns="45725" rIns="91425" bIns="457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300" b="1">
                <a:solidFill>
                  <a:schemeClr val="lt1"/>
                </a:solidFill>
                <a:latin typeface="Cambria"/>
                <a:ea typeface="Cambria"/>
                <a:cs typeface="Cambria"/>
                <a:sym typeface="Cambria"/>
              </a:rPr>
              <a:t>Monthly Organic Investment Summary</a:t>
            </a:r>
            <a:endParaRPr sz="1100"/>
          </a:p>
        </p:txBody>
      </p:sp>
      <p:graphicFrame>
        <p:nvGraphicFramePr>
          <p:cNvPr id="618" name="Google Shape;618;p72"/>
          <p:cNvGraphicFramePr/>
          <p:nvPr>
            <p:extLst>
              <p:ext uri="{D42A27DB-BD31-4B8C-83A1-F6EECF244321}">
                <p14:modId xmlns:p14="http://schemas.microsoft.com/office/powerpoint/2010/main" val="2680330817"/>
              </p:ext>
            </p:extLst>
          </p:nvPr>
        </p:nvGraphicFramePr>
        <p:xfrm>
          <a:off x="-1" y="1560630"/>
          <a:ext cx="9029675" cy="2024135"/>
        </p:xfrm>
        <a:graphic>
          <a:graphicData uri="http://schemas.openxmlformats.org/drawingml/2006/table">
            <a:tbl>
              <a:tblPr>
                <a:noFill/>
                <a:tableStyleId>{3059031D-76C1-4A71-AF53-F72BF084CF57}</a:tableStyleId>
              </a:tblPr>
              <a:tblGrid>
                <a:gridCol w="3363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172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1896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429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88595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74295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8001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131445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1670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 b="1" i="0" u="none" strike="noStrike" cap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sl no</a:t>
                      </a:r>
                      <a:endParaRPr sz="1100"/>
                    </a:p>
                  </a:txBody>
                  <a:tcPr marL="7075" marR="7075" marT="7075" marB="0" anchor="b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 b="1" i="0" u="none" strike="noStrike" cap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Particulars</a:t>
                      </a:r>
                      <a:endParaRPr sz="1100"/>
                    </a:p>
                  </a:txBody>
                  <a:tcPr marL="7075" marR="7075" marT="7075" marB="0" anchor="b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 b="1" i="0" u="none" strike="noStrike" cap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Description</a:t>
                      </a:r>
                      <a:endParaRPr sz="1100"/>
                    </a:p>
                  </a:txBody>
                  <a:tcPr marL="7075" marR="7075" marT="7075" marB="0" anchor="b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 b="1" i="0" u="none" strike="noStrike" cap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Timeline</a:t>
                      </a:r>
                      <a:endParaRPr sz="1100"/>
                    </a:p>
                  </a:txBody>
                  <a:tcPr marL="7075" marR="7075" marT="7075" marB="0" anchor="b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 b="1" i="0" u="none" strike="noStrike" cap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Dependency</a:t>
                      </a:r>
                      <a:endParaRPr sz="1100"/>
                    </a:p>
                  </a:txBody>
                  <a:tcPr marL="7075" marR="7075" marT="7075" marB="0" anchor="b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 b="1" i="0" u="none" strike="noStrike" cap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Frequency</a:t>
                      </a:r>
                      <a:endParaRPr sz="1100"/>
                    </a:p>
                  </a:txBody>
                  <a:tcPr marL="7075" marR="7075" marT="7075" marB="0" anchor="b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 b="1" i="0" u="none" strike="noStrike" cap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Cost (INR)</a:t>
                      </a:r>
                      <a:endParaRPr sz="1100"/>
                    </a:p>
                  </a:txBody>
                  <a:tcPr marL="7075" marR="7075" marT="7075" marB="0" anchor="b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 b="1" i="0" u="none" strike="noStrike" cap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Type</a:t>
                      </a:r>
                      <a:endParaRPr sz="1100"/>
                    </a:p>
                  </a:txBody>
                  <a:tcPr marL="7075" marR="7075" marT="7075" marB="0" anchor="b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87075">
                <a:tc rowSpan="2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 b="0" i="0" u="none" strike="noStrike" cap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</a:t>
                      </a:r>
                      <a:endParaRPr sz="1100"/>
                    </a:p>
                  </a:txBody>
                  <a:tcPr marL="7075" marR="7075" marT="7075" marB="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76923C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 b="0" i="0" u="none" strike="noStrike" cap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Search Engine Optimisation – 25 Keywords</a:t>
                      </a:r>
                      <a:endParaRPr sz="1100"/>
                    </a:p>
                  </a:txBody>
                  <a:tcPr marL="7075" marR="7075" marT="7075" marB="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 b="0" i="0" u="none" strike="noStrike" cap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On Page Optimisation (suggestions) +</a:t>
                      </a:r>
                      <a:r>
                        <a:rPr lang="en" sz="1100" u="none" strike="noStrike" cap="none"/>
                        <a:t> Off Page Activities (content creation + Publishing)</a:t>
                      </a:r>
                      <a:endParaRPr sz="1100"/>
                    </a:p>
                  </a:txBody>
                  <a:tcPr marL="7075" marR="7075" marT="7075" marB="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 rowSpan="2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 b="0" i="0" u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30 Days</a:t>
                      </a:r>
                      <a:endParaRPr sz="1100"/>
                    </a:p>
                  </a:txBody>
                  <a:tcPr marL="7075" marR="7075" marT="7075" marB="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 b="0" i="0" u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Finalisation of Keywords, Access to Google Analytics and Search Console</a:t>
                      </a:r>
                      <a:endParaRPr sz="1100"/>
                    </a:p>
                  </a:txBody>
                  <a:tcPr marL="7075" marR="7075" marT="7075" marB="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 rowSpan="2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 b="0" i="0" u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25 Keywords</a:t>
                      </a:r>
                      <a:endParaRPr sz="1100"/>
                    </a:p>
                  </a:txBody>
                  <a:tcPr marL="7075" marR="7075" marT="7075" marB="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400" b="0" i="0" u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30,000</a:t>
                      </a:r>
                      <a:endParaRPr sz="1100"/>
                    </a:p>
                  </a:txBody>
                  <a:tcPr marL="7075" marR="7075" marT="7075" marB="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4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Recurring</a:t>
                      </a:r>
                      <a:endParaRPr sz="1100"/>
                    </a:p>
                  </a:txBody>
                  <a:tcPr marL="7075" marR="7075" marT="7075" marB="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27075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 dirty="0"/>
                        <a:t>Paid Guest Posting – 05 (Content + Publishing)</a:t>
                      </a:r>
                      <a:endParaRPr sz="1100" dirty="0"/>
                    </a:p>
                  </a:txBody>
                  <a:tcPr marL="7075" marR="7075" marT="7075" marB="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 b="0" i="0" u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Approval on the websites</a:t>
                      </a:r>
                      <a:endParaRPr sz="1100"/>
                    </a:p>
                  </a:txBody>
                  <a:tcPr marL="7075" marR="7075" marT="7075" marB="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400" b="0" i="0" u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25,000</a:t>
                      </a:r>
                      <a:endParaRPr sz="1100"/>
                    </a:p>
                  </a:txBody>
                  <a:tcPr marL="7075" marR="7075" marT="7075" marB="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4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Recurring</a:t>
                      </a:r>
                      <a:endParaRPr sz="1100"/>
                    </a:p>
                  </a:txBody>
                  <a:tcPr marL="7075" marR="7075" marT="7075" marB="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87075">
                <a:tc rowSpan="2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 b="0" i="0" u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</a:t>
                      </a:r>
                      <a:endParaRPr sz="1100"/>
                    </a:p>
                  </a:txBody>
                  <a:tcPr marL="7075" marR="7075" marT="7075" marB="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C000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 b="0" i="0" u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Content Creation &amp; Content Marketing</a:t>
                      </a:r>
                      <a:endParaRPr sz="1100"/>
                    </a:p>
                  </a:txBody>
                  <a:tcPr marL="7075" marR="7075" marT="7075" marB="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/>
                        <a:t>Website Premium Blogs (5000 words per month) 4 to 5 blogs per month</a:t>
                      </a:r>
                      <a:endParaRPr sz="1100"/>
                    </a:p>
                  </a:txBody>
                  <a:tcPr marL="7075" marR="7075" marT="7075" marB="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 b="0" i="0" u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30 Days</a:t>
                      </a:r>
                      <a:endParaRPr sz="1100"/>
                    </a:p>
                  </a:txBody>
                  <a:tcPr marL="7075" marR="7075" marT="7075" marB="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 b="0" i="0" u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Approval on blog topics, content </a:t>
                      </a:r>
                      <a:endParaRPr sz="1100"/>
                    </a:p>
                  </a:txBody>
                  <a:tcPr marL="7075" marR="7075" marT="7075" marB="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 b="0" i="0" u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5000 words</a:t>
                      </a:r>
                      <a:endParaRPr sz="1100"/>
                    </a:p>
                  </a:txBody>
                  <a:tcPr marL="7075" marR="7075" marT="7075" marB="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400" b="0" i="0" u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12500</a:t>
                      </a:r>
                      <a:endParaRPr sz="1100"/>
                    </a:p>
                  </a:txBody>
                  <a:tcPr marL="7075" marR="7075" marT="7075" marB="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4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Recurring</a:t>
                      </a:r>
                      <a:endParaRPr sz="1100"/>
                    </a:p>
                  </a:txBody>
                  <a:tcPr marL="7075" marR="7075" marT="7075" marB="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87075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/>
                        <a:t>Website Content + Product Descriptions </a:t>
                      </a:r>
                      <a:endParaRPr sz="1100"/>
                    </a:p>
                  </a:txBody>
                  <a:tcPr marL="7075" marR="7075" marT="7075" marB="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 b="0" i="0" u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As in when required</a:t>
                      </a:r>
                      <a:endParaRPr sz="1100"/>
                    </a:p>
                  </a:txBody>
                  <a:tcPr marL="7075" marR="7075" marT="7075" marB="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 b="0" i="0" u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Content suggestion approval, Product Descriptions</a:t>
                      </a:r>
                      <a:endParaRPr sz="1100"/>
                    </a:p>
                  </a:txBody>
                  <a:tcPr marL="7075" marR="7075" marT="7075" marB="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 b="0" i="0" u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Per word</a:t>
                      </a:r>
                      <a:endParaRPr sz="1100"/>
                    </a:p>
                  </a:txBody>
                  <a:tcPr marL="7075" marR="7075" marT="7075" marB="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400" b="0" i="0" u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2.50 per word</a:t>
                      </a:r>
                      <a:endParaRPr sz="1100"/>
                    </a:p>
                  </a:txBody>
                  <a:tcPr marL="7075" marR="7075" marT="7075" marB="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400" dirty="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As in when required</a:t>
                      </a:r>
                      <a:endParaRPr sz="1100" dirty="0"/>
                    </a:p>
                  </a:txBody>
                  <a:tcPr marL="7075" marR="7075" marT="7075" marB="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3" name="Google Shape;623;p73"/>
          <p:cNvSpPr txBox="1"/>
          <p:nvPr/>
        </p:nvSpPr>
        <p:spPr>
          <a:xfrm>
            <a:off x="285750" y="457199"/>
            <a:ext cx="8515350" cy="35470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 u="sng" dirty="0">
                <a:latin typeface="Cambria"/>
                <a:ea typeface="Cambria"/>
                <a:cs typeface="Cambria"/>
                <a:sym typeface="Cambria"/>
              </a:rPr>
              <a:t>Terms &amp; Conditions:</a:t>
            </a:r>
            <a:endParaRPr sz="1100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 u="sng" dirty="0"/>
          </a:p>
          <a:p>
            <a:pPr marL="215900" lvl="0" indent="-215900" algn="l" rtl="0">
              <a:spcBef>
                <a:spcPts val="0"/>
              </a:spcBef>
              <a:spcAft>
                <a:spcPts val="0"/>
              </a:spcAft>
              <a:buSzPts val="1400"/>
              <a:buFont typeface="Arial"/>
              <a:buChar char="•"/>
            </a:pPr>
            <a:r>
              <a:rPr lang="en" sz="1400" dirty="0"/>
              <a:t>Price Basis - The prices are mentioned for monthly services &amp; are exclusive of any taxes and duties if applicable (for overseas invoices currently there are no taxes and duties applicable).  </a:t>
            </a:r>
            <a:endParaRPr sz="1100" dirty="0"/>
          </a:p>
          <a:p>
            <a:pPr marL="215900" lvl="0" indent="-215900" algn="l" rtl="0">
              <a:spcBef>
                <a:spcPts val="0"/>
              </a:spcBef>
              <a:spcAft>
                <a:spcPts val="0"/>
              </a:spcAft>
              <a:buSzPts val="1400"/>
              <a:buFont typeface="Arial"/>
              <a:buChar char="•"/>
            </a:pPr>
            <a:r>
              <a:rPr lang="en" sz="1400" dirty="0"/>
              <a:t>Delivery – Will be followed as per schedule mentioned in the above packages.</a:t>
            </a:r>
            <a:endParaRPr sz="1100" dirty="0"/>
          </a:p>
          <a:p>
            <a:pPr marL="215900" lvl="0" indent="-215900" algn="l" rtl="0">
              <a:spcBef>
                <a:spcPts val="0"/>
              </a:spcBef>
              <a:spcAft>
                <a:spcPts val="0"/>
              </a:spcAft>
              <a:buSzPts val="1400"/>
              <a:buFont typeface="Arial"/>
              <a:buChar char="•"/>
            </a:pPr>
            <a:r>
              <a:rPr lang="en" sz="1400" dirty="0"/>
              <a:t>The above package is only limited to </a:t>
            </a:r>
            <a:r>
              <a:rPr lang="en-US" sz="1400" u="none" strike="noStrike" dirty="0">
                <a:latin typeface="Cambria"/>
                <a:ea typeface="Cambria"/>
                <a:cs typeface="Cambria"/>
                <a:sym typeface="Cambria"/>
              </a:rPr>
              <a:t>Amity University </a:t>
            </a:r>
            <a:r>
              <a:rPr lang="en" sz="1400" dirty="0"/>
              <a:t>Project. </a:t>
            </a:r>
            <a:endParaRPr sz="1100" dirty="0"/>
          </a:p>
          <a:p>
            <a:pPr marL="215900" lvl="0" indent="-215900" algn="l" rtl="0">
              <a:spcBef>
                <a:spcPts val="0"/>
              </a:spcBef>
              <a:spcAft>
                <a:spcPts val="0"/>
              </a:spcAft>
              <a:buSzPts val="1400"/>
              <a:buFont typeface="Arial"/>
              <a:buChar char="•"/>
            </a:pPr>
            <a:r>
              <a:rPr lang="en" sz="1400" dirty="0"/>
              <a:t>Payment Terms – Invoices will be raised before starting the work on quarterly (03 months) basis. The Payment should be released within 2 working days from the date of invoice.</a:t>
            </a:r>
            <a:endParaRPr sz="1100" dirty="0"/>
          </a:p>
          <a:p>
            <a:pPr marL="127000" lvl="2" indent="-127000" algn="l" rtl="0">
              <a:spcBef>
                <a:spcPts val="0"/>
              </a:spcBef>
              <a:spcAft>
                <a:spcPts val="0"/>
              </a:spcAft>
              <a:buSzPts val="1400"/>
              <a:buFont typeface="Arial"/>
              <a:buChar char="•"/>
            </a:pPr>
            <a:r>
              <a:rPr lang="en" sz="1400" dirty="0"/>
              <a:t>Content Revision – Maximum of 2 rounds of revision will be made available for any on page content creation</a:t>
            </a:r>
            <a:endParaRPr sz="1100" dirty="0"/>
          </a:p>
          <a:p>
            <a:pPr marL="127000" lvl="2" indent="-127000" algn="l" rtl="0">
              <a:spcBef>
                <a:spcPts val="0"/>
              </a:spcBef>
              <a:spcAft>
                <a:spcPts val="0"/>
              </a:spcAft>
              <a:buSzPts val="1400"/>
              <a:buFont typeface="Arial"/>
              <a:buChar char="•"/>
            </a:pPr>
            <a:r>
              <a:rPr lang="en" sz="1400" dirty="0"/>
              <a:t>For additional web page content creation or product descriptions– We will charge you separately @ INR 2.50 per word</a:t>
            </a:r>
            <a:endParaRPr sz="1100" dirty="0"/>
          </a:p>
          <a:p>
            <a:pPr marL="127000" lvl="2" indent="-127000" algn="l" rtl="0">
              <a:spcBef>
                <a:spcPts val="0"/>
              </a:spcBef>
              <a:spcAft>
                <a:spcPts val="0"/>
              </a:spcAft>
              <a:buSzPts val="1400"/>
              <a:buFont typeface="Arial"/>
              <a:buChar char="•"/>
            </a:pPr>
            <a:r>
              <a:rPr lang="en" sz="1400" dirty="0"/>
              <a:t>Core web Vital Fixation of the website is not included in the package as this is a separate task. We will let you know once we understand the amount of work that needs to be done once we do the audit of your website.</a:t>
            </a:r>
            <a:endParaRPr sz="1100" dirty="0"/>
          </a:p>
          <a:p>
            <a:pPr marL="0" lvl="2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40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8" name="Google Shape;628;p74"/>
          <p:cNvSpPr txBox="1"/>
          <p:nvPr/>
        </p:nvSpPr>
        <p:spPr>
          <a:xfrm>
            <a:off x="8890064" y="4806619"/>
            <a:ext cx="156209" cy="167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050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latin typeface="Cambria"/>
                <a:ea typeface="Cambria"/>
                <a:cs typeface="Cambria"/>
                <a:sym typeface="Cambria"/>
              </a:rPr>
              <a:t>12</a:t>
            </a:r>
            <a:endParaRPr sz="1000"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629" name="Google Shape;629;p74"/>
          <p:cNvSpPr txBox="1">
            <a:spLocks noGrp="1"/>
          </p:cNvSpPr>
          <p:nvPr>
            <p:ph type="title"/>
          </p:nvPr>
        </p:nvSpPr>
        <p:spPr>
          <a:xfrm>
            <a:off x="1103756" y="1510823"/>
            <a:ext cx="7057073" cy="14609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4300" rIns="0" bIns="0" anchor="t" anchorCtr="0">
            <a:spAutoFit/>
          </a:bodyPr>
          <a:lstStyle/>
          <a:p>
            <a:pPr marL="12700" marR="0" lvl="0" indent="0" algn="ctr" rtl="0">
              <a:lnSpc>
                <a:spcPct val="10803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5000" b="1">
                <a:solidFill>
                  <a:srgbClr val="FFC000"/>
                </a:solidFill>
                <a:latin typeface="Cambria"/>
                <a:ea typeface="Cambria"/>
                <a:cs typeface="Cambria"/>
                <a:sym typeface="Cambria"/>
              </a:rPr>
              <a:t>Few Case studies for reference..</a:t>
            </a:r>
            <a:endParaRPr sz="5000">
              <a:latin typeface="Cambria"/>
              <a:ea typeface="Cambria"/>
              <a:cs typeface="Cambria"/>
              <a:sym typeface="Cambria"/>
            </a:endParaRP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34" name="Google Shape;634;p75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14300" y="171450"/>
            <a:ext cx="8887968" cy="4610862"/>
          </a:xfrm>
          <a:prstGeom prst="rect">
            <a:avLst/>
          </a:prstGeom>
          <a:noFill/>
          <a:ln>
            <a:noFill/>
          </a:ln>
        </p:spPr>
      </p:pic>
      <p:sp>
        <p:nvSpPr>
          <p:cNvPr id="635" name="Google Shape;635;p75"/>
          <p:cNvSpPr txBox="1">
            <a:spLocks noGrp="1"/>
          </p:cNvSpPr>
          <p:nvPr>
            <p:ph type="sldNum" idx="12"/>
          </p:nvPr>
        </p:nvSpPr>
        <p:spPr>
          <a:xfrm>
            <a:off x="8872157" y="4812767"/>
            <a:ext cx="203834" cy="1638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2850" rIns="0" bIns="0" anchor="t" anchorCtr="0">
            <a:spAutoFit/>
          </a:bodyPr>
          <a:lstStyle/>
          <a:p>
            <a:pPr marL="254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34</a:t>
            </a:fld>
            <a:endParaRPr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40" name="Google Shape;640;p76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14300" y="171450"/>
            <a:ext cx="8915400" cy="4578858"/>
          </a:xfrm>
          <a:prstGeom prst="rect">
            <a:avLst/>
          </a:prstGeom>
          <a:noFill/>
          <a:ln>
            <a:noFill/>
          </a:ln>
        </p:spPr>
      </p:pic>
      <p:sp>
        <p:nvSpPr>
          <p:cNvPr id="641" name="Google Shape;641;p76"/>
          <p:cNvSpPr txBox="1">
            <a:spLocks noGrp="1"/>
          </p:cNvSpPr>
          <p:nvPr>
            <p:ph type="sldNum" idx="12"/>
          </p:nvPr>
        </p:nvSpPr>
        <p:spPr>
          <a:xfrm>
            <a:off x="8872157" y="4812767"/>
            <a:ext cx="203834" cy="1638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2850" rIns="0" bIns="0" anchor="t" anchorCtr="0">
            <a:spAutoFit/>
          </a:bodyPr>
          <a:lstStyle/>
          <a:p>
            <a:pPr marL="254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35</a:t>
            </a:fld>
            <a:endParaRPr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46" name="Google Shape;646;p77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14300" y="114300"/>
            <a:ext cx="8860536" cy="4636008"/>
          </a:xfrm>
          <a:prstGeom prst="rect">
            <a:avLst/>
          </a:prstGeom>
          <a:noFill/>
          <a:ln>
            <a:noFill/>
          </a:ln>
        </p:spPr>
      </p:pic>
      <p:sp>
        <p:nvSpPr>
          <p:cNvPr id="647" name="Google Shape;647;p77"/>
          <p:cNvSpPr txBox="1">
            <a:spLocks noGrp="1"/>
          </p:cNvSpPr>
          <p:nvPr>
            <p:ph type="sldNum" idx="12"/>
          </p:nvPr>
        </p:nvSpPr>
        <p:spPr>
          <a:xfrm>
            <a:off x="8872157" y="4812767"/>
            <a:ext cx="203834" cy="1638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2850" rIns="0" bIns="0" anchor="t" anchorCtr="0">
            <a:spAutoFit/>
          </a:bodyPr>
          <a:lstStyle/>
          <a:p>
            <a:pPr marL="254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36</a:t>
            </a:fld>
            <a:endParaRPr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52" name="Google Shape;652;p78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14300" y="114300"/>
            <a:ext cx="8990838" cy="4752594"/>
          </a:xfrm>
          <a:prstGeom prst="rect">
            <a:avLst/>
          </a:prstGeom>
          <a:noFill/>
          <a:ln>
            <a:noFill/>
          </a:ln>
        </p:spPr>
      </p:pic>
      <p:sp>
        <p:nvSpPr>
          <p:cNvPr id="653" name="Google Shape;653;p78"/>
          <p:cNvSpPr txBox="1">
            <a:spLocks noGrp="1"/>
          </p:cNvSpPr>
          <p:nvPr>
            <p:ph type="sldNum" idx="12"/>
          </p:nvPr>
        </p:nvSpPr>
        <p:spPr>
          <a:xfrm>
            <a:off x="8872157" y="4812767"/>
            <a:ext cx="203834" cy="1638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2850" rIns="0" bIns="0" anchor="t" anchorCtr="0">
            <a:spAutoFit/>
          </a:bodyPr>
          <a:lstStyle/>
          <a:p>
            <a:pPr marL="254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37</a:t>
            </a:fld>
            <a:endParaRPr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58" name="Google Shape;658;p79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14300" y="114300"/>
            <a:ext cx="8915400" cy="4712589"/>
          </a:xfrm>
          <a:prstGeom prst="rect">
            <a:avLst/>
          </a:prstGeom>
          <a:noFill/>
          <a:ln>
            <a:noFill/>
          </a:ln>
        </p:spPr>
      </p:pic>
      <p:sp>
        <p:nvSpPr>
          <p:cNvPr id="659" name="Google Shape;659;p79"/>
          <p:cNvSpPr txBox="1">
            <a:spLocks noGrp="1"/>
          </p:cNvSpPr>
          <p:nvPr>
            <p:ph type="sldNum" idx="12"/>
          </p:nvPr>
        </p:nvSpPr>
        <p:spPr>
          <a:xfrm>
            <a:off x="8872157" y="4812767"/>
            <a:ext cx="203834" cy="1638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2850" rIns="0" bIns="0" anchor="t" anchorCtr="0">
            <a:spAutoFit/>
          </a:bodyPr>
          <a:lstStyle/>
          <a:p>
            <a:pPr marL="254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38</a:t>
            </a:fld>
            <a:endParaRPr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4" name="Google Shape;664;p80"/>
          <p:cNvSpPr txBox="1">
            <a:spLocks noGrp="1"/>
          </p:cNvSpPr>
          <p:nvPr>
            <p:ph type="title"/>
          </p:nvPr>
        </p:nvSpPr>
        <p:spPr>
          <a:xfrm>
            <a:off x="623888" y="1116049"/>
            <a:ext cx="7886700" cy="21395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 fontScale="90000"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ct val="166666"/>
              <a:buNone/>
            </a:pPr>
            <a:br>
              <a:rPr lang="en" sz="3000" b="1"/>
            </a:br>
            <a:br>
              <a:rPr lang="en" sz="3000" b="1"/>
            </a:br>
            <a:r>
              <a:rPr lang="en" sz="3000" b="1"/>
              <a:t>Look forward to partnering with you in your digital journey</a:t>
            </a:r>
            <a:br>
              <a:rPr lang="en" sz="3000" b="1"/>
            </a:br>
            <a:br>
              <a:rPr lang="en" sz="3000" b="1"/>
            </a:br>
            <a:br>
              <a:rPr lang="en" sz="3000" b="1"/>
            </a:br>
            <a:r>
              <a:rPr lang="en" sz="3000" b="1"/>
              <a:t>  May we have your valuable feedback please?</a:t>
            </a:r>
            <a:endParaRPr sz="3000" b="1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9" name="Google Shape;669;p81"/>
          <p:cNvSpPr txBox="1">
            <a:spLocks noGrp="1"/>
          </p:cNvSpPr>
          <p:nvPr>
            <p:ph type="title"/>
          </p:nvPr>
        </p:nvSpPr>
        <p:spPr>
          <a:xfrm>
            <a:off x="3067240" y="1750694"/>
            <a:ext cx="3008471" cy="8420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525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5400" u="none">
                <a:solidFill>
                  <a:srgbClr val="FFC000"/>
                </a:solidFill>
              </a:rPr>
              <a:t>Thank You</a:t>
            </a:r>
            <a:endParaRPr sz="5400"/>
          </a:p>
        </p:txBody>
      </p:sp>
      <p:sp>
        <p:nvSpPr>
          <p:cNvPr id="670" name="Google Shape;670;p81"/>
          <p:cNvSpPr/>
          <p:nvPr/>
        </p:nvSpPr>
        <p:spPr>
          <a:xfrm>
            <a:off x="3076289" y="2480881"/>
            <a:ext cx="2990374" cy="52864"/>
          </a:xfrm>
          <a:custGeom>
            <a:avLst/>
            <a:gdLst/>
            <a:ahLst/>
            <a:cxnLst/>
            <a:rect l="l" t="t" r="r" b="b"/>
            <a:pathLst>
              <a:path w="3987165" h="70485" extrusionOk="0">
                <a:moveTo>
                  <a:pt x="3986783" y="0"/>
                </a:moveTo>
                <a:lnTo>
                  <a:pt x="0" y="0"/>
                </a:lnTo>
                <a:lnTo>
                  <a:pt x="0" y="70104"/>
                </a:lnTo>
                <a:lnTo>
                  <a:pt x="3986783" y="70104"/>
                </a:lnTo>
                <a:lnTo>
                  <a:pt x="3986783" y="0"/>
                </a:lnTo>
                <a:close/>
              </a:path>
            </a:pathLst>
          </a:custGeom>
          <a:solidFill>
            <a:srgbClr val="FFC000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400"/>
          </a:p>
        </p:txBody>
      </p:sp>
      <p:sp>
        <p:nvSpPr>
          <p:cNvPr id="671" name="Google Shape;671;p81"/>
          <p:cNvSpPr txBox="1"/>
          <p:nvPr/>
        </p:nvSpPr>
        <p:spPr>
          <a:xfrm>
            <a:off x="8891207" y="4806619"/>
            <a:ext cx="156209" cy="167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050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latin typeface="Cambria"/>
                <a:ea typeface="Cambria"/>
                <a:cs typeface="Cambria"/>
                <a:sym typeface="Cambria"/>
              </a:rPr>
              <a:t>32</a:t>
            </a:r>
            <a:endParaRPr sz="1000">
              <a:latin typeface="Cambria"/>
              <a:ea typeface="Cambria"/>
              <a:cs typeface="Cambria"/>
              <a:sym typeface="Cambria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136</TotalTime>
  <Words>3051</Words>
  <Application>Microsoft Office PowerPoint</Application>
  <PresentationFormat>On-screen Show (16:9)</PresentationFormat>
  <Paragraphs>622</Paragraphs>
  <Slides>40</Slides>
  <Notes>38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40</vt:i4>
      </vt:variant>
    </vt:vector>
  </HeadingPairs>
  <TitlesOfParts>
    <vt:vector size="48" baseType="lpstr">
      <vt:lpstr>Cambria</vt:lpstr>
      <vt:lpstr>Verdana</vt:lpstr>
      <vt:lpstr>Noto Sans Symbols</vt:lpstr>
      <vt:lpstr>Arial</vt:lpstr>
      <vt:lpstr>Calibri</vt:lpstr>
      <vt:lpstr>Quattrocento Sans</vt:lpstr>
      <vt:lpstr>Simple Light</vt:lpstr>
      <vt:lpstr>Office Theme</vt:lpstr>
      <vt:lpstr>PowerPoint Presentation</vt:lpstr>
      <vt:lpstr>Who are we?</vt:lpstr>
      <vt:lpstr>PowerPoint Presentation</vt:lpstr>
      <vt:lpstr>Our 6 core VALUES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Search Engine Optimisation Living Shapes</vt:lpstr>
      <vt:lpstr>Premise</vt:lpstr>
      <vt:lpstr>Objective </vt:lpstr>
      <vt:lpstr>Website Audit</vt:lpstr>
      <vt:lpstr>Technical Analysis</vt:lpstr>
      <vt:lpstr>PowerPoint Presentation</vt:lpstr>
      <vt:lpstr>On Page Analysis Overview</vt:lpstr>
      <vt:lpstr>PowerPoint Presentation</vt:lpstr>
      <vt:lpstr>OFF Page Analysis Overview</vt:lpstr>
      <vt:lpstr>Competitor Analysis</vt:lpstr>
      <vt:lpstr>Competitor’s Analysis – Website </vt:lpstr>
      <vt:lpstr>Here’s Our Recommendation</vt:lpstr>
      <vt:lpstr>PowerPoint Presentation</vt:lpstr>
      <vt:lpstr>PowerPoint Presentation</vt:lpstr>
      <vt:lpstr>Keywords Suggestion</vt:lpstr>
      <vt:lpstr>Keywords Suggestion</vt:lpstr>
      <vt:lpstr>Monthly Deliverables </vt:lpstr>
      <vt:lpstr>PowerPoint Presentation</vt:lpstr>
      <vt:lpstr>PowerPoint Presentation</vt:lpstr>
      <vt:lpstr>Investment Summary</vt:lpstr>
      <vt:lpstr>PowerPoint Presentation</vt:lpstr>
      <vt:lpstr>PowerPoint Presentation</vt:lpstr>
      <vt:lpstr>Few Case studies for reference..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  Look forward to partnering with you in your digital journey     May we have your valuable feedback please?</vt:lpstr>
      <vt:lpstr>Thank You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dell</dc:creator>
  <cp:lastModifiedBy>admin</cp:lastModifiedBy>
  <cp:revision>8</cp:revision>
  <dcterms:modified xsi:type="dcterms:W3CDTF">2025-09-25T11:46:09Z</dcterms:modified>
</cp:coreProperties>
</file>