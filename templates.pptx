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  <p:sldMasterId id="2147483673" r:id="rId2"/>
  </p:sldMasterIdLst>
  <p:notesMasterIdLst>
    <p:notesMasterId r:id="rId4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312" r:id="rId19"/>
    <p:sldId id="272" r:id="rId20"/>
    <p:sldId id="273" r:id="rId21"/>
    <p:sldId id="274" r:id="rId22"/>
    <p:sldId id="276" r:id="rId23"/>
    <p:sldId id="277" r:id="rId24"/>
    <p:sldId id="278" r:id="rId25"/>
    <p:sldId id="279" r:id="rId26"/>
    <p:sldId id="311" r:id="rId27"/>
    <p:sldId id="280" r:id="rId28"/>
    <p:sldId id="281" r:id="rId29"/>
    <p:sldId id="282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43"/>
      <p:bold r:id="rId44"/>
      <p:italic r:id="rId45"/>
      <p:boldItalic r:id="rId46"/>
    </p:embeddedFont>
    <p:embeddedFont>
      <p:font typeface="Quattrocento Sans" panose="020B0502050000020003" pitchFamily="34" charset="0"/>
      <p:regular r:id="rId47"/>
      <p:bold r:id="rId48"/>
      <p:italic r:id="rId49"/>
      <p:boldItalic r:id="rId50"/>
    </p:embeddedFont>
    <p:embeddedFont>
      <p:font typeface="Verdana" panose="020B0604030504040204" pitchFamily="34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4845F3-DE45-48F2-B2D5-C57CF05E9B26}">
  <a:tblStyle styleId="{404845F3-DE45-48F2-B2D5-C57CF05E9B2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059031D-76C1-4A71-AF53-F72BF084CF5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BABAA9D-7224-4971-888C-E734F602A527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740D1E5-6121-4D23-8E5B-27D4E239B455}" styleName="Table_3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tcBdr/>
        <a:fill>
          <a:solidFill>
            <a:srgbClr val="CACAC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CAC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76"/>
  </p:normalViewPr>
  <p:slideViewPr>
    <p:cSldViewPr snapToGrid="0">
      <p:cViewPr varScale="1">
        <p:scale>
          <a:sx n="78" d="100"/>
          <a:sy n="78" d="100"/>
        </p:scale>
        <p:origin x="872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9.fntdata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3c863a665_2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2e3c863a665_2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e3c863a665_2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g2e3c863a665_2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e3c863a665_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e3c863a665_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e3c863a665_2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e3c863a665_2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e3c863a665_2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g2e3c863a665_2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g2e3c863a665_2_8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3c863a665_2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g2e3c863a665_2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2e3c863a665_2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e3c863a665_2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g2e3c863a665_2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e3c863a665_2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g2e3c863a665_2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e3c863a665_2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g2e3c863a665_2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2e3c863a665_2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g2e3c863a665_2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e3c863a665_2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2e3c863a665_2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e3c863a665_2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g2e3c863a665_2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e3c863a665_2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e3c863a665_2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3c863a665_2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2e3c863a665_2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3c863a665_2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e3c863a665_2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2e3c863a665_2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2e3c863a665_2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e3c863a665_2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g2e3c863a665_2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e3c863a665_2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g2e3c863a665_2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e3c863a665_2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g2e3c863a665_2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e3c863a665_2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e3c863a665_2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e3c863a665_2_3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g2e3c863a665_2_3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e3c863a665_2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e3c863a665_2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2e3c863a665_2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g2e3c863a665_2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>
          <a:extLst>
            <a:ext uri="{FF2B5EF4-FFF2-40B4-BE49-F238E27FC236}">
              <a16:creationId xmlns:a16="http://schemas.microsoft.com/office/drawing/2014/main" id="{479D3133-7519-957F-9EA7-53027019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2e3c863a665_2_319:notes">
            <a:extLst>
              <a:ext uri="{FF2B5EF4-FFF2-40B4-BE49-F238E27FC236}">
                <a16:creationId xmlns:a16="http://schemas.microsoft.com/office/drawing/2014/main" id="{508A1DAF-63D9-43C5-CFCF-2BD122819D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g2e3c863a665_2_319:notes">
            <a:extLst>
              <a:ext uri="{FF2B5EF4-FFF2-40B4-BE49-F238E27FC236}">
                <a16:creationId xmlns:a16="http://schemas.microsoft.com/office/drawing/2014/main" id="{05DEDD04-94EF-8860-034C-EAC2DC40E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2263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2e3c863a665_2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g2e3c863a665_2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2e3c863a665_2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2e3c863a665_2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e3c863a665_2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e3c863a665_2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2e3c863a665_2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g2e3c863a665_2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2e3c863a665_2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g2e3c863a665_2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e3c863a665_2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g2e3c863a665_2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2e3c863a665_2_3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g2e3c863a665_2_3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3c863a665_2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g2e3c863a665_2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2e3c863a665_2_3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g2e3c863a665_2_3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2e3c863a665_2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g2e3c863a665_2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2e3c863a665_2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g2e3c863a665_2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2e3c863a665_2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g2e3c863a665_2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2e3c863a665_2_414:notes"/>
          <p:cNvSpPr txBox="1">
            <a:spLocks noGrp="1"/>
          </p:cNvSpPr>
          <p:nvPr>
            <p:ph type="body" idx="1"/>
          </p:nvPr>
        </p:nvSpPr>
        <p:spPr>
          <a:xfrm>
            <a:off x="385763" y="5791200"/>
            <a:ext cx="30861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662" name="Google Shape;662;g2e3c863a665_2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135188" y="914400"/>
            <a:ext cx="8128001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e3c863a665_2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g2e3c863a665_2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144094" y="50577"/>
            <a:ext cx="8554612" cy="10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3000" b="1" i="0" u="sng">
                <a:solidFill>
                  <a:srgbClr val="FDC30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144094" y="50577"/>
            <a:ext cx="8554612" cy="10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3000" b="1" i="0" u="sng">
                <a:solidFill>
                  <a:srgbClr val="FDC30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body" idx="1"/>
          </p:nvPr>
        </p:nvSpPr>
        <p:spPr>
          <a:xfrm>
            <a:off x="1230821" y="1788242"/>
            <a:ext cx="5193982" cy="117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75" cy="3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>
            <a:off x="1230821" y="1788242"/>
            <a:ext cx="5193982" cy="117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title"/>
          </p:nvPr>
        </p:nvSpPr>
        <p:spPr>
          <a:xfrm>
            <a:off x="628650" y="235744"/>
            <a:ext cx="7886700" cy="8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mbria"/>
              <a:buNone/>
              <a:defRPr sz="1800"/>
            </a:lvl1pPr>
            <a:lvl2pPr lvl="1" algn="ctr">
              <a:spcBef>
                <a:spcPts val="0"/>
              </a:spcBef>
              <a:spcAft>
                <a:spcPts val="0"/>
              </a:spcAft>
              <a:buSzPts val="1500"/>
              <a:buFont typeface="Calibri"/>
              <a:buNone/>
              <a:defRPr sz="15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Calibri"/>
              <a:buNone/>
              <a:defRPr sz="1200"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44094" y="50577"/>
            <a:ext cx="8554612" cy="10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0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mbria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mbria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Calibri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255"/>
            <a:ext cx="9144000" cy="5140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255"/>
            <a:ext cx="9144000" cy="5140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bg>
      <p:bgPr>
        <a:solidFill>
          <a:schemeClr val="lt1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6"/>
            <a:ext cx="9144000" cy="113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48555"/>
            <a:ext cx="9144000" cy="394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1219"/>
            <a:ext cx="9144000" cy="5141024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1"/>
          <p:cNvSpPr txBox="1">
            <a:spLocks noGrp="1"/>
          </p:cNvSpPr>
          <p:nvPr>
            <p:ph type="ctrTitle"/>
          </p:nvPr>
        </p:nvSpPr>
        <p:spPr>
          <a:xfrm>
            <a:off x="1069943" y="1310163"/>
            <a:ext cx="7004113" cy="801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3000" b="1" i="0" u="sng">
                <a:solidFill>
                  <a:srgbClr val="FDC30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1"/>
          <p:cNvSpPr txBox="1">
            <a:spLocks noGrp="1"/>
          </p:cNvSpPr>
          <p:nvPr>
            <p:ph type="subTitle" idx="1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1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1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1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4"/>
          <p:cNvSpPr txBox="1">
            <a:spLocks noGrp="1"/>
          </p:cNvSpPr>
          <p:nvPr>
            <p:ph type="title"/>
          </p:nvPr>
        </p:nvSpPr>
        <p:spPr>
          <a:xfrm>
            <a:off x="144094" y="50577"/>
            <a:ext cx="8554612" cy="10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3000" b="1" i="0" u="sng">
                <a:solidFill>
                  <a:srgbClr val="FDC30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4"/>
          <p:cNvSpPr txBox="1">
            <a:spLocks noGrp="1"/>
          </p:cNvSpPr>
          <p:nvPr>
            <p:ph type="body" idx="1"/>
          </p:nvPr>
        </p:nvSpPr>
        <p:spPr>
          <a:xfrm>
            <a:off x="162610" y="1187195"/>
            <a:ext cx="2697003" cy="2879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 b="1" i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4"/>
          <p:cNvSpPr txBox="1">
            <a:spLocks noGrp="1"/>
          </p:cNvSpPr>
          <p:nvPr>
            <p:ph type="body" idx="2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4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4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4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0" y="58226"/>
            <a:ext cx="9144000" cy="113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0" y="4748555"/>
            <a:ext cx="9144000" cy="39494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144094" y="50577"/>
            <a:ext cx="8554612" cy="1012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3000" b="1" i="0" u="sng" strike="noStrike" cap="none">
                <a:solidFill>
                  <a:srgbClr val="FDC30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body" idx="1"/>
          </p:nvPr>
        </p:nvSpPr>
        <p:spPr>
          <a:xfrm>
            <a:off x="1230821" y="1788242"/>
            <a:ext cx="5193982" cy="1170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21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ftr" idx="11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dt" idx="10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25400" lv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25400" lvl="1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25400" lvl="2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25400" lvl="3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25400" lvl="4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25400" lvl="5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25400" lvl="6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25400" lvl="7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25400" lvl="8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png"/><Relationship Id="rId11" Type="http://schemas.openxmlformats.org/officeDocument/2006/relationships/image" Target="../media/image17.png"/><Relationship Id="rId5" Type="http://schemas.openxmlformats.org/officeDocument/2006/relationships/image" Target="../media/image24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23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jpg"/><Relationship Id="rId3" Type="http://schemas.openxmlformats.org/officeDocument/2006/relationships/image" Target="../media/image28.jp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40.jp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g"/><Relationship Id="rId3" Type="http://schemas.openxmlformats.org/officeDocument/2006/relationships/image" Target="../media/image49.png"/><Relationship Id="rId7" Type="http://schemas.openxmlformats.org/officeDocument/2006/relationships/image" Target="../media/image5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7"/>
          <p:cNvSpPr txBox="1"/>
          <p:nvPr/>
        </p:nvSpPr>
        <p:spPr>
          <a:xfrm>
            <a:off x="8959786" y="4806619"/>
            <a:ext cx="87629" cy="167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mbria"/>
                <a:ea typeface="Cambria"/>
                <a:cs typeface="Cambria"/>
                <a:sym typeface="Cambria"/>
              </a:rPr>
              <a:t>1</a:t>
            </a:r>
            <a:endParaRPr sz="100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129" name="Google Shape;129;p27" descr="A white cover with black text and orange circles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362"/>
            <a:ext cx="9149987" cy="51401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white cover with black text and orange circles&#10;&#10;AI-generated content may be incorrect.">
            <a:extLst>
              <a:ext uri="{FF2B5EF4-FFF2-40B4-BE49-F238E27FC236}">
                <a16:creationId xmlns:a16="http://schemas.microsoft.com/office/drawing/2014/main" id="{2140D1C9-4810-435F-1B1D-5DC10379E5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9985" cy="5140138"/>
          </a:xfrm>
          <a:prstGeom prst="rect">
            <a:avLst/>
          </a:prstGeom>
        </p:spPr>
      </p:pic>
      <p:sp>
        <p:nvSpPr>
          <p:cNvPr id="130" name="Google Shape;130;p27"/>
          <p:cNvSpPr/>
          <p:nvPr/>
        </p:nvSpPr>
        <p:spPr>
          <a:xfrm>
            <a:off x="6434356" y="57149"/>
            <a:ext cx="2652494" cy="966307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0B5AA5-0C5E-20D1-4996-428E32D2E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4230" y="169241"/>
            <a:ext cx="1395556" cy="471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43250" y="400050"/>
            <a:ext cx="5791200" cy="434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8"/>
          <p:cNvSpPr txBox="1">
            <a:spLocks noGrp="1"/>
          </p:cNvSpPr>
          <p:nvPr>
            <p:ph type="title"/>
          </p:nvPr>
        </p:nvSpPr>
        <p:spPr>
          <a:xfrm>
            <a:off x="687704" y="403060"/>
            <a:ext cx="2466975" cy="522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0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we?</a:t>
            </a:r>
            <a:endParaRPr/>
          </a:p>
        </p:txBody>
      </p:sp>
      <p:sp>
        <p:nvSpPr>
          <p:cNvPr id="138" name="Google Shape;138;p28"/>
          <p:cNvSpPr txBox="1"/>
          <p:nvPr/>
        </p:nvSpPr>
        <p:spPr>
          <a:xfrm>
            <a:off x="628650" y="1595914"/>
            <a:ext cx="2569846" cy="2690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6175" rIns="0" bIns="0" anchor="t" anchorCtr="0">
            <a:spAutoFit/>
          </a:bodyPr>
          <a:lstStyle/>
          <a:p>
            <a:pPr marL="127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latin typeface="Cambria"/>
                <a:ea typeface="Cambria"/>
                <a:cs typeface="Cambria"/>
                <a:sym typeface="Cambria"/>
              </a:rPr>
              <a:t>At Justwords we  transform digital  journeys for our  customers by  keeping content  at the center for  any marketing  strategy</a:t>
            </a:r>
            <a:endParaRPr sz="2400" dirty="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9"/>
          <p:cNvSpPr txBox="1"/>
          <p:nvPr/>
        </p:nvSpPr>
        <p:spPr>
          <a:xfrm>
            <a:off x="687704" y="417957"/>
            <a:ext cx="7551420" cy="42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 dirty="0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OUR VISION AND MISSION STATEMENTS</a:t>
            </a:r>
            <a:endParaRPr sz="2700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500" dirty="0">
              <a:latin typeface="Cambria"/>
              <a:ea typeface="Cambria"/>
              <a:cs typeface="Cambria"/>
              <a:sym typeface="Cambria"/>
            </a:endParaRPr>
          </a:p>
          <a:p>
            <a:pPr marL="1270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 dirty="0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VISION:</a:t>
            </a:r>
            <a:r>
              <a:rPr lang="en" sz="2700" b="1" dirty="0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To create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“Value” 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for our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customers, our  employees; and other stakeholders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, which finally  impacts the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larger society 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in a positive way</a:t>
            </a:r>
            <a:endParaRPr sz="2700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00" dirty="0">
              <a:latin typeface="Cambria"/>
              <a:ea typeface="Cambria"/>
              <a:cs typeface="Cambria"/>
              <a:sym typeface="Cambria"/>
            </a:endParaRPr>
          </a:p>
          <a:p>
            <a:pPr marL="12700" marR="50800" lvl="0" indent="0" algn="ctr" rtl="0">
              <a:lnSpc>
                <a:spcPct val="108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 dirty="0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MISSION:</a:t>
            </a:r>
            <a:r>
              <a:rPr lang="en" sz="2700" b="1" dirty="0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Our mission is to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help businesses do better business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 by delivering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outstanding marketing solutions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, and being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obsessively customer-focused</a:t>
            </a:r>
            <a:r>
              <a:rPr lang="en" sz="2700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n" sz="2700" dirty="0">
                <a:latin typeface="Cambria"/>
                <a:ea typeface="Cambria"/>
                <a:cs typeface="Cambria"/>
                <a:sym typeface="Cambria"/>
              </a:rPr>
              <a:t>and </a:t>
            </a:r>
            <a:r>
              <a:rPr lang="en" sz="2700" b="1" dirty="0">
                <a:solidFill>
                  <a:srgbClr val="00B050"/>
                </a:solidFill>
                <a:latin typeface="Cambria"/>
                <a:ea typeface="Cambria"/>
                <a:cs typeface="Cambria"/>
                <a:sym typeface="Cambria"/>
              </a:rPr>
              <a:t>quality-focused</a:t>
            </a:r>
            <a:endParaRPr sz="2700" b="1" dirty="0">
              <a:solidFill>
                <a:srgbClr val="00B05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0"/>
          <p:cNvSpPr txBox="1">
            <a:spLocks noGrp="1"/>
          </p:cNvSpPr>
          <p:nvPr>
            <p:ph type="title"/>
          </p:nvPr>
        </p:nvSpPr>
        <p:spPr>
          <a:xfrm>
            <a:off x="550718" y="342900"/>
            <a:ext cx="3254693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Our 6 core VALUES</a:t>
            </a:r>
            <a:endParaRPr sz="3000"/>
          </a:p>
        </p:txBody>
      </p:sp>
      <p:pic>
        <p:nvPicPr>
          <p:cNvPr id="149" name="Google Shape;149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70330" y="971550"/>
            <a:ext cx="4629150" cy="3344418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0"/>
          <p:cNvSpPr txBox="1"/>
          <p:nvPr/>
        </p:nvSpPr>
        <p:spPr>
          <a:xfrm>
            <a:off x="571501" y="1085850"/>
            <a:ext cx="3658593" cy="2901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9525" rIns="0" bIns="0" anchor="t" anchorCtr="0">
            <a:spAutoFit/>
          </a:bodyPr>
          <a:lstStyle/>
          <a:p>
            <a:pPr marL="12700" marR="88900" lvl="0" indent="0" algn="l" rtl="0">
              <a:lnSpc>
                <a:spcPct val="1081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CUSTOMER FOCUS: 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Do your best to  keep our Customers happy. Customers  are the reason for our business and  Customer’s perception is reality</a:t>
            </a:r>
            <a:endParaRPr sz="1200" dirty="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14062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PERSONAL COMMITMENT TO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QUALITY: 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Do brilliant work and make sure you have tried your best</a:t>
            </a:r>
            <a:endParaRPr sz="1200" dirty="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14062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CONTINUOUS IMPROVEMENT: 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Never stop learning, experimenting and  exploring</a:t>
            </a:r>
            <a:endParaRPr sz="1200" dirty="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14062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FUN AT WORK: 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Always enjoy what you are doing.</a:t>
            </a:r>
            <a:endParaRPr sz="1200" dirty="0">
              <a:latin typeface="Arial"/>
              <a:ea typeface="Arial"/>
              <a:cs typeface="Arial"/>
              <a:sym typeface="Arial"/>
            </a:endParaRPr>
          </a:p>
          <a:p>
            <a:pPr marL="12700" marR="342900" lvl="0" indent="0" algn="l" rtl="0">
              <a:lnSpc>
                <a:spcPct val="108124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 b="1" dirty="0">
                <a:latin typeface="Arial"/>
                <a:ea typeface="Arial"/>
                <a:cs typeface="Arial"/>
                <a:sym typeface="Arial"/>
              </a:rPr>
              <a:t>ETHICS: </a:t>
            </a:r>
            <a:r>
              <a:rPr lang="en" sz="1200" dirty="0">
                <a:latin typeface="Arial"/>
                <a:ea typeface="Arial"/>
                <a:cs typeface="Arial"/>
                <a:sym typeface="Arial"/>
              </a:rPr>
              <a:t>All your actions should be  backed up with full integrity</a:t>
            </a:r>
            <a:endParaRPr lang="en-US" sz="1200" dirty="0"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108124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200" b="1" dirty="0">
                <a:latin typeface="Arial"/>
                <a:ea typeface="Arial"/>
                <a:cs typeface="Arial"/>
                <a:sym typeface="Arial"/>
              </a:rPr>
              <a:t>RESPECT: </a:t>
            </a:r>
            <a:r>
              <a:rPr lang="en-US" sz="1200" dirty="0">
                <a:latin typeface="Arial"/>
                <a:ea typeface="Arial"/>
                <a:cs typeface="Arial"/>
                <a:sym typeface="Arial"/>
              </a:rPr>
              <a:t>You are supposed to respect  everyone as they 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/>
          <p:nvPr/>
        </p:nvSpPr>
        <p:spPr>
          <a:xfrm>
            <a:off x="8406097" y="597627"/>
            <a:ext cx="751934" cy="3987290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13500000" algn="b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57" name="Google Shape;157;p31"/>
          <p:cNvSpPr txBox="1"/>
          <p:nvPr/>
        </p:nvSpPr>
        <p:spPr>
          <a:xfrm>
            <a:off x="136106" y="228213"/>
            <a:ext cx="8974148" cy="167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>
                <a:solidFill>
                  <a:srgbClr val="FFC000"/>
                </a:solidFill>
              </a:rPr>
              <a:t>Our Content Creation Services</a:t>
            </a:r>
            <a:endParaRPr sz="2700">
              <a:solidFill>
                <a:srgbClr val="FFC000"/>
              </a:solidFill>
            </a:endParaRPr>
          </a:p>
        </p:txBody>
      </p:sp>
      <p:pic>
        <p:nvPicPr>
          <p:cNvPr id="158" name="Google Shape;158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266" y="1087823"/>
            <a:ext cx="436435" cy="43643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31"/>
          <p:cNvSpPr txBox="1"/>
          <p:nvPr/>
        </p:nvSpPr>
        <p:spPr>
          <a:xfrm>
            <a:off x="619702" y="1154124"/>
            <a:ext cx="21595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/>
              <a:t>SEO Content Creation</a:t>
            </a:r>
            <a:endParaRPr sz="1100"/>
          </a:p>
        </p:txBody>
      </p:sp>
      <p:sp>
        <p:nvSpPr>
          <p:cNvPr id="160" name="Google Shape;160;p31"/>
          <p:cNvSpPr txBox="1"/>
          <p:nvPr/>
        </p:nvSpPr>
        <p:spPr>
          <a:xfrm>
            <a:off x="216054" y="1517679"/>
            <a:ext cx="2358690" cy="1177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Off Page Articles 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Off Page Blogs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Quora Answers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On Page SEO Blogs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Micro Blogs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Profile Descriptions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SEO On Page Supporting Pages</a:t>
            </a:r>
            <a:endParaRPr sz="11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</p:txBody>
      </p:sp>
      <p:pic>
        <p:nvPicPr>
          <p:cNvPr id="161" name="Google Shape;161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79271" y="1046879"/>
            <a:ext cx="552566" cy="552566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1"/>
          <p:cNvSpPr txBox="1"/>
          <p:nvPr/>
        </p:nvSpPr>
        <p:spPr>
          <a:xfrm>
            <a:off x="3301485" y="1184663"/>
            <a:ext cx="25959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/>
              <a:t>Premium Content Creation</a:t>
            </a:r>
            <a:endParaRPr sz="1100"/>
          </a:p>
        </p:txBody>
      </p:sp>
      <p:sp>
        <p:nvSpPr>
          <p:cNvPr id="163" name="Google Shape;163;p31"/>
          <p:cNvSpPr txBox="1"/>
          <p:nvPr/>
        </p:nvSpPr>
        <p:spPr>
          <a:xfrm>
            <a:off x="2917121" y="1561913"/>
            <a:ext cx="2358690" cy="1869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Thought Leadership Articles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Product and Service Based Transactional Blogs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E Book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White Paper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Case Studies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Podcast scripts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Video scripts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Infographic content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Product Descriptions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Social Media Copies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Ad Copies</a:t>
            </a:r>
            <a:endParaRPr sz="11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</p:txBody>
      </p:sp>
      <p:sp>
        <p:nvSpPr>
          <p:cNvPr id="164" name="Google Shape;164;p31"/>
          <p:cNvSpPr txBox="1"/>
          <p:nvPr/>
        </p:nvSpPr>
        <p:spPr>
          <a:xfrm>
            <a:off x="6297977" y="1089677"/>
            <a:ext cx="2117542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/>
              <a:t>Linguistic Content Creation</a:t>
            </a:r>
            <a:endParaRPr sz="1100"/>
          </a:p>
        </p:txBody>
      </p:sp>
      <p:sp>
        <p:nvSpPr>
          <p:cNvPr id="165" name="Google Shape;165;p31"/>
          <p:cNvSpPr txBox="1"/>
          <p:nvPr/>
        </p:nvSpPr>
        <p:spPr>
          <a:xfrm>
            <a:off x="5897454" y="1567515"/>
            <a:ext cx="2358690" cy="131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Translation 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Content creation from scratch for the below languages – </a:t>
            </a:r>
            <a:endParaRPr sz="1100"/>
          </a:p>
          <a:p>
            <a:pPr marL="558800" lvl="1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▪"/>
            </a:pPr>
            <a:r>
              <a:rPr lang="en" sz="900"/>
              <a:t>Hindi, Bengali, Assamese,  Odia, Marathi, Tamil, Telugu, </a:t>
            </a:r>
            <a:endParaRPr sz="1100"/>
          </a:p>
          <a:p>
            <a:pPr marL="558800" lvl="1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▪"/>
            </a:pPr>
            <a:r>
              <a:rPr lang="en" sz="900"/>
              <a:t>International Languages as per requests</a:t>
            </a: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</p:txBody>
      </p:sp>
      <p:pic>
        <p:nvPicPr>
          <p:cNvPr id="166" name="Google Shape;166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07787" y="1087823"/>
            <a:ext cx="484267" cy="48426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1"/>
          <p:cNvSpPr txBox="1"/>
          <p:nvPr/>
        </p:nvSpPr>
        <p:spPr>
          <a:xfrm>
            <a:off x="496873" y="2813039"/>
            <a:ext cx="20778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/>
              <a:t>Editing &amp; Proof reading</a:t>
            </a:r>
            <a:endParaRPr sz="1100"/>
          </a:p>
        </p:txBody>
      </p:sp>
      <p:pic>
        <p:nvPicPr>
          <p:cNvPr id="168" name="Google Shape;168;p3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9963" y="2731750"/>
            <a:ext cx="442931" cy="44293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1"/>
          <p:cNvSpPr txBox="1"/>
          <p:nvPr/>
        </p:nvSpPr>
        <p:spPr>
          <a:xfrm>
            <a:off x="175111" y="3174681"/>
            <a:ext cx="2358690" cy="1315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Content Reviewing 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Quality Improvement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SEO friendly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Spelling and Grammatical issue fixation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Restructuring of sentences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Brand Tonality check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Fact checking</a:t>
            </a:r>
            <a:endParaRPr sz="11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</p:txBody>
      </p:sp>
      <p:sp>
        <p:nvSpPr>
          <p:cNvPr id="170" name="Google Shape;170;p31"/>
          <p:cNvSpPr txBox="1"/>
          <p:nvPr/>
        </p:nvSpPr>
        <p:spPr>
          <a:xfrm>
            <a:off x="4980277" y="2822902"/>
            <a:ext cx="20778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/>
              <a:t>Visual Content</a:t>
            </a:r>
            <a:endParaRPr sz="1100"/>
          </a:p>
        </p:txBody>
      </p:sp>
      <p:pic>
        <p:nvPicPr>
          <p:cNvPr id="171" name="Google Shape;171;p3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60884" y="2702705"/>
            <a:ext cx="442931" cy="442931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1"/>
          <p:cNvSpPr txBox="1"/>
          <p:nvPr/>
        </p:nvSpPr>
        <p:spPr>
          <a:xfrm>
            <a:off x="4546554" y="3126656"/>
            <a:ext cx="2358690" cy="1592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Social Media Static Post, Carousel, gifs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Infographic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Emailer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Newsletter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Video (Animated and white board)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Marketing collaterals (fliers, banners, brochures, PPT decks)</a:t>
            </a:r>
            <a:endParaRPr sz="110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/>
              <a:t>EBook, White paper, Case study designs</a:t>
            </a:r>
            <a:endParaRPr sz="11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  <a:p>
            <a:pPr marL="215900" lvl="0" indent="-152400" algn="l" rtl="0"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/>
          </a:p>
        </p:txBody>
      </p:sp>
      <p:sp>
        <p:nvSpPr>
          <p:cNvPr id="173" name="Google Shape;173;p31"/>
          <p:cNvSpPr/>
          <p:nvPr/>
        </p:nvSpPr>
        <p:spPr>
          <a:xfrm>
            <a:off x="183932" y="2614601"/>
            <a:ext cx="388961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74" name="Google Shape;174;p31"/>
          <p:cNvSpPr/>
          <p:nvPr/>
        </p:nvSpPr>
        <p:spPr>
          <a:xfrm>
            <a:off x="183932" y="4254038"/>
            <a:ext cx="388961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75" name="Google Shape;175;p31"/>
          <p:cNvSpPr/>
          <p:nvPr/>
        </p:nvSpPr>
        <p:spPr>
          <a:xfrm>
            <a:off x="2902017" y="3327486"/>
            <a:ext cx="388961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76" name="Google Shape;176;p31"/>
          <p:cNvSpPr/>
          <p:nvPr/>
        </p:nvSpPr>
        <p:spPr>
          <a:xfrm>
            <a:off x="5855439" y="2614600"/>
            <a:ext cx="388961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177" name="Google Shape;177;p31"/>
          <p:cNvSpPr/>
          <p:nvPr/>
        </p:nvSpPr>
        <p:spPr>
          <a:xfrm>
            <a:off x="4587869" y="4477147"/>
            <a:ext cx="388961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pic>
        <p:nvPicPr>
          <p:cNvPr id="178" name="Google Shape;178;p3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664518" y="703760"/>
            <a:ext cx="237850" cy="23785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1"/>
          <p:cNvSpPr txBox="1"/>
          <p:nvPr/>
        </p:nvSpPr>
        <p:spPr>
          <a:xfrm>
            <a:off x="8567297" y="991466"/>
            <a:ext cx="46057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BFSI</a:t>
            </a:r>
            <a:endParaRPr sz="1100"/>
          </a:p>
        </p:txBody>
      </p:sp>
      <p:cxnSp>
        <p:nvCxnSpPr>
          <p:cNvPr id="180" name="Google Shape;180;p31"/>
          <p:cNvCxnSpPr/>
          <p:nvPr/>
        </p:nvCxnSpPr>
        <p:spPr>
          <a:xfrm>
            <a:off x="8558378" y="1210446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81" name="Google Shape;181;p3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655985" y="1265687"/>
            <a:ext cx="275775" cy="27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1"/>
          <p:cNvSpPr txBox="1"/>
          <p:nvPr/>
        </p:nvSpPr>
        <p:spPr>
          <a:xfrm>
            <a:off x="8493095" y="1515195"/>
            <a:ext cx="611236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Health</a:t>
            </a:r>
            <a:endParaRPr sz="1100"/>
          </a:p>
        </p:txBody>
      </p:sp>
      <p:pic>
        <p:nvPicPr>
          <p:cNvPr id="183" name="Google Shape;183;p3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656982" y="1740530"/>
            <a:ext cx="294372" cy="29437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1"/>
          <p:cNvSpPr txBox="1"/>
          <p:nvPr/>
        </p:nvSpPr>
        <p:spPr>
          <a:xfrm>
            <a:off x="8415518" y="2008927"/>
            <a:ext cx="78642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Ed-Tech</a:t>
            </a:r>
            <a:endParaRPr sz="1100"/>
          </a:p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642882" y="2278785"/>
            <a:ext cx="308472" cy="30847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1"/>
          <p:cNvSpPr txBox="1"/>
          <p:nvPr/>
        </p:nvSpPr>
        <p:spPr>
          <a:xfrm>
            <a:off x="8410954" y="2557876"/>
            <a:ext cx="78642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Travel</a:t>
            </a:r>
            <a:endParaRPr sz="1100"/>
          </a:p>
        </p:txBody>
      </p:sp>
      <p:pic>
        <p:nvPicPr>
          <p:cNvPr id="187" name="Google Shape;187;p3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64518" y="2829154"/>
            <a:ext cx="301057" cy="30105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1"/>
          <p:cNvSpPr txBox="1"/>
          <p:nvPr/>
        </p:nvSpPr>
        <p:spPr>
          <a:xfrm>
            <a:off x="8337516" y="3091022"/>
            <a:ext cx="95049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 Lifestyle</a:t>
            </a:r>
            <a:endParaRPr sz="1100"/>
          </a:p>
        </p:txBody>
      </p:sp>
      <p:pic>
        <p:nvPicPr>
          <p:cNvPr id="189" name="Google Shape;189;p3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668373" y="3382670"/>
            <a:ext cx="263386" cy="26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1"/>
          <p:cNvSpPr txBox="1"/>
          <p:nvPr/>
        </p:nvSpPr>
        <p:spPr>
          <a:xfrm>
            <a:off x="8321930" y="3633998"/>
            <a:ext cx="95049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Technology </a:t>
            </a:r>
            <a:endParaRPr sz="1100"/>
          </a:p>
        </p:txBody>
      </p:sp>
      <p:pic>
        <p:nvPicPr>
          <p:cNvPr id="191" name="Google Shape;191;p3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672541" y="3913038"/>
            <a:ext cx="285311" cy="285311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1"/>
          <p:cNvSpPr txBox="1"/>
          <p:nvPr/>
        </p:nvSpPr>
        <p:spPr>
          <a:xfrm>
            <a:off x="8397395" y="4235960"/>
            <a:ext cx="790019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Manufacturing</a:t>
            </a:r>
            <a:endParaRPr sz="1100"/>
          </a:p>
        </p:txBody>
      </p:sp>
      <p:cxnSp>
        <p:nvCxnSpPr>
          <p:cNvPr id="193" name="Google Shape;193;p31"/>
          <p:cNvCxnSpPr/>
          <p:nvPr/>
        </p:nvCxnSpPr>
        <p:spPr>
          <a:xfrm>
            <a:off x="8564909" y="1736231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4" name="Google Shape;194;p31"/>
          <p:cNvCxnSpPr/>
          <p:nvPr/>
        </p:nvCxnSpPr>
        <p:spPr>
          <a:xfrm>
            <a:off x="8561675" y="2241176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5" name="Google Shape;195;p31"/>
          <p:cNvCxnSpPr/>
          <p:nvPr/>
        </p:nvCxnSpPr>
        <p:spPr>
          <a:xfrm>
            <a:off x="8569087" y="2788709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6" name="Google Shape;196;p31"/>
          <p:cNvCxnSpPr/>
          <p:nvPr/>
        </p:nvCxnSpPr>
        <p:spPr>
          <a:xfrm>
            <a:off x="8570141" y="3354767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7" name="Google Shape;197;p31"/>
          <p:cNvCxnSpPr/>
          <p:nvPr/>
        </p:nvCxnSpPr>
        <p:spPr>
          <a:xfrm>
            <a:off x="8564908" y="3865122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Google Shape;203;p32"/>
          <p:cNvCxnSpPr>
            <a:stCxn id="204" idx="3"/>
          </p:cNvCxnSpPr>
          <p:nvPr/>
        </p:nvCxnSpPr>
        <p:spPr>
          <a:xfrm>
            <a:off x="4477815" y="1833696"/>
            <a:ext cx="1004100" cy="0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5" name="Google Shape;205;p32"/>
          <p:cNvCxnSpPr/>
          <p:nvPr/>
        </p:nvCxnSpPr>
        <p:spPr>
          <a:xfrm rot="10800000" flipH="1">
            <a:off x="4485240" y="2696121"/>
            <a:ext cx="1003857" cy="1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6" name="Google Shape;206;p32"/>
          <p:cNvCxnSpPr/>
          <p:nvPr/>
        </p:nvCxnSpPr>
        <p:spPr>
          <a:xfrm rot="10800000" flipH="1">
            <a:off x="4474852" y="3647608"/>
            <a:ext cx="1003857" cy="1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7" name="Google Shape;207;p32"/>
          <p:cNvCxnSpPr/>
          <p:nvPr/>
        </p:nvCxnSpPr>
        <p:spPr>
          <a:xfrm rot="10800000" flipH="1">
            <a:off x="2095403" y="3663940"/>
            <a:ext cx="1003857" cy="1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32"/>
          <p:cNvCxnSpPr/>
          <p:nvPr/>
        </p:nvCxnSpPr>
        <p:spPr>
          <a:xfrm rot="10800000" flipH="1">
            <a:off x="2093921" y="2700584"/>
            <a:ext cx="1003857" cy="1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9" name="Google Shape;209;p32"/>
          <p:cNvCxnSpPr/>
          <p:nvPr/>
        </p:nvCxnSpPr>
        <p:spPr>
          <a:xfrm rot="10800000" flipH="1">
            <a:off x="2092440" y="1835196"/>
            <a:ext cx="1003857" cy="1"/>
          </a:xfrm>
          <a:prstGeom prst="straightConnector1">
            <a:avLst/>
          </a:prstGeom>
          <a:noFill/>
          <a:ln w="9525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0" name="Google Shape;210;p32"/>
          <p:cNvSpPr txBox="1"/>
          <p:nvPr/>
        </p:nvSpPr>
        <p:spPr>
          <a:xfrm>
            <a:off x="84925" y="282440"/>
            <a:ext cx="8974148" cy="167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1">
                <a:solidFill>
                  <a:srgbClr val="FFC000"/>
                </a:solidFill>
              </a:rPr>
              <a:t>Our 360° Digital Marketing Services</a:t>
            </a:r>
            <a:endParaRPr sz="2700">
              <a:solidFill>
                <a:srgbClr val="FFC000"/>
              </a:solidFill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3005655" y="1487090"/>
            <a:ext cx="671203" cy="6712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877007" y="1488451"/>
            <a:ext cx="671203" cy="671203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3868955" y="2382378"/>
            <a:ext cx="671203" cy="671203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3005655" y="2361658"/>
            <a:ext cx="671203" cy="671203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15" name="Google Shape;215;p32"/>
          <p:cNvSpPr/>
          <p:nvPr/>
        </p:nvSpPr>
        <p:spPr>
          <a:xfrm>
            <a:off x="3005655" y="3295355"/>
            <a:ext cx="671203" cy="671203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3877007" y="3295355"/>
            <a:ext cx="671203" cy="671203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1699" y="1622040"/>
            <a:ext cx="411567" cy="4115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49370" y="1569474"/>
            <a:ext cx="528445" cy="528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3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15946" y="2474693"/>
            <a:ext cx="465549" cy="46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3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946669" y="2468998"/>
            <a:ext cx="497963" cy="497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3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131699" y="3430614"/>
            <a:ext cx="454124" cy="454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986402" y="3403895"/>
            <a:ext cx="454124" cy="454124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32"/>
          <p:cNvSpPr txBox="1"/>
          <p:nvPr/>
        </p:nvSpPr>
        <p:spPr>
          <a:xfrm>
            <a:off x="158657" y="1165521"/>
            <a:ext cx="2930214" cy="161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SEO – Content Marketing Led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KW &amp; Competitor Research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On-Page &amp; Off-Page SEO (Technical + Content)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Link Building Strategy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Paid Guest Posting</a:t>
            </a:r>
            <a:endParaRPr sz="1100"/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 b="1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3" name="Google Shape;223;p32"/>
          <p:cNvSpPr/>
          <p:nvPr/>
        </p:nvSpPr>
        <p:spPr>
          <a:xfrm>
            <a:off x="2074628" y="1787630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24" name="Google Shape;224;p32"/>
          <p:cNvSpPr/>
          <p:nvPr/>
        </p:nvSpPr>
        <p:spPr>
          <a:xfrm>
            <a:off x="2061947" y="2638065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5422236" y="3590966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26" name="Google Shape;226;p32"/>
          <p:cNvSpPr/>
          <p:nvPr/>
        </p:nvSpPr>
        <p:spPr>
          <a:xfrm>
            <a:off x="5434177" y="2648554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5416083" y="1776485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28" name="Google Shape;228;p32"/>
          <p:cNvSpPr/>
          <p:nvPr/>
        </p:nvSpPr>
        <p:spPr>
          <a:xfrm>
            <a:off x="163879" y="2179070"/>
            <a:ext cx="2397772" cy="1611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Impactful Social Campaigns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Monthly Content Calendar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Campaign Planning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Brand/Profile Page Handle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Online Reputation Management</a:t>
            </a:r>
            <a:endParaRPr sz="1100"/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9" name="Google Shape;229;p32"/>
          <p:cNvSpPr/>
          <p:nvPr/>
        </p:nvSpPr>
        <p:spPr>
          <a:xfrm>
            <a:off x="5686780" y="1219903"/>
            <a:ext cx="2041616" cy="1473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Content Marketing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Content Strategy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Content Creation &amp; Optimization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Content Distribution</a:t>
            </a:r>
            <a:endParaRPr sz="1100"/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 b="1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0" name="Google Shape;230;p32"/>
          <p:cNvSpPr/>
          <p:nvPr/>
        </p:nvSpPr>
        <p:spPr>
          <a:xfrm>
            <a:off x="5686780" y="2243878"/>
            <a:ext cx="2297504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Link Building Services 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Guest post Outreach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High Value Premium Content Creation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Digital PR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DO-Follow links</a:t>
            </a:r>
            <a:endParaRPr sz="1100"/>
          </a:p>
          <a:p>
            <a:pPr marL="228600" lvl="0" indent="-165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None/>
            </a:pPr>
            <a:endParaRPr sz="9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22860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1" name="Google Shape;231;p32"/>
          <p:cNvSpPr/>
          <p:nvPr/>
        </p:nvSpPr>
        <p:spPr>
          <a:xfrm>
            <a:off x="94431" y="3220408"/>
            <a:ext cx="1638959" cy="161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Stellar Websites</a:t>
            </a:r>
            <a:endParaRPr sz="1400"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Design, Develop/Revamp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Mobile and SEO Friendly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CMS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Website Maintenance</a:t>
            </a:r>
            <a:endParaRPr sz="1100"/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2" name="Google Shape;232;p32"/>
          <p:cNvSpPr/>
          <p:nvPr/>
        </p:nvSpPr>
        <p:spPr>
          <a:xfrm>
            <a:off x="5737803" y="3220409"/>
            <a:ext cx="1865367" cy="1269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latin typeface="Quattrocento Sans"/>
                <a:ea typeface="Quattrocento Sans"/>
                <a:cs typeface="Quattrocento Sans"/>
                <a:sym typeface="Quattrocento Sans"/>
              </a:rPr>
              <a:t>Designs and Videos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Event Banner/Standee Design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Video editing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Brochure/Flyer Design</a:t>
            </a:r>
            <a:endParaRPr sz="1100"/>
          </a:p>
          <a:p>
            <a:pPr marL="228600" lvl="0" indent="-222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Noto Sans Symbols"/>
              <a:buChar char="✔"/>
            </a:pPr>
            <a:r>
              <a:rPr lang="en" sz="900">
                <a:latin typeface="Quattrocento Sans"/>
                <a:ea typeface="Quattrocento Sans"/>
                <a:cs typeface="Quattrocento Sans"/>
                <a:sym typeface="Quattrocento Sans"/>
              </a:rPr>
              <a:t>Magazine/Newspaper Ads</a:t>
            </a:r>
            <a:endParaRPr sz="1100"/>
          </a:p>
          <a:p>
            <a:pPr marL="1270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>
              <a:solidFill>
                <a:srgbClr val="FFC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89198" y="2097919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4" name="Google Shape;234;p32"/>
          <p:cNvSpPr/>
          <p:nvPr/>
        </p:nvSpPr>
        <p:spPr>
          <a:xfrm>
            <a:off x="280292" y="3122918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5" name="Google Shape;235;p32"/>
          <p:cNvSpPr/>
          <p:nvPr/>
        </p:nvSpPr>
        <p:spPr>
          <a:xfrm>
            <a:off x="289198" y="4127867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6" name="Google Shape;236;p32"/>
          <p:cNvSpPr/>
          <p:nvPr/>
        </p:nvSpPr>
        <p:spPr>
          <a:xfrm>
            <a:off x="5882138" y="4135437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7" name="Google Shape;237;p32"/>
          <p:cNvSpPr/>
          <p:nvPr/>
        </p:nvSpPr>
        <p:spPr>
          <a:xfrm>
            <a:off x="5864325" y="3140062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8" name="Google Shape;238;p32"/>
          <p:cNvSpPr/>
          <p:nvPr/>
        </p:nvSpPr>
        <p:spPr>
          <a:xfrm>
            <a:off x="5819454" y="2141149"/>
            <a:ext cx="445325" cy="3428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39" name="Google Shape;239;p32"/>
          <p:cNvSpPr/>
          <p:nvPr/>
        </p:nvSpPr>
        <p:spPr>
          <a:xfrm>
            <a:off x="2066532" y="3623378"/>
            <a:ext cx="95134" cy="95134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sp>
        <p:nvSpPr>
          <p:cNvPr id="240" name="Google Shape;240;p32"/>
          <p:cNvSpPr/>
          <p:nvPr/>
        </p:nvSpPr>
        <p:spPr>
          <a:xfrm>
            <a:off x="8406097" y="597627"/>
            <a:ext cx="751934" cy="3987290"/>
          </a:xfrm>
          <a:prstGeom prst="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13500000" algn="b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  <p:pic>
        <p:nvPicPr>
          <p:cNvPr id="241" name="Google Shape;241;p3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664518" y="703760"/>
            <a:ext cx="237850" cy="2378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2"/>
          <p:cNvSpPr txBox="1"/>
          <p:nvPr/>
        </p:nvSpPr>
        <p:spPr>
          <a:xfrm>
            <a:off x="8567297" y="991466"/>
            <a:ext cx="46057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BFSI</a:t>
            </a:r>
            <a:endParaRPr sz="1100"/>
          </a:p>
        </p:txBody>
      </p:sp>
      <p:cxnSp>
        <p:nvCxnSpPr>
          <p:cNvPr id="243" name="Google Shape;243;p32"/>
          <p:cNvCxnSpPr/>
          <p:nvPr/>
        </p:nvCxnSpPr>
        <p:spPr>
          <a:xfrm>
            <a:off x="8558378" y="1210446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44" name="Google Shape;244;p3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655985" y="1265687"/>
            <a:ext cx="275775" cy="27577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2"/>
          <p:cNvSpPr txBox="1"/>
          <p:nvPr/>
        </p:nvSpPr>
        <p:spPr>
          <a:xfrm>
            <a:off x="8493095" y="1515195"/>
            <a:ext cx="611236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Health</a:t>
            </a:r>
            <a:endParaRPr sz="1100"/>
          </a:p>
        </p:txBody>
      </p:sp>
      <p:pic>
        <p:nvPicPr>
          <p:cNvPr id="246" name="Google Shape;246;p3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656982" y="1740530"/>
            <a:ext cx="294372" cy="294372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2"/>
          <p:cNvSpPr txBox="1"/>
          <p:nvPr/>
        </p:nvSpPr>
        <p:spPr>
          <a:xfrm>
            <a:off x="8415518" y="2008927"/>
            <a:ext cx="78642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Ed-Tech</a:t>
            </a:r>
            <a:endParaRPr sz="1100"/>
          </a:p>
        </p:txBody>
      </p:sp>
      <p:pic>
        <p:nvPicPr>
          <p:cNvPr id="248" name="Google Shape;248;p32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42882" y="2278785"/>
            <a:ext cx="308472" cy="308472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32"/>
          <p:cNvSpPr txBox="1"/>
          <p:nvPr/>
        </p:nvSpPr>
        <p:spPr>
          <a:xfrm>
            <a:off x="8410954" y="2557876"/>
            <a:ext cx="78642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Travel</a:t>
            </a:r>
            <a:endParaRPr sz="1100"/>
          </a:p>
        </p:txBody>
      </p:sp>
      <p:pic>
        <p:nvPicPr>
          <p:cNvPr id="250" name="Google Shape;250;p32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664518" y="2829154"/>
            <a:ext cx="301057" cy="30105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2"/>
          <p:cNvSpPr txBox="1"/>
          <p:nvPr/>
        </p:nvSpPr>
        <p:spPr>
          <a:xfrm>
            <a:off x="8337516" y="3091022"/>
            <a:ext cx="95049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 Lifestyle</a:t>
            </a:r>
            <a:endParaRPr sz="1100"/>
          </a:p>
        </p:txBody>
      </p:sp>
      <p:pic>
        <p:nvPicPr>
          <p:cNvPr id="252" name="Google Shape;252;p3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668373" y="3382670"/>
            <a:ext cx="263386" cy="26338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32"/>
          <p:cNvSpPr txBox="1"/>
          <p:nvPr/>
        </p:nvSpPr>
        <p:spPr>
          <a:xfrm>
            <a:off x="8321930" y="3633998"/>
            <a:ext cx="950498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Technology </a:t>
            </a:r>
            <a:endParaRPr sz="1100"/>
          </a:p>
        </p:txBody>
      </p:sp>
      <p:pic>
        <p:nvPicPr>
          <p:cNvPr id="254" name="Google Shape;254;p32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672541" y="3913038"/>
            <a:ext cx="285311" cy="285311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32"/>
          <p:cNvSpPr txBox="1"/>
          <p:nvPr/>
        </p:nvSpPr>
        <p:spPr>
          <a:xfrm>
            <a:off x="8397395" y="4235960"/>
            <a:ext cx="790019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/>
              <a:t>Manufacturing</a:t>
            </a:r>
            <a:endParaRPr sz="1100"/>
          </a:p>
        </p:txBody>
      </p:sp>
      <p:cxnSp>
        <p:nvCxnSpPr>
          <p:cNvPr id="256" name="Google Shape;256;p32"/>
          <p:cNvCxnSpPr/>
          <p:nvPr/>
        </p:nvCxnSpPr>
        <p:spPr>
          <a:xfrm>
            <a:off x="8564909" y="1736231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57" name="Google Shape;257;p32"/>
          <p:cNvCxnSpPr/>
          <p:nvPr/>
        </p:nvCxnSpPr>
        <p:spPr>
          <a:xfrm>
            <a:off x="8561675" y="2241176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58" name="Google Shape;258;p32"/>
          <p:cNvCxnSpPr/>
          <p:nvPr/>
        </p:nvCxnSpPr>
        <p:spPr>
          <a:xfrm>
            <a:off x="8569087" y="2788709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59" name="Google Shape;259;p32"/>
          <p:cNvCxnSpPr/>
          <p:nvPr/>
        </p:nvCxnSpPr>
        <p:spPr>
          <a:xfrm>
            <a:off x="8570141" y="3354767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8564908" y="3865122"/>
            <a:ext cx="46805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21893" y="1583549"/>
            <a:ext cx="1616851" cy="1616851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3"/>
          <p:cNvSpPr txBox="1"/>
          <p:nvPr/>
        </p:nvSpPr>
        <p:spPr>
          <a:xfrm>
            <a:off x="477317" y="271776"/>
            <a:ext cx="8974148" cy="613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2700"/>
              <a:buFont typeface="Cambria"/>
              <a:buNone/>
            </a:pPr>
            <a:r>
              <a:rPr lang="en" sz="2700" b="1" i="0" u="none" strike="noStrike" cap="none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Some of Our Esteemed Clients:  Others</a:t>
            </a:r>
            <a:endParaRPr sz="1100"/>
          </a:p>
        </p:txBody>
      </p:sp>
      <p:pic>
        <p:nvPicPr>
          <p:cNvPr id="267" name="Google Shape;267;p33" descr="A black text on a white background&#10;&#10;Description automatically generated with low confiden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4325" y="3026075"/>
            <a:ext cx="923809" cy="523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33" descr="A picture containing graphics, colorfulness, design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2900" y="2952831"/>
            <a:ext cx="866667" cy="647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53242" y="1160228"/>
            <a:ext cx="1754600" cy="453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3" descr="A red and blue logo&#10;&#10;Description automatically generated with low confidence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38640" y="3994567"/>
            <a:ext cx="1123810" cy="485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289519" y="3026075"/>
            <a:ext cx="1469443" cy="546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82511" y="1201402"/>
            <a:ext cx="1133333" cy="371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38131" y="2190027"/>
            <a:ext cx="1712496" cy="399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3" descr="A picture containing black, darkness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907188" y="1072831"/>
            <a:ext cx="609524" cy="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852999" y="1342007"/>
            <a:ext cx="2348618" cy="195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33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059743" y="3115910"/>
            <a:ext cx="2030080" cy="3406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804596" y="3903761"/>
            <a:ext cx="1604654" cy="668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825797" y="4016424"/>
            <a:ext cx="2114550" cy="442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33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415655" y="3940851"/>
            <a:ext cx="2328295" cy="518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3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533197" y="831131"/>
            <a:ext cx="1667953" cy="111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3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909090" y="1956102"/>
            <a:ext cx="892010" cy="8662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3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373857" y="1940323"/>
            <a:ext cx="1069522" cy="779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3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052220" y="2106819"/>
            <a:ext cx="1321634" cy="566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3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168706" y="3060394"/>
            <a:ext cx="1541055" cy="4906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43108" y="3598049"/>
            <a:ext cx="406577" cy="4065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203806" y="876365"/>
            <a:ext cx="349460" cy="34946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4"/>
          <p:cNvSpPr txBox="1"/>
          <p:nvPr/>
        </p:nvSpPr>
        <p:spPr>
          <a:xfrm>
            <a:off x="231877" y="1345538"/>
            <a:ext cx="2458769" cy="3093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Thanks to Justwords, the client’s web traffic grew ten times in terms of social presence. The partnership also led to a five times increase in traffic, and three times more leads. The team maintained a collaborative and smooth workflow. They went above and beyond to deliver for the client.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215900" marR="0" lvl="0" indent="-215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Char char="-"/>
            </a:pPr>
            <a:r>
              <a:rPr lang="en" sz="1400" b="1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Genus Innovations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mbria"/>
              <a:buNone/>
            </a:pPr>
            <a:r>
              <a:rPr lang="en" sz="11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(managed their 360° Digital Marketing campaign)</a:t>
            </a:r>
            <a:endParaRPr sz="11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92" name="Google Shape;292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3064065" y="883923"/>
            <a:ext cx="349460" cy="34946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 txBox="1"/>
          <p:nvPr/>
        </p:nvSpPr>
        <p:spPr>
          <a:xfrm>
            <a:off x="6264593" y="1217198"/>
            <a:ext cx="2606842" cy="3808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We have been associated with Justwords for some time now. Over this time, they have built a deep understanding about our brand and value proposition. Their content marketing work for us has been effective and they actually deliver on the talk. The team is pro-active and delivers high quality work within the timelines - so yes, happy with their work and would definitely recommend!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215900" marR="0" lvl="0" indent="-215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Char char="-"/>
            </a:pPr>
            <a:r>
              <a:rPr lang="en" sz="1400" b="1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HERO FINCORP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mbria"/>
              <a:buNone/>
            </a:pPr>
            <a:r>
              <a:rPr lang="en" sz="11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(managed their 360° Digital Marketing campaign)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94" name="Google Shape;294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22157" y="3794402"/>
            <a:ext cx="406577" cy="4065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6296330" y="853933"/>
            <a:ext cx="349460" cy="34946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4"/>
          <p:cNvSpPr txBox="1"/>
          <p:nvPr/>
        </p:nvSpPr>
        <p:spPr>
          <a:xfrm>
            <a:off x="3169586" y="1289828"/>
            <a:ext cx="2606843" cy="3393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Content looks great on the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platform. We have significantly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stepped up on this front and I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am really proud of the kind of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content that we have for every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stage of the motherhood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journey. Special thanks you to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you and team for really going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out of your way on multiple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occasions and helping out with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work that was way beyond what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we had originally set out to do.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215900" marR="0" lvl="0" indent="-215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mbria"/>
              <a:buChar char="-"/>
            </a:pPr>
            <a:r>
              <a:rPr lang="en" sz="1400" b="1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Nestle</a:t>
            </a:r>
            <a:endParaRPr sz="1100"/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mbria"/>
              <a:buNone/>
            </a:pPr>
            <a:r>
              <a:rPr lang="en" sz="11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(helped them to build up their content hub Ask Nestle)</a:t>
            </a:r>
            <a:endParaRPr sz="1100" b="0" i="0" u="none" strike="noStrike" cap="none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97" name="Google Shape;297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4734" y="3899183"/>
            <a:ext cx="406577" cy="406577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4"/>
          <p:cNvSpPr txBox="1"/>
          <p:nvPr/>
        </p:nvSpPr>
        <p:spPr>
          <a:xfrm>
            <a:off x="303746" y="255565"/>
            <a:ext cx="6598499" cy="773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3000"/>
              <a:buFont typeface="Calibri"/>
              <a:buNone/>
            </a:pPr>
            <a:r>
              <a:rPr lang="en" sz="3000" b="1" i="0" u="none" strike="noStrike" cap="none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</a:rPr>
              <a:t>Motivating words from our CUSTOMERS</a:t>
            </a:r>
            <a:endParaRPr sz="3000" b="1" i="0" u="none" strike="noStrike" cap="none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4"/>
          <p:cNvSpPr/>
          <p:nvPr/>
        </p:nvSpPr>
        <p:spPr>
          <a:xfrm rot="2349490">
            <a:off x="1382981" y="-2294652"/>
            <a:ext cx="281006" cy="242246"/>
          </a:xfrm>
          <a:prstGeom prst="triangle">
            <a:avLst>
              <a:gd name="adj" fmla="val 50000"/>
            </a:avLst>
          </a:prstGeom>
          <a:solidFill>
            <a:srgbClr val="FFC000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5"/>
          <p:cNvSpPr txBox="1"/>
          <p:nvPr/>
        </p:nvSpPr>
        <p:spPr>
          <a:xfrm>
            <a:off x="1136829" y="256196"/>
            <a:ext cx="6662707" cy="1675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Awards &amp; Recognition</a:t>
            </a:r>
            <a:endParaRPr sz="1100"/>
          </a:p>
        </p:txBody>
      </p:sp>
      <p:pic>
        <p:nvPicPr>
          <p:cNvPr id="305" name="Google Shape;305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8778" y="2995560"/>
            <a:ext cx="1324479" cy="1324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74680" y="2960613"/>
            <a:ext cx="1042601" cy="1390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27598" y="1093931"/>
            <a:ext cx="1183937" cy="11839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2288" y="2944380"/>
            <a:ext cx="1419942" cy="1419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2287" y="974160"/>
            <a:ext cx="1507982" cy="1507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27744" y="981040"/>
            <a:ext cx="1509686" cy="1509686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5"/>
          <p:cNvSpPr/>
          <p:nvPr/>
        </p:nvSpPr>
        <p:spPr>
          <a:xfrm>
            <a:off x="1532051" y="963989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3714192" y="982743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5"/>
          <p:cNvSpPr/>
          <p:nvPr/>
        </p:nvSpPr>
        <p:spPr>
          <a:xfrm>
            <a:off x="5650469" y="933270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5"/>
          <p:cNvSpPr/>
          <p:nvPr/>
        </p:nvSpPr>
        <p:spPr>
          <a:xfrm>
            <a:off x="1521815" y="2902993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5"/>
          <p:cNvSpPr/>
          <p:nvPr/>
        </p:nvSpPr>
        <p:spPr>
          <a:xfrm>
            <a:off x="3714192" y="2925647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5"/>
          <p:cNvSpPr/>
          <p:nvPr/>
        </p:nvSpPr>
        <p:spPr>
          <a:xfrm>
            <a:off x="5766554" y="2913672"/>
            <a:ext cx="1507982" cy="1507982"/>
          </a:xfrm>
          <a:prstGeom prst="ellipse">
            <a:avLst/>
          </a:prstGeom>
          <a:noFill/>
          <a:ln w="25400" cap="flat" cmpd="sng">
            <a:solidFill>
              <a:srgbClr val="F0C906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7"/>
          <p:cNvSpPr txBox="1">
            <a:spLocks noGrp="1"/>
          </p:cNvSpPr>
          <p:nvPr>
            <p:ph type="title"/>
          </p:nvPr>
        </p:nvSpPr>
        <p:spPr>
          <a:xfrm>
            <a:off x="57150" y="1543050"/>
            <a:ext cx="8858250" cy="1846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u="none" dirty="0"/>
              <a:t>Search Engine Optimisation</a:t>
            </a:r>
            <a:br>
              <a:rPr lang="en" sz="6000" u="none" dirty="0"/>
            </a:br>
            <a:r>
              <a:rPr lang="en" sz="6000" u="none" dirty="0"/>
              <a:t>Living Shapes</a:t>
            </a:r>
            <a:endParaRPr dirty="0"/>
          </a:p>
        </p:txBody>
      </p:sp>
      <p:sp>
        <p:nvSpPr>
          <p:cNvPr id="327" name="Google Shape;327;p37"/>
          <p:cNvSpPr/>
          <p:nvPr/>
        </p:nvSpPr>
        <p:spPr>
          <a:xfrm>
            <a:off x="3886200" y="3722543"/>
            <a:ext cx="1543050" cy="57150"/>
          </a:xfrm>
          <a:prstGeom prst="rect">
            <a:avLst/>
          </a:prstGeom>
          <a:solidFill>
            <a:srgbClr val="A5A5A5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8"/>
          <p:cNvSpPr txBox="1">
            <a:spLocks noGrp="1"/>
          </p:cNvSpPr>
          <p:nvPr>
            <p:ph type="title"/>
          </p:nvPr>
        </p:nvSpPr>
        <p:spPr>
          <a:xfrm>
            <a:off x="342900" y="131802"/>
            <a:ext cx="855461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Premise</a:t>
            </a:r>
            <a:endParaRPr dirty="0"/>
          </a:p>
        </p:txBody>
      </p:sp>
      <p:sp>
        <p:nvSpPr>
          <p:cNvPr id="333" name="Google Shape;333;p38"/>
          <p:cNvSpPr txBox="1"/>
          <p:nvPr/>
        </p:nvSpPr>
        <p:spPr>
          <a:xfrm>
            <a:off x="246488" y="758228"/>
            <a:ext cx="8401050" cy="4131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/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About </a:t>
            </a: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Living Spaces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:</a:t>
            </a:r>
            <a:endParaRPr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 b="1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500" dirty="0"/>
              <a:t>Living Shapes represents the seamless fusion of 40 years of legacy craftsmanship and contemporary design innovation. Operating out of a modern 20 lakh sq. ft. facility with a workforce of over 10,000 skilled artisans, we deliver high-quality, durable furniture that meets global standards. With a turnover of over 500 crores and 5+ lakh orders fulfilled in the past year alone, our commitment to quality and consistency speaks for itself.</a:t>
            </a:r>
          </a:p>
          <a:p>
            <a:pPr lvl="0"/>
            <a:endParaRPr lang="en-US" sz="1500" dirty="0"/>
          </a:p>
          <a:p>
            <a:pPr lvl="0"/>
            <a:r>
              <a:rPr lang="en-US" sz="1500" dirty="0"/>
              <a:t>Through Living Shapes, we extend this tradition to homes across India—offering premium, ready-to-ship furniture that elevates any space. Our curated collection spans sophisticated living, dining, bedroom, bar, office, and outdoor pieces—each crafted to enrich the individuality of your living environment.</a:t>
            </a:r>
            <a:endParaRPr sz="15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latin typeface="Calibri"/>
                <a:ea typeface="Calibri"/>
                <a:cs typeface="Calibri"/>
                <a:sym typeface="Calibri"/>
              </a:rPr>
              <a:t>Need of the hour :</a:t>
            </a:r>
            <a:endParaRPr sz="1100" dirty="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1500"/>
              <a:buFont typeface="Noto Sans Symbols"/>
              <a:buChar char="✔"/>
            </a:pPr>
            <a:r>
              <a:rPr lang="en" sz="1500" b="1" dirty="0">
                <a:latin typeface="Calibri"/>
                <a:ea typeface="Calibri"/>
                <a:cs typeface="Calibri"/>
                <a:sym typeface="Calibri"/>
              </a:rPr>
              <a:t>Improve its digital presence on search engine </a:t>
            </a:r>
            <a:endParaRPr sz="1100" dirty="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1500"/>
              <a:buFont typeface="Noto Sans Symbols"/>
              <a:buChar char="✔"/>
            </a:pPr>
            <a:r>
              <a:rPr lang="en" sz="1500" b="1" dirty="0">
                <a:latin typeface="Calibri"/>
                <a:ea typeface="Calibri"/>
                <a:cs typeface="Calibri"/>
                <a:sym typeface="Calibri"/>
              </a:rPr>
              <a:t>Increase organic website traffic</a:t>
            </a:r>
            <a:endParaRPr sz="1100" dirty="0"/>
          </a:p>
          <a:p>
            <a:pPr marL="215900" lvl="0" indent="-209550" algn="l" rtl="0">
              <a:spcBef>
                <a:spcPts val="0"/>
              </a:spcBef>
              <a:spcAft>
                <a:spcPts val="0"/>
              </a:spcAft>
              <a:buSzPts val="1500"/>
              <a:buFont typeface="Noto Sans Symbols"/>
              <a:buChar char="✔"/>
            </a:pPr>
            <a:r>
              <a:rPr lang="en" sz="1500" b="1" dirty="0">
                <a:latin typeface="Calibri"/>
                <a:ea typeface="Calibri"/>
                <a:cs typeface="Calibri"/>
                <a:sym typeface="Calibri"/>
              </a:rPr>
              <a:t>Create compelling content on the website which helps them in reducing bounce rate and increase conversions</a:t>
            </a:r>
            <a:endParaRPr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9"/>
          <p:cNvSpPr txBox="1">
            <a:spLocks noGrp="1"/>
          </p:cNvSpPr>
          <p:nvPr>
            <p:ph type="title"/>
          </p:nvPr>
        </p:nvSpPr>
        <p:spPr>
          <a:xfrm>
            <a:off x="285750" y="285750"/>
            <a:ext cx="855461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Objective </a:t>
            </a:r>
            <a:endParaRPr/>
          </a:p>
        </p:txBody>
      </p:sp>
      <p:sp>
        <p:nvSpPr>
          <p:cNvPr id="339" name="Google Shape;339;p39"/>
          <p:cNvSpPr txBox="1">
            <a:spLocks noGrp="1"/>
          </p:cNvSpPr>
          <p:nvPr>
            <p:ph type="body" idx="1"/>
          </p:nvPr>
        </p:nvSpPr>
        <p:spPr>
          <a:xfrm>
            <a:off x="342900" y="1028700"/>
            <a:ext cx="4114800" cy="3457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9250" algn="l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✔"/>
            </a:pPr>
            <a:r>
              <a:rPr lang="en" sz="1400" b="1" dirty="0">
                <a:latin typeface="Calibri"/>
                <a:ea typeface="Calibri"/>
                <a:cs typeface="Calibri"/>
                <a:sym typeface="Calibri"/>
              </a:rPr>
              <a:t>Enhance Brand Visibility on Search Engine Ranking Pages – </a:t>
            </a:r>
            <a:r>
              <a:rPr lang="en" sz="1400" dirty="0">
                <a:latin typeface="Calibri"/>
                <a:ea typeface="Calibri"/>
                <a:cs typeface="Calibri"/>
                <a:sym typeface="Calibri"/>
              </a:rPr>
              <a:t>Target various keywords which are having intent as Informational, Navigational  &amp; Commercial/Transactional </a:t>
            </a:r>
            <a:endParaRPr dirty="0"/>
          </a:p>
          <a:p>
            <a:pPr marL="342900" lvl="0" indent="-349250" algn="l" rtl="0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✔"/>
            </a:pPr>
            <a:r>
              <a:rPr lang="en" sz="1400" b="1" dirty="0">
                <a:latin typeface="Calibri"/>
                <a:ea typeface="Calibri"/>
                <a:cs typeface="Calibri"/>
                <a:sym typeface="Calibri"/>
              </a:rPr>
              <a:t>Increase organic traffic – </a:t>
            </a:r>
            <a:r>
              <a:rPr lang="en" sz="1400" dirty="0">
                <a:latin typeface="Calibri"/>
                <a:ea typeface="Calibri"/>
                <a:cs typeface="Calibri"/>
                <a:sym typeface="Calibri"/>
              </a:rPr>
              <a:t>As per SEMRush current organic traffic is around 1,400. Increasing in organic traffic more than current.. </a:t>
            </a:r>
            <a:endParaRPr dirty="0"/>
          </a:p>
          <a:p>
            <a:pPr marL="342900" lvl="0" indent="-349250" algn="l" rtl="0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✔"/>
            </a:pPr>
            <a:r>
              <a:rPr lang="en" sz="1400" b="1" dirty="0">
                <a:latin typeface="Calibri"/>
                <a:ea typeface="Calibri"/>
                <a:cs typeface="Calibri"/>
                <a:sym typeface="Calibri"/>
              </a:rPr>
              <a:t>Improve Website Authority - </a:t>
            </a:r>
            <a:r>
              <a:rPr lang="en" sz="1400" dirty="0">
                <a:latin typeface="Calibri"/>
                <a:ea typeface="Calibri"/>
                <a:cs typeface="Calibri"/>
                <a:sym typeface="Calibri"/>
              </a:rPr>
              <a:t> Creating good quality relevant strong backlinks which will eventually help us in keywords ranking as well as improve website’s domain authority. </a:t>
            </a:r>
            <a:endParaRPr dirty="0"/>
          </a:p>
          <a:p>
            <a:pPr marL="342900" lvl="0" indent="-349250" algn="l" rtl="0">
              <a:lnSpc>
                <a:spcPct val="107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✔"/>
            </a:pPr>
            <a:r>
              <a:rPr lang="en" sz="1400" b="1" dirty="0">
                <a:latin typeface="Calibri"/>
                <a:ea typeface="Calibri"/>
                <a:cs typeface="Calibri"/>
                <a:sym typeface="Calibri"/>
              </a:rPr>
              <a:t>Improve website Page Copies – </a:t>
            </a:r>
            <a:r>
              <a:rPr lang="en" sz="1400" dirty="0">
                <a:latin typeface="Calibri"/>
                <a:ea typeface="Calibri"/>
                <a:cs typeface="Calibri"/>
                <a:sym typeface="Calibri"/>
              </a:rPr>
              <a:t>Create content which resemble with the target audience and helps in reducing bounce rate and improve conversions</a:t>
            </a:r>
            <a:endParaRPr sz="14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0" name="Google Shape;340;p39" descr="A diagram of a strategy overview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30156" y="800101"/>
            <a:ext cx="4543322" cy="348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0"/>
          <p:cNvSpPr txBox="1">
            <a:spLocks noGrp="1"/>
          </p:cNvSpPr>
          <p:nvPr>
            <p:ph type="title"/>
          </p:nvPr>
        </p:nvSpPr>
        <p:spPr>
          <a:xfrm>
            <a:off x="285750" y="1828800"/>
            <a:ext cx="8554612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/>
              <a:t>Website Audit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1"/>
          <p:cNvSpPr txBox="1">
            <a:spLocks noGrp="1"/>
          </p:cNvSpPr>
          <p:nvPr>
            <p:ph type="title"/>
          </p:nvPr>
        </p:nvSpPr>
        <p:spPr>
          <a:xfrm>
            <a:off x="228600" y="204107"/>
            <a:ext cx="855461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Analysis</a:t>
            </a:r>
            <a:endParaRPr/>
          </a:p>
        </p:txBody>
      </p:sp>
      <p:graphicFrame>
        <p:nvGraphicFramePr>
          <p:cNvPr id="351" name="Google Shape;351;p41"/>
          <p:cNvGraphicFramePr/>
          <p:nvPr>
            <p:extLst>
              <p:ext uri="{D42A27DB-BD31-4B8C-83A1-F6EECF244321}">
                <p14:modId xmlns:p14="http://schemas.microsoft.com/office/powerpoint/2010/main" val="1537079971"/>
              </p:ext>
            </p:extLst>
          </p:nvPr>
        </p:nvGraphicFramePr>
        <p:xfrm>
          <a:off x="228600" y="800100"/>
          <a:ext cx="8686775" cy="3972095"/>
        </p:xfrm>
        <a:graphic>
          <a:graphicData uri="http://schemas.openxmlformats.org/drawingml/2006/table">
            <a:tbl>
              <a:tblPr>
                <a:noFill/>
                <a:tableStyleId>{404845F3-DE45-48F2-B2D5-C57CF05E9B26}</a:tableStyleId>
              </a:tblPr>
              <a:tblGrid>
                <a:gridCol w="229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1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7339">
                <a:tc>
                  <a:txBody>
                    <a:bodyPr/>
                    <a:lstStyle/>
                    <a:p>
                      <a:pPr marL="342900" marR="0" lvl="1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u="none" strike="noStrike" cap="none"/>
                        <a:t>Particulars</a:t>
                      </a:r>
                      <a:endParaRPr sz="11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1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u="none" strike="noStrike" cap="none"/>
                        <a:t>Details</a:t>
                      </a:r>
                      <a:endParaRPr sz="11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1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u="none" strike="noStrike" cap="none" dirty="0"/>
                        <a:t>Comments</a:t>
                      </a:r>
                      <a:endParaRPr sz="11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53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Domain Age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{{</a:t>
                      </a:r>
                      <a:r>
                        <a:rPr lang="en-US" sz="1100" u="none" strike="noStrike" cap="none" dirty="0" err="1"/>
                        <a:t>DomainAge</a:t>
                      </a:r>
                      <a:r>
                        <a:rPr lang="en-US" sz="1100" u="none" strike="noStrike" cap="none" dirty="0"/>
                        <a:t>}}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60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Domain Expiration Date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 dirty="0"/>
                        <a:t>{{</a:t>
                      </a:r>
                      <a:r>
                        <a:rPr lang="en-US" sz="1100" u="none" strike="noStrike" cap="none" dirty="0" err="1"/>
                        <a:t>DomainExpiry</a:t>
                      </a:r>
                      <a:r>
                        <a:rPr lang="en-US" sz="1100" u="none" strike="noStrike" cap="none" dirty="0"/>
                        <a:t>}}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44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Backlinks (SEMRush)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380 Backlinks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Highly Need to increase the backlink count to establish authority and increase DA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37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Desktop Score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{{</a:t>
                      </a:r>
                      <a:r>
                        <a:rPr lang="en-IN" sz="11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DesktopScore</a:t>
                      </a:r>
                      <a:r>
                        <a:rPr lang="en-I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}}</a:t>
                      </a:r>
                      <a:endParaRPr sz="1100" dirty="0"/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Highly Need to improve the score of the website on desktop device for a good user experience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70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Mobile Score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{{</a:t>
                      </a:r>
                      <a:r>
                        <a:rPr lang="en-IN" sz="11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MobileScore</a:t>
                      </a:r>
                      <a:r>
                        <a:rPr lang="en-I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}}</a:t>
                      </a:r>
                      <a:endParaRPr sz="1100" dirty="0"/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Need to improve the score of the website on mobile device for a good user experience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385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Core Web Vitals (Desktop)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FCP: 0.8 s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LCP: 2.8 s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INP: 207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CLS: 0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Speed Index: 2.5 s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Need to </a:t>
                      </a:r>
                      <a:r>
                        <a:rPr lang="en" sz="1100" u="none" strike="noStrike" cap="none" dirty="0" err="1"/>
                        <a:t>optimise</a:t>
                      </a:r>
                      <a:r>
                        <a:rPr lang="en" sz="1100" u="none" strike="noStrike" cap="none" dirty="0"/>
                        <a:t> the website for better performance on desktop device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385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/>
                        <a:t>Core Web Vitals (Mobile)</a:t>
                      </a:r>
                      <a:endParaRPr sz="1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FCP: 3.2 s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LCP: 10.4 s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INP: 420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CLS: 0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Speed Index: 4.0 s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/>
                        <a:t>Need to optimise the website for better performance on mobile device</a:t>
                      </a:r>
                      <a:endParaRPr sz="1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375" marR="5375" marT="5375" marB="537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55461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 Page Analysis Overview</a:t>
            </a:r>
            <a:endParaRPr/>
          </a:p>
        </p:txBody>
      </p:sp>
      <p:graphicFrame>
        <p:nvGraphicFramePr>
          <p:cNvPr id="358" name="Google Shape;358;p42"/>
          <p:cNvGraphicFramePr/>
          <p:nvPr>
            <p:extLst>
              <p:ext uri="{D42A27DB-BD31-4B8C-83A1-F6EECF244321}">
                <p14:modId xmlns:p14="http://schemas.microsoft.com/office/powerpoint/2010/main" val="421629683"/>
              </p:ext>
            </p:extLst>
          </p:nvPr>
        </p:nvGraphicFramePr>
        <p:xfrm>
          <a:off x="180400" y="771276"/>
          <a:ext cx="8783200" cy="3784825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478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780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Name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Type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Priority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H1: Missing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Images: Over 100 KB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Canonicals: Canonicalised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Warning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Response Codes: Internal Client Error (4xx)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841715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Pagination: Pagination URL Not in Anchor Tag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940739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Response Codes: Internal Blocked by Robots.txt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Warning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18180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Page Titles: Over 561 Pixels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403266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Page Titles: Over 60 Characters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Response Codes: Internal No Response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Page Titles: Below 30 Characters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Canonicals: Non-Indexable Canonical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58;p42">
            <a:extLst>
              <a:ext uri="{FF2B5EF4-FFF2-40B4-BE49-F238E27FC236}">
                <a16:creationId xmlns:a16="http://schemas.microsoft.com/office/drawing/2014/main" id="{863BFDA7-09C5-9884-713C-6AE1D96985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6167332"/>
              </p:ext>
            </p:extLst>
          </p:nvPr>
        </p:nvGraphicFramePr>
        <p:xfrm>
          <a:off x="180400" y="544939"/>
          <a:ext cx="8783200" cy="2861626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478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1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8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780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Name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Type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Issue Priority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Schema Mark Up in Product and Blogs pages: Missing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Domain Authority Issues: lacking authoritative backlink profile</a:t>
                      </a:r>
                      <a:endParaRPr lang="en-US" sz="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Unoptimized meta descriptions across product pages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Warning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Basic title tag optimization without location targeting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841715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Minimal blog content for industry leadership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Issue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940739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05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Lack of furniture buying guides and design inspiration content</a:t>
                      </a:r>
                      <a:endParaRPr lang="en-IN" sz="105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18180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No verified Google My Business presence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403266"/>
                  </a:ext>
                </a:extLst>
              </a:tr>
              <a:tr h="30773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05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Lack of local keyword targeting for regional searches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0" i="0" u="none" strike="noStrike">
                          <a:effectLst/>
                          <a:latin typeface="Arial" panose="020B0604020202020204" pitchFamily="34" charset="0"/>
                        </a:rPr>
                        <a:t>Opportunity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770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43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55461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OFF Page Analysis Overview</a:t>
            </a:r>
            <a:endParaRPr/>
          </a:p>
        </p:txBody>
      </p:sp>
      <p:graphicFrame>
        <p:nvGraphicFramePr>
          <p:cNvPr id="364" name="Google Shape;364;p43"/>
          <p:cNvGraphicFramePr/>
          <p:nvPr>
            <p:extLst>
              <p:ext uri="{D42A27DB-BD31-4B8C-83A1-F6EECF244321}">
                <p14:modId xmlns:p14="http://schemas.microsoft.com/office/powerpoint/2010/main" val="403152048"/>
              </p:ext>
            </p:extLst>
          </p:nvPr>
        </p:nvGraphicFramePr>
        <p:xfrm>
          <a:off x="228600" y="857250"/>
          <a:ext cx="8515325" cy="3760411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3288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Particulars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Details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Comments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Total Backlinks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380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Need to increase the backlink count to establish authority and increase DA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Domain Authority (DA) / Authority Score (AS)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 / 12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Need to post more blogs and increase backlink count to establish authority and increase DA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Referring Domains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97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Need to increase the referring domains to signal Google that more sites are referring to our website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Anchor Text Distribution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104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To be verified by Lead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Toxic Backlinks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3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Link Diversity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Text 80% - 304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Image 20% - 76 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Frame 0% - 0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Form 0% - 0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Looks good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8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Do-follow V/s No-follow ratio</a:t>
                      </a:r>
                      <a:endParaRPr sz="110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1.18:1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The ratio looks good</a:t>
                      </a:r>
                      <a:endParaRPr sz="1100" dirty="0"/>
                    </a:p>
                  </a:txBody>
                  <a:tcPr marL="6750" marR="6750" marT="6750" marB="675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4"/>
          <p:cNvSpPr txBox="1">
            <a:spLocks noGrp="1"/>
          </p:cNvSpPr>
          <p:nvPr>
            <p:ph type="title"/>
          </p:nvPr>
        </p:nvSpPr>
        <p:spPr>
          <a:xfrm>
            <a:off x="685800" y="1828800"/>
            <a:ext cx="77724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/>
              <a:t>Competitor Analysis</a:t>
            </a:r>
            <a:endParaRPr sz="4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5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172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Competitor’s</a:t>
            </a:r>
            <a:r>
              <a:rPr lang="en" sz="3600"/>
              <a:t> Analysis – Website </a:t>
            </a: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114DC8-CD2C-4769-9CD6-9A63095F3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840314"/>
            <a:ext cx="8172450" cy="1934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5065E4B-0D0B-BA8B-1DE8-092ECECA1D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848741"/>
            <a:ext cx="2842591" cy="18259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95F1CA-9E96-18E9-E185-69BF4C4AD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3402" y="2848739"/>
            <a:ext cx="5258274" cy="18259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7"/>
          <p:cNvSpPr txBox="1">
            <a:spLocks noGrp="1"/>
          </p:cNvSpPr>
          <p:nvPr>
            <p:ph type="title"/>
          </p:nvPr>
        </p:nvSpPr>
        <p:spPr>
          <a:xfrm>
            <a:off x="342900" y="1657350"/>
            <a:ext cx="8554612" cy="203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/>
              <a:t>Here’s Our Recommendation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48"/>
          <p:cNvSpPr txBox="1"/>
          <p:nvPr/>
        </p:nvSpPr>
        <p:spPr>
          <a:xfrm>
            <a:off x="650161" y="685800"/>
            <a:ext cx="7914782" cy="3245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Font typeface="Arial"/>
              <a:buNone/>
            </a:pPr>
            <a:r>
              <a:rPr lang="en" sz="5400" b="1" i="0" strike="noStrike" cap="none"/>
              <a:t>Search Engine Optimisation</a:t>
            </a:r>
            <a:endParaRPr sz="5400" b="1" i="0" strike="noStrike" cap="none"/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5400"/>
              <a:buFont typeface="Arial"/>
              <a:buNone/>
            </a:pPr>
            <a:r>
              <a:rPr lang="en" sz="5400" b="1">
                <a:solidFill>
                  <a:srgbClr val="FFC000"/>
                </a:solidFill>
              </a:rPr>
              <a:t>Recommendations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Arial"/>
              <a:buNone/>
            </a:pPr>
            <a:endParaRPr sz="1500" b="1" i="0" u="sng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Arial"/>
              <a:buNone/>
            </a:pPr>
            <a:r>
              <a:rPr lang="en" sz="1500" b="1" i="0" u="sng" strike="noStrike" cap="none"/>
              <a:t>Suggested – No of Keywords – </a:t>
            </a:r>
            <a:r>
              <a:rPr lang="en" sz="2700" b="1" u="sng">
                <a:solidFill>
                  <a:srgbClr val="FFC000"/>
                </a:solidFill>
              </a:rPr>
              <a:t>2</a:t>
            </a:r>
            <a:r>
              <a:rPr lang="en" sz="2700" b="1" i="0" u="sng" strike="noStrike" cap="none">
                <a:solidFill>
                  <a:srgbClr val="FFC000"/>
                </a:solidFill>
              </a:rPr>
              <a:t>5</a:t>
            </a:r>
            <a:r>
              <a:rPr lang="en" sz="2700" b="1" u="sng">
                <a:solidFill>
                  <a:srgbClr val="FFC000"/>
                </a:solidFill>
              </a:rPr>
              <a:t> Keywords</a:t>
            </a:r>
            <a:endParaRPr sz="2700" b="1" u="sng">
              <a:solidFill>
                <a:srgbClr val="FFC000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500"/>
              <a:buFont typeface="Arial"/>
              <a:buNone/>
            </a:pPr>
            <a:r>
              <a:rPr lang="en" sz="1500" b="1" u="sng">
                <a:solidFill>
                  <a:srgbClr val="FFC000"/>
                </a:solidFill>
              </a:rPr>
              <a:t> </a:t>
            </a:r>
            <a:endParaRPr sz="1500" b="1" i="0" u="sng" strike="noStrike" cap="none">
              <a:solidFill>
                <a:srgbClr val="FFC000"/>
              </a:solidFill>
            </a:endParaRPr>
          </a:p>
          <a:p>
            <a:pPr marL="215900" marR="0" lvl="0" indent="-215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oto Sans Symbols"/>
              <a:buChar char="✔"/>
            </a:pPr>
            <a:r>
              <a:rPr lang="en" sz="1200" i="0" strike="noStrike" cap="none"/>
              <a:t>Targeting </a:t>
            </a:r>
            <a:r>
              <a:rPr lang="en" sz="1200"/>
              <a:t>2</a:t>
            </a:r>
            <a:r>
              <a:rPr lang="en" sz="1200" i="0" strike="noStrike" cap="none"/>
              <a:t>5 keywords which will further cover a keywords universe of </a:t>
            </a:r>
            <a:r>
              <a:rPr lang="en" sz="1200"/>
              <a:t>200+ contextually. </a:t>
            </a:r>
            <a:endParaRPr sz="1200" i="0" strike="noStrike" cap="none"/>
          </a:p>
          <a:p>
            <a:pPr marL="215900" marR="0" lvl="0" indent="-215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oto Sans Symbols"/>
              <a:buChar char="✔"/>
            </a:pPr>
            <a:r>
              <a:rPr lang="en" sz="1200"/>
              <a:t>These keywords will be a combination of awareness, navigational &amp; transactional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9"/>
          <p:cNvSpPr txBox="1"/>
          <p:nvPr/>
        </p:nvSpPr>
        <p:spPr>
          <a:xfrm>
            <a:off x="685801" y="464531"/>
            <a:ext cx="7543800" cy="422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Cornerstone SEO Strategy </a:t>
            </a:r>
            <a:endParaRPr sz="1100"/>
          </a:p>
        </p:txBody>
      </p:sp>
      <p:sp>
        <p:nvSpPr>
          <p:cNvPr id="402" name="Google Shape;402;p49"/>
          <p:cNvSpPr txBox="1"/>
          <p:nvPr/>
        </p:nvSpPr>
        <p:spPr>
          <a:xfrm>
            <a:off x="555993" y="1054567"/>
            <a:ext cx="8032014" cy="351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We will start by conducting a comprehensive SEO audit of the website to identify and address all existing issues.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Following this, we will focus on 25 carefully selected keywords to initiate the optimization process.</a:t>
            </a:r>
            <a:br>
              <a:rPr lang="en-IN" dirty="0"/>
            </a:br>
            <a:br>
              <a:rPr lang="en-IN" dirty="0"/>
            </a:br>
            <a:r>
              <a:rPr lang="en-IN" b="1" dirty="0"/>
              <a:t>Our next steps will include:</a:t>
            </a:r>
            <a:br>
              <a:rPr lang="en-IN" dirty="0"/>
            </a:br>
            <a:r>
              <a:rPr lang="en-IN" dirty="0"/>
              <a:t>• Creating a keyword mapping strategy aligned with the most relevant pages on the website.</a:t>
            </a:r>
            <a:br>
              <a:rPr lang="en-IN" dirty="0"/>
            </a:br>
            <a:r>
              <a:rPr lang="en-IN" dirty="0"/>
              <a:t>• Developing high-quality content for off-page relevant to the finalized keywords.</a:t>
            </a:r>
            <a:br>
              <a:rPr lang="en-IN" dirty="0"/>
            </a:br>
            <a:r>
              <a:rPr lang="en-IN" dirty="0"/>
              <a:t>• Improving website speed, specially on desktop performance.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• Start fixing technical errors in the website to improve website health. </a:t>
            </a:r>
            <a:br>
              <a:rPr lang="en-IN" dirty="0"/>
            </a:br>
            <a:r>
              <a:rPr lang="en-IN" dirty="0"/>
              <a:t>• Establishing a strong link-building strategy, prioritizing the acquisition of high-quality do-follow backlinks, as the website currently lacks any.</a:t>
            </a:r>
            <a:br>
              <a:rPr lang="en-IN" dirty="0"/>
            </a:br>
            <a:r>
              <a:rPr lang="en-IN" dirty="0"/>
              <a:t>• Enhancing on-page content across all target pages—including the homepage—to boost user engagement.</a:t>
            </a:r>
            <a:br>
              <a:rPr lang="en-IN" dirty="0"/>
            </a:br>
            <a:r>
              <a:rPr lang="en-IN" dirty="0"/>
              <a:t>• Launching and regularly updating a blog section with engaging, niche-relevant content to attract and retain organic traffic.</a:t>
            </a:r>
            <a:endParaRPr sz="1100" dirty="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0"/>
          <p:cNvSpPr txBox="1">
            <a:spLocks noGrp="1"/>
          </p:cNvSpPr>
          <p:nvPr>
            <p:ph type="title"/>
          </p:nvPr>
        </p:nvSpPr>
        <p:spPr>
          <a:xfrm>
            <a:off x="228600" y="109835"/>
            <a:ext cx="847010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Keywords Suggestion</a:t>
            </a:r>
            <a:endParaRPr/>
          </a:p>
        </p:txBody>
      </p:sp>
      <p:graphicFrame>
        <p:nvGraphicFramePr>
          <p:cNvPr id="408" name="Google Shape;408;p50"/>
          <p:cNvGraphicFramePr/>
          <p:nvPr>
            <p:extLst>
              <p:ext uri="{D42A27DB-BD31-4B8C-83A1-F6EECF244321}">
                <p14:modId xmlns:p14="http://schemas.microsoft.com/office/powerpoint/2010/main" val="425411403"/>
              </p:ext>
            </p:extLst>
          </p:nvPr>
        </p:nvGraphicFramePr>
        <p:xfrm>
          <a:off x="228600" y="628650"/>
          <a:ext cx="8686775" cy="4030779"/>
        </p:xfrm>
        <a:graphic>
          <a:graphicData uri="http://schemas.openxmlformats.org/drawingml/2006/table">
            <a:tbl>
              <a:tblPr>
                <a:noFill/>
                <a:tableStyleId>{404845F3-DE45-48F2-B2D5-C57CF05E9B26}</a:tableStyleId>
              </a:tblPr>
              <a:tblGrid>
                <a:gridCol w="287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26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3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475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 dirty="0"/>
                        <a:t>Keywords</a:t>
                      </a:r>
                      <a:endParaRPr sz="9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Search Volume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Keyword Difficulty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Keyword Intent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 dirty="0"/>
                        <a:t>Position Type</a:t>
                      </a:r>
                      <a:endParaRPr sz="9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modern office table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2400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 seater sofa for bedroom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590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18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floor lamps online india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320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18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03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 and 2 seater sofa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880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office table chair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9900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19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4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modern coffee table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19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modern floor lamps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19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 seater fabric sofa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2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modern 3 seater sofa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9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office furniture sofa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140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office table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74000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table vase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590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268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 seater luxury sofa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390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lighting floor lamps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320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9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arm chair online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320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88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office table and chair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9900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>
          <a:extLst>
            <a:ext uri="{FF2B5EF4-FFF2-40B4-BE49-F238E27FC236}">
              <a16:creationId xmlns:a16="http://schemas.microsoft.com/office/drawing/2014/main" id="{8EFAD6DB-D552-23C8-A511-2ABA3F05F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0">
            <a:extLst>
              <a:ext uri="{FF2B5EF4-FFF2-40B4-BE49-F238E27FC236}">
                <a16:creationId xmlns:a16="http://schemas.microsoft.com/office/drawing/2014/main" id="{B152522F-3A52-E217-7F73-E1DD263190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109835"/>
            <a:ext cx="847010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Keywords Suggestion</a:t>
            </a:r>
            <a:endParaRPr/>
          </a:p>
        </p:txBody>
      </p:sp>
      <p:graphicFrame>
        <p:nvGraphicFramePr>
          <p:cNvPr id="408" name="Google Shape;408;p50">
            <a:extLst>
              <a:ext uri="{FF2B5EF4-FFF2-40B4-BE49-F238E27FC236}">
                <a16:creationId xmlns:a16="http://schemas.microsoft.com/office/drawing/2014/main" id="{A72AEBD3-9473-04E8-E533-E56F6FEB67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977406"/>
              </p:ext>
            </p:extLst>
          </p:nvPr>
        </p:nvGraphicFramePr>
        <p:xfrm>
          <a:off x="228600" y="628650"/>
          <a:ext cx="8686775" cy="2318027"/>
        </p:xfrm>
        <a:graphic>
          <a:graphicData uri="http://schemas.openxmlformats.org/drawingml/2006/table">
            <a:tbl>
              <a:tblPr>
                <a:noFill/>
                <a:tableStyleId>{404845F3-DE45-48F2-B2D5-C57CF05E9B26}</a:tableStyleId>
              </a:tblPr>
              <a:tblGrid>
                <a:gridCol w="287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26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3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7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 dirty="0"/>
                        <a:t>Keywords</a:t>
                      </a:r>
                      <a:endParaRPr sz="9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Search Volume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Keyword Difficulty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/>
                        <a:t>Keyword Intent</a:t>
                      </a:r>
                      <a:endParaRPr sz="9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 u="none" strike="noStrike" cap="none" dirty="0"/>
                        <a:t>Position Type</a:t>
                      </a:r>
                      <a:endParaRPr sz="9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650" marR="3650" marT="3650" marB="36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modern coffee table India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210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wooden office table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2900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Commercial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buy floor lamp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0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arm chairs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880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floor lamps for living room modern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1300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26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9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floor lamps online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1300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leather bed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1300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11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upholstered bed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5400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29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Informational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3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stylish coffee table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effectLst/>
                          <a:latin typeface="Verdana" panose="020B0604030504040204" pitchFamily="34" charset="0"/>
                        </a:rPr>
                        <a:t>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30</a:t>
                      </a:r>
                    </a:p>
                  </a:txBody>
                  <a:tcPr marL="6350" marR="6350" marT="6350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Verdana" panose="020B0604030504040204" pitchFamily="34" charset="0"/>
                        </a:rPr>
                        <a:t>Transactional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Arial"/>
                          <a:sym typeface="Arial"/>
                        </a:rPr>
                        <a:t>To be verified by Lead</a:t>
                      </a:r>
                      <a:endParaRPr sz="1200" u="none" strike="noStrike" cap="none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19050" marR="19050" marT="19050" marB="19050" anchor="b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6689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51"/>
          <p:cNvSpPr txBox="1">
            <a:spLocks noGrp="1"/>
          </p:cNvSpPr>
          <p:nvPr>
            <p:ph type="title" idx="4294967295"/>
          </p:nvPr>
        </p:nvSpPr>
        <p:spPr>
          <a:xfrm>
            <a:off x="342900" y="285749"/>
            <a:ext cx="3771900" cy="413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0" u="sng" strike="noStrike" cap="none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</a:rPr>
              <a:t>Monthly Deliverables </a:t>
            </a:r>
            <a:endParaRPr/>
          </a:p>
        </p:txBody>
      </p:sp>
      <p:sp>
        <p:nvSpPr>
          <p:cNvPr id="414" name="Google Shape;414;p51"/>
          <p:cNvSpPr txBox="1">
            <a:spLocks noGrp="1"/>
          </p:cNvSpPr>
          <p:nvPr>
            <p:ph type="sldNum" idx="4294967295"/>
          </p:nvPr>
        </p:nvSpPr>
        <p:spPr>
          <a:xfrm>
            <a:off x="8556784" y="4749851"/>
            <a:ext cx="548775" cy="3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" lvl="0" indent="-2540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graphicFrame>
        <p:nvGraphicFramePr>
          <p:cNvPr id="415" name="Google Shape;415;p51"/>
          <p:cNvGraphicFramePr/>
          <p:nvPr/>
        </p:nvGraphicFramePr>
        <p:xfrm>
          <a:off x="342900" y="877140"/>
          <a:ext cx="8575325" cy="3732720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7417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7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9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SEO PACKAGE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125"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Deliverables (Monthly except Research &amp; Analysis which are one time activity)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Numbers of Keywords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7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72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&amp; Analysis / SEO set-up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On-Page Analysis and Suggestions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Back-links Analysis (past link-building activities, disavow)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Duplicate Content Analysis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Analysis for Targeted Keywords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Competitor Analysis (As per Justwords Standard Format)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Keywords research (One Time at the starting and bi-annually)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Audit Report (As per Justwords Standard Format)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472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Page Audit &amp; Optimization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 Tags Optimization(Title &amp; Description) - max nos of pages per month as per requirement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Optimization with headings, keywords &amp; interlinking - max nos. of pages per month as per requirement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Anchor Text Optimization (If required) -- max nos. of pages per month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Heading Tag Optimization - max nos. of pages per month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Image Optimization (If Required) - max nos. of images per month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Optimization of Robots.txt &amp; Google Bot Crawl (If Required)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Creation and registration of sitemap.xml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Analytics &amp; Search Console Setup (Goal Set up)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Keywords Mapping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Sharing of Baseline Analytics Report (Starting point of Traffic/Leads, Keyword Rank, DA/DR, Spam Score, Referring Domain, Backlinks)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Speed and Page Load Optimization suggestions along with report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4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Mobile Optimization Suggestion along with report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4400" marR="4400" marT="44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2"/>
          <p:cNvSpPr txBox="1">
            <a:spLocks noGrp="1"/>
          </p:cNvSpPr>
          <p:nvPr>
            <p:ph type="sldNum" idx="4294967295"/>
          </p:nvPr>
        </p:nvSpPr>
        <p:spPr>
          <a:xfrm>
            <a:off x="8556784" y="4749851"/>
            <a:ext cx="548775" cy="39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" lvl="0" indent="-2540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graphicFrame>
        <p:nvGraphicFramePr>
          <p:cNvPr id="421" name="Google Shape;421;p52"/>
          <p:cNvGraphicFramePr/>
          <p:nvPr/>
        </p:nvGraphicFramePr>
        <p:xfrm>
          <a:off x="178130" y="474441"/>
          <a:ext cx="8851550" cy="3983280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752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Internal Linking Restructuring &amp; Optimization - max nos. of pages per month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Redirection (Check &amp; Implement)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Canonical Issues (Check &amp; Implement)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SEO Friendly URL analysis and Rewriting (Check &amp; Implement)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Breadcrumb Navigation (Analysis &amp; Suggestions)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 W3C Mark-up &amp; CSS Validation Errors (suggestions)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Server Response code analysis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Schema mark-up/Google Data highlights (All important schema) [To be completed maximum within the 1st quarter]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 Crawl Errors &amp; Broken Links [To be completed maximum within the 1st quarter]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Creations of Blog Publishing schedule/Content Calendar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865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Research &amp; Development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Blog Topics Research per month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Blogs Creation (Will be charged extra based on requirement)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Creation for Free Guest Post and other Offpage Requirements (Blogs/Articles/Q &amp; A) - Max nos. of content pieces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1865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 Page (Link Building Activities)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Manual Search Engine Submission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Free Guest Posting (Creation &amp; Distribution) – web 2.0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Article Submission (content creation + distribution) (Offpage)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 dirty="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Q/A Sites Participation (Quora)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 dirty="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Creation of Accounts in Social Media Platforms for SEO Purpose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Suggestion and Execution of Website Blogs &amp; Webpages in Social Media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Blogs Social Bookmarking/Syndication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Business Listing - Max nos.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1865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Analytics Set-up and Reporting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Analytics Report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Keywords Ranking Report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SEO activity &amp; Back-links Work Report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27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Monthly Consulting (with our SEO expert)</a:t>
                      </a:r>
                      <a:endParaRPr sz="110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1100" dirty="0"/>
                    </a:p>
                  </a:txBody>
                  <a:tcPr marL="5100" marR="5100" marT="5100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53"/>
          <p:cNvSpPr txBox="1"/>
          <p:nvPr/>
        </p:nvSpPr>
        <p:spPr>
          <a:xfrm>
            <a:off x="236755" y="368555"/>
            <a:ext cx="8627129" cy="422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Tools We Use In Our Project to Bring Success</a:t>
            </a:r>
            <a:endParaRPr sz="1100"/>
          </a:p>
        </p:txBody>
      </p:sp>
      <p:graphicFrame>
        <p:nvGraphicFramePr>
          <p:cNvPr id="427" name="Google Shape;427;p53"/>
          <p:cNvGraphicFramePr/>
          <p:nvPr/>
        </p:nvGraphicFramePr>
        <p:xfrm>
          <a:off x="457200" y="1028700"/>
          <a:ext cx="8343900" cy="3428875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40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0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5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 i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 no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 i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 i="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Tools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Technical Audit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Screaming Frog, Page Speed Insights, SEMRUSH, Google Search Console, W3C Validator 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Website Traffic Analysis &amp; Tracking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Analytics, Google Search Console, Google Tag Manager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Keywords Research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Keywords Planner, Google Trends, SEMRush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Topic Research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SEMRush, Answer the Public, Google Queries, Google Trends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4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Keywords Tracking &amp; Competitor Analysis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SEMRush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User Behavior &amp; Heatmap Tracking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Hotjar</a:t>
                      </a:r>
                      <a:endParaRPr sz="13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Monthly Report Creation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Google Looker Studio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Management Tool 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Bitrix 24 &amp; Asana</a:t>
                      </a:r>
                      <a:endParaRPr sz="13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Quality Checks</a:t>
                      </a:r>
                      <a:endParaRPr sz="1100"/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CopyScape &amp; Zero GPT</a:t>
                      </a:r>
                      <a:endParaRPr sz="13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71"/>
          <p:cNvSpPr txBox="1">
            <a:spLocks noGrp="1"/>
          </p:cNvSpPr>
          <p:nvPr>
            <p:ph type="title"/>
          </p:nvPr>
        </p:nvSpPr>
        <p:spPr>
          <a:xfrm>
            <a:off x="623888" y="686558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" b="1"/>
              <a:t>Investment Summary</a:t>
            </a:r>
            <a:endParaRPr b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2"/>
          <p:cNvSpPr/>
          <p:nvPr/>
        </p:nvSpPr>
        <p:spPr>
          <a:xfrm>
            <a:off x="-1" y="12683"/>
            <a:ext cx="9144000" cy="782684"/>
          </a:xfrm>
          <a:prstGeom prst="rect">
            <a:avLst/>
          </a:prstGeom>
          <a:solidFill>
            <a:srgbClr val="FDD947"/>
          </a:solidFill>
          <a:ln>
            <a:noFill/>
          </a:ln>
        </p:spPr>
        <p:txBody>
          <a:bodyPr spcFirstLastPara="1" wrap="square" lIns="91425" tIns="45725" rIns="91425" bIns="457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Monthly Organic Investment Summary</a:t>
            </a:r>
            <a:endParaRPr sz="1100"/>
          </a:p>
        </p:txBody>
      </p:sp>
      <p:graphicFrame>
        <p:nvGraphicFramePr>
          <p:cNvPr id="618" name="Google Shape;618;p72"/>
          <p:cNvGraphicFramePr/>
          <p:nvPr>
            <p:extLst>
              <p:ext uri="{D42A27DB-BD31-4B8C-83A1-F6EECF244321}">
                <p14:modId xmlns:p14="http://schemas.microsoft.com/office/powerpoint/2010/main" val="2680330817"/>
              </p:ext>
            </p:extLst>
          </p:nvPr>
        </p:nvGraphicFramePr>
        <p:xfrm>
          <a:off x="-1" y="1560630"/>
          <a:ext cx="9029675" cy="2024135"/>
        </p:xfrm>
        <a:graphic>
          <a:graphicData uri="http://schemas.openxmlformats.org/drawingml/2006/table">
            <a:tbl>
              <a:tblPr>
                <a:noFill/>
                <a:tableStyleId>{3059031D-76C1-4A71-AF53-F72BF084CF57}</a:tableStyleId>
              </a:tblPr>
              <a:tblGrid>
                <a:gridCol w="33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9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7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 no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Particulars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Timeline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Dependency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Frequency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(INR)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 sz="1100"/>
                    </a:p>
                  </a:txBody>
                  <a:tcPr marL="7075" marR="7075" marT="7075" marB="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6923C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Search Engine Optimisation – 25 Keywords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Page Optimisation (suggestions) +</a:t>
                      </a:r>
                      <a:r>
                        <a:rPr lang="en" sz="1100" u="none" strike="noStrike" cap="none"/>
                        <a:t> Off Page Activities (content creation + Publishing)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Days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Finalisation of Keywords, Access to Google Analytics and Search Console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 Keywords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30,000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Recurring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0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Paid Guest Posting – 05 (Content + Publishing)</a:t>
                      </a:r>
                      <a:endParaRPr sz="1100" dirty="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Approval on the websites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25,000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Recurring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Creation &amp; Content Marketing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Website Premium Blogs (5000 words per month) 4 to 5 blogs per month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Days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Approval on blog topics, content 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5000 words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12500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Recurring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0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Website Content + Product Descriptions 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 in when required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Content suggestion approval, Product Descriptions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 word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2.50 per word</a:t>
                      </a:r>
                      <a:endParaRPr sz="110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 in when required</a:t>
                      </a:r>
                      <a:endParaRPr sz="1100" dirty="0"/>
                    </a:p>
                  </a:txBody>
                  <a:tcPr marL="7075" marR="7075" marT="7075" marB="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73"/>
          <p:cNvSpPr txBox="1"/>
          <p:nvPr/>
        </p:nvSpPr>
        <p:spPr>
          <a:xfrm>
            <a:off x="285750" y="457199"/>
            <a:ext cx="8515350" cy="3547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 dirty="0">
                <a:latin typeface="Cambria"/>
                <a:ea typeface="Cambria"/>
                <a:cs typeface="Cambria"/>
                <a:sym typeface="Cambria"/>
              </a:rPr>
              <a:t>Terms &amp; Conditions:</a:t>
            </a:r>
            <a:endParaRPr sz="11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u="sng" dirty="0"/>
          </a:p>
          <a:p>
            <a:pPr marL="215900" lvl="0" indent="-2159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Price Basis - The prices are mentioned for monthly services &amp; are exclusive of any taxes and duties if applicable (for overseas invoices currently there are no taxes and duties applicable).  </a:t>
            </a:r>
            <a:endParaRPr sz="1100" dirty="0"/>
          </a:p>
          <a:p>
            <a:pPr marL="215900" lvl="0" indent="-2159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Delivery – Will be followed as per schedule mentioned in the above packages.</a:t>
            </a:r>
            <a:endParaRPr sz="1100" dirty="0"/>
          </a:p>
          <a:p>
            <a:pPr marL="215900" lvl="0" indent="-2159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The above package is only limited to </a:t>
            </a:r>
            <a:r>
              <a:rPr lang="en-US" sz="1400" u="none" strike="noStrike" dirty="0">
                <a:latin typeface="Cambria"/>
                <a:ea typeface="Cambria"/>
                <a:cs typeface="Cambria"/>
                <a:sym typeface="Cambria"/>
              </a:rPr>
              <a:t>Amity University </a:t>
            </a:r>
            <a:r>
              <a:rPr lang="en" sz="1400" dirty="0"/>
              <a:t>Project. </a:t>
            </a:r>
            <a:endParaRPr sz="1100" dirty="0"/>
          </a:p>
          <a:p>
            <a:pPr marL="215900" lvl="0" indent="-2159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Payment Terms – Invoices will be raised before starting the work on quarterly (03 months) basis. The Payment should be released within 2 working days from the date of invoice.</a:t>
            </a:r>
            <a:endParaRPr sz="1100" dirty="0"/>
          </a:p>
          <a:p>
            <a:pPr marL="127000" lvl="2" indent="-1270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Content Revision – Maximum of 2 rounds of revision will be made available for any on page content creation</a:t>
            </a:r>
            <a:endParaRPr sz="1100" dirty="0"/>
          </a:p>
          <a:p>
            <a:pPr marL="127000" lvl="2" indent="-1270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For additional web page content creation or product descriptions– We will charge you separately @ INR 2.50 per word</a:t>
            </a:r>
            <a:endParaRPr sz="1100" dirty="0"/>
          </a:p>
          <a:p>
            <a:pPr marL="127000" lvl="2" indent="-1270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" sz="1400" dirty="0"/>
              <a:t>Core web Vital Fixation of the website is not included in the package as this is a separate task. We will let you know once we understand the amount of work that needs to be done once we do the audit of your website.</a:t>
            </a:r>
            <a:endParaRPr sz="1100" dirty="0"/>
          </a:p>
          <a:p>
            <a:pPr marL="0" lvl="2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/>
          <p:nvPr/>
        </p:nvSpPr>
        <p:spPr>
          <a:xfrm>
            <a:off x="8890064" y="4806619"/>
            <a:ext cx="156209" cy="167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mbria"/>
                <a:ea typeface="Cambria"/>
                <a:cs typeface="Cambria"/>
                <a:sym typeface="Cambria"/>
              </a:rPr>
              <a:t>12</a:t>
            </a:r>
            <a:endParaRPr sz="10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29" name="Google Shape;629;p74"/>
          <p:cNvSpPr txBox="1">
            <a:spLocks noGrp="1"/>
          </p:cNvSpPr>
          <p:nvPr>
            <p:ph type="title"/>
          </p:nvPr>
        </p:nvSpPr>
        <p:spPr>
          <a:xfrm>
            <a:off x="1103756" y="1510823"/>
            <a:ext cx="7057073" cy="146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4300" rIns="0" bIns="0" anchor="t" anchorCtr="0">
            <a:spAutoFit/>
          </a:bodyPr>
          <a:lstStyle/>
          <a:p>
            <a:pPr marL="12700" marR="0" lvl="0" indent="0" algn="ctr" rtl="0">
              <a:lnSpc>
                <a:spcPct val="1080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b="1">
                <a:solidFill>
                  <a:srgbClr val="FFC000"/>
                </a:solidFill>
                <a:latin typeface="Cambria"/>
                <a:ea typeface="Cambria"/>
                <a:cs typeface="Cambria"/>
                <a:sym typeface="Cambria"/>
              </a:rPr>
              <a:t>Few Case studies for reference..</a:t>
            </a:r>
            <a:endParaRPr sz="50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" name="Google Shape;634;p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" y="171450"/>
            <a:ext cx="8887968" cy="4610862"/>
          </a:xfrm>
          <a:prstGeom prst="rect">
            <a:avLst/>
          </a:prstGeom>
          <a:noFill/>
          <a:ln>
            <a:noFill/>
          </a:ln>
        </p:spPr>
      </p:pic>
      <p:sp>
        <p:nvSpPr>
          <p:cNvPr id="635" name="Google Shape;635;p75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8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0" name="Google Shape;640;p7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" y="171450"/>
            <a:ext cx="8915400" cy="4578858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p76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8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" y="114300"/>
            <a:ext cx="8860536" cy="4636008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77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8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2" name="Google Shape;652;p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" y="114300"/>
            <a:ext cx="8990838" cy="4752594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78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8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8" name="Google Shape;658;p7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" y="114300"/>
            <a:ext cx="8915400" cy="4712589"/>
          </a:xfrm>
          <a:prstGeom prst="rect">
            <a:avLst/>
          </a:prstGeom>
          <a:noFill/>
          <a:ln>
            <a:noFill/>
          </a:ln>
        </p:spPr>
      </p:pic>
      <p:sp>
        <p:nvSpPr>
          <p:cNvPr id="659" name="Google Shape;659;p79"/>
          <p:cNvSpPr txBox="1">
            <a:spLocks noGrp="1"/>
          </p:cNvSpPr>
          <p:nvPr>
            <p:ph type="sldNum" idx="12"/>
          </p:nvPr>
        </p:nvSpPr>
        <p:spPr>
          <a:xfrm>
            <a:off x="8872157" y="4812767"/>
            <a:ext cx="203834" cy="163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8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/>
          </p:nvPr>
        </p:nvSpPr>
        <p:spPr>
          <a:xfrm>
            <a:off x="623888" y="1116049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66666"/>
              <a:buNone/>
            </a:pPr>
            <a:br>
              <a:rPr lang="en" sz="3000" b="1"/>
            </a:br>
            <a:br>
              <a:rPr lang="en" sz="3000" b="1"/>
            </a:br>
            <a:r>
              <a:rPr lang="en" sz="3000" b="1"/>
              <a:t>Look forward to partnering with you in your digital journey</a:t>
            </a:r>
            <a:br>
              <a:rPr lang="en" sz="3000" b="1"/>
            </a:br>
            <a:br>
              <a:rPr lang="en" sz="3000" b="1"/>
            </a:br>
            <a:br>
              <a:rPr lang="en" sz="3000" b="1"/>
            </a:br>
            <a:r>
              <a:rPr lang="en" sz="3000" b="1"/>
              <a:t>  May we have your valuable feedback please?</a:t>
            </a:r>
            <a:endParaRPr sz="300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81"/>
          <p:cNvSpPr txBox="1">
            <a:spLocks noGrp="1"/>
          </p:cNvSpPr>
          <p:nvPr>
            <p:ph type="title"/>
          </p:nvPr>
        </p:nvSpPr>
        <p:spPr>
          <a:xfrm>
            <a:off x="3067240" y="1750694"/>
            <a:ext cx="3008471" cy="842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u="none">
                <a:solidFill>
                  <a:srgbClr val="FFC000"/>
                </a:solidFill>
              </a:rPr>
              <a:t>Thank You</a:t>
            </a:r>
            <a:endParaRPr sz="5400"/>
          </a:p>
        </p:txBody>
      </p:sp>
      <p:sp>
        <p:nvSpPr>
          <p:cNvPr id="670" name="Google Shape;670;p81"/>
          <p:cNvSpPr/>
          <p:nvPr/>
        </p:nvSpPr>
        <p:spPr>
          <a:xfrm>
            <a:off x="3076289" y="2480881"/>
            <a:ext cx="2990374" cy="52864"/>
          </a:xfrm>
          <a:custGeom>
            <a:avLst/>
            <a:gdLst/>
            <a:ahLst/>
            <a:cxnLst/>
            <a:rect l="l" t="t" r="r" b="b"/>
            <a:pathLst>
              <a:path w="3987165" h="70485" extrusionOk="0">
                <a:moveTo>
                  <a:pt x="3986783" y="0"/>
                </a:moveTo>
                <a:lnTo>
                  <a:pt x="0" y="0"/>
                </a:lnTo>
                <a:lnTo>
                  <a:pt x="0" y="70104"/>
                </a:lnTo>
                <a:lnTo>
                  <a:pt x="3986783" y="70104"/>
                </a:lnTo>
                <a:lnTo>
                  <a:pt x="3986783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</p:txBody>
      </p:sp>
      <p:sp>
        <p:nvSpPr>
          <p:cNvPr id="671" name="Google Shape;671;p81"/>
          <p:cNvSpPr txBox="1"/>
          <p:nvPr/>
        </p:nvSpPr>
        <p:spPr>
          <a:xfrm>
            <a:off x="8891207" y="4806619"/>
            <a:ext cx="156209" cy="167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mbria"/>
                <a:ea typeface="Cambria"/>
                <a:cs typeface="Cambria"/>
                <a:sym typeface="Cambria"/>
              </a:rPr>
              <a:t>32</a:t>
            </a:r>
            <a:endParaRPr sz="10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2926</Words>
  <Application>Microsoft Office PowerPoint</Application>
  <PresentationFormat>On-screen Show (16:9)</PresentationFormat>
  <Paragraphs>609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Quattrocento Sans</vt:lpstr>
      <vt:lpstr>Arial</vt:lpstr>
      <vt:lpstr>Calibri</vt:lpstr>
      <vt:lpstr>Verdana</vt:lpstr>
      <vt:lpstr>Cambria</vt:lpstr>
      <vt:lpstr>Noto Sans Symbols</vt:lpstr>
      <vt:lpstr>Simple Light</vt:lpstr>
      <vt:lpstr>Office Theme</vt:lpstr>
      <vt:lpstr>PowerPoint Presentation</vt:lpstr>
      <vt:lpstr>Who are we?</vt:lpstr>
      <vt:lpstr>PowerPoint Presentation</vt:lpstr>
      <vt:lpstr>Our 6 core VALUES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 Engine Optimisation Living Shapes</vt:lpstr>
      <vt:lpstr>Premise</vt:lpstr>
      <vt:lpstr>Objective </vt:lpstr>
      <vt:lpstr>Website Audit</vt:lpstr>
      <vt:lpstr>Technical Analysis</vt:lpstr>
      <vt:lpstr>On Page Analysis Overview</vt:lpstr>
      <vt:lpstr>PowerPoint Presentation</vt:lpstr>
      <vt:lpstr>OFF Page Analysis Overview</vt:lpstr>
      <vt:lpstr>Competitor Analysis</vt:lpstr>
      <vt:lpstr>Competitor’s Analysis – Website </vt:lpstr>
      <vt:lpstr>Here’s Our Recommendation</vt:lpstr>
      <vt:lpstr>PowerPoint Presentation</vt:lpstr>
      <vt:lpstr>PowerPoint Presentation</vt:lpstr>
      <vt:lpstr>Keywords Suggestion</vt:lpstr>
      <vt:lpstr>Keywords Suggestion</vt:lpstr>
      <vt:lpstr>Monthly Deliverables </vt:lpstr>
      <vt:lpstr>PowerPoint Presentation</vt:lpstr>
      <vt:lpstr>PowerPoint Presentation</vt:lpstr>
      <vt:lpstr>Investment Summary</vt:lpstr>
      <vt:lpstr>PowerPoint Presentation</vt:lpstr>
      <vt:lpstr>PowerPoint Presentation</vt:lpstr>
      <vt:lpstr>Few Case studies for reference..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Look forward to partnering with you in your digital journey     May we have your valuable feedback please?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admin</cp:lastModifiedBy>
  <cp:revision>7</cp:revision>
  <dcterms:modified xsi:type="dcterms:W3CDTF">2025-09-01T04:31:36Z</dcterms:modified>
</cp:coreProperties>
</file>